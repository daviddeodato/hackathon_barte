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fd0a53976a4b79" /><Relationship Type="http://schemas.openxmlformats.org/officeDocument/2006/relationships/extended-properties" Target="/docProps/app.xml" Id="Re0604107bd274601" /><Relationship Type="http://schemas.openxmlformats.org/officeDocument/2006/relationships/officeDocument" Target="/ppt/presentation.xml" Id="R98d975665e09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f2544ad7f4e5e"/>
  </p:sldMasterIdLst>
  <p:notesMasterIdLst>
    <p:notesMasterId xmlns:r="http://schemas.openxmlformats.org/officeDocument/2006/relationships" r:id="R05ec51a031584af8"/>
  </p:notesMasterIdLst>
  <p:sldIdLst>
    <p:sldId xmlns:r="http://schemas.openxmlformats.org/officeDocument/2006/relationships" id="256" r:id="Re5997b3ea3fe4e29"/>
    <p:sldId xmlns:r="http://schemas.openxmlformats.org/officeDocument/2006/relationships" id="257" r:id="Rbeb6a5fcc9724c1c"/>
    <p:sldId xmlns:r="http://schemas.openxmlformats.org/officeDocument/2006/relationships" id="258" r:id="Ra6a3882c4ea6487e"/>
    <p:sldId xmlns:r="http://schemas.openxmlformats.org/officeDocument/2006/relationships" id="259" r:id="R993596da1a964fd1"/>
    <p:sldId xmlns:r="http://schemas.openxmlformats.org/officeDocument/2006/relationships" id="260" r:id="R41ef11b0a3c94ac5"/>
    <p:sldId xmlns:r="http://schemas.openxmlformats.org/officeDocument/2006/relationships" id="261" r:id="R279cd4431e324d44"/>
    <p:sldId xmlns:r="http://schemas.openxmlformats.org/officeDocument/2006/relationships" id="262" r:id="Rbf494f4dbedb4bc8"/>
    <p:sldId xmlns:r="http://schemas.openxmlformats.org/officeDocument/2006/relationships" id="263" r:id="R717c082a06da440e"/>
    <p:sldId xmlns:r="http://schemas.openxmlformats.org/officeDocument/2006/relationships" id="264" r:id="R2154b2f9e4204dca"/>
    <p:sldId xmlns:r="http://schemas.openxmlformats.org/officeDocument/2006/relationships" id="265" r:id="Rd9babee371cf447b"/>
    <p:sldId xmlns:r="http://schemas.openxmlformats.org/officeDocument/2006/relationships" id="266" r:id="Rd1b6e1a9eb9c4264"/>
    <p:sldId xmlns:r="http://schemas.openxmlformats.org/officeDocument/2006/relationships" id="267" r:id="Rf0605de1d8fd45eb"/>
    <p:sldId xmlns:r="http://schemas.openxmlformats.org/officeDocument/2006/relationships" id="268" r:id="Rac28f73ea5984e21"/>
    <p:sldId xmlns:r="http://schemas.openxmlformats.org/officeDocument/2006/relationships" id="269" r:id="R60b1275200a24f77"/>
    <p:sldId xmlns:r="http://schemas.openxmlformats.org/officeDocument/2006/relationships" id="270" r:id="Rd663cdc57ba1405d"/>
    <p:sldId xmlns:r="http://schemas.openxmlformats.org/officeDocument/2006/relationships" id="271" r:id="Rf9f1c926c3f84f5c"/>
    <p:sldId xmlns:r="http://schemas.openxmlformats.org/officeDocument/2006/relationships" id="272" r:id="Ref8beca3676e4411"/>
    <p:sldId xmlns:r="http://schemas.openxmlformats.org/officeDocument/2006/relationships" id="273" r:id="R57645dcf980c40a1"/>
    <p:sldId xmlns:r="http://schemas.openxmlformats.org/officeDocument/2006/relationships" id="274" r:id="R057facf64e97405c"/>
    <p:sldId xmlns:r="http://schemas.openxmlformats.org/officeDocument/2006/relationships" id="275" r:id="R1a648b8a3b564f01"/>
    <p:sldId xmlns:r="http://schemas.openxmlformats.org/officeDocument/2006/relationships" id="276" r:id="R5aa06b81706c496b"/>
    <p:sldId xmlns:r="http://schemas.openxmlformats.org/officeDocument/2006/relationships" id="277" r:id="R611ea34b8d8445ef"/>
    <p:sldId xmlns:r="http://schemas.openxmlformats.org/officeDocument/2006/relationships" id="278" r:id="R3781b819e74748b9"/>
    <p:sldId xmlns:r="http://schemas.openxmlformats.org/officeDocument/2006/relationships" id="279" r:id="R97226ceb6fe24feb"/>
    <p:sldId xmlns:r="http://schemas.openxmlformats.org/officeDocument/2006/relationships" id="280" r:id="R91d1cae0fdeb4b4f"/>
    <p:sldId xmlns:r="http://schemas.openxmlformats.org/officeDocument/2006/relationships" id="281" r:id="Rd92f86a2e33a4c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2cff5209341a0" /><Relationship Type="http://schemas.openxmlformats.org/officeDocument/2006/relationships/slideMaster" Target="/ppt/slideMasters/slideMaster1.xml" Id="Rf96f2544ad7f4e5e" /><Relationship Type="http://schemas.openxmlformats.org/officeDocument/2006/relationships/notesMaster" Target="/ppt/notesMasters/notesMaster1.xml" Id="R05ec51a031584af8" /><Relationship Type="http://schemas.openxmlformats.org/officeDocument/2006/relationships/presProps" Target="/ppt/presProps.xml" Id="R827c0926bfcc4741" /><Relationship Type="http://schemas.openxmlformats.org/officeDocument/2006/relationships/tableStyles" Target="/ppt/tableStyles.xml" Id="Re8e040dff33245ec" /><Relationship Type="http://schemas.openxmlformats.org/officeDocument/2006/relationships/slide" Target="/ppt/slides/slide1.xml" Id="Re5997b3ea3fe4e29" /><Relationship Type="http://schemas.openxmlformats.org/officeDocument/2006/relationships/slide" Target="/ppt/slides/slide2.xml" Id="Rbeb6a5fcc9724c1c" /><Relationship Type="http://schemas.openxmlformats.org/officeDocument/2006/relationships/slide" Target="/ppt/slides/slide3.xml" Id="Ra6a3882c4ea6487e" /><Relationship Type="http://schemas.openxmlformats.org/officeDocument/2006/relationships/slide" Target="/ppt/slides/slide4.xml" Id="R993596da1a964fd1" /><Relationship Type="http://schemas.openxmlformats.org/officeDocument/2006/relationships/slide" Target="/ppt/slides/slide5.xml" Id="R41ef11b0a3c94ac5" /><Relationship Type="http://schemas.openxmlformats.org/officeDocument/2006/relationships/slide" Target="/ppt/slides/slide6.xml" Id="R279cd4431e324d44" /><Relationship Type="http://schemas.openxmlformats.org/officeDocument/2006/relationships/slide" Target="/ppt/slides/slide7.xml" Id="Rbf494f4dbedb4bc8" /><Relationship Type="http://schemas.openxmlformats.org/officeDocument/2006/relationships/slide" Target="/ppt/slides/slide8.xml" Id="R717c082a06da440e" /><Relationship Type="http://schemas.openxmlformats.org/officeDocument/2006/relationships/slide" Target="/ppt/slides/slide9.xml" Id="R2154b2f9e4204dca" /><Relationship Type="http://schemas.openxmlformats.org/officeDocument/2006/relationships/slide" Target="/ppt/slides/slide10.xml" Id="Rd9babee371cf447b" /><Relationship Type="http://schemas.openxmlformats.org/officeDocument/2006/relationships/slide" Target="/ppt/slides/slide11.xml" Id="Rd1b6e1a9eb9c4264" /><Relationship Type="http://schemas.openxmlformats.org/officeDocument/2006/relationships/slide" Target="/ppt/slides/slide12.xml" Id="Rf0605de1d8fd45eb" /><Relationship Type="http://schemas.openxmlformats.org/officeDocument/2006/relationships/slide" Target="/ppt/slides/slide13.xml" Id="Rac28f73ea5984e21" /><Relationship Type="http://schemas.openxmlformats.org/officeDocument/2006/relationships/slide" Target="/ppt/slides/slide14.xml" Id="R60b1275200a24f77" /><Relationship Type="http://schemas.openxmlformats.org/officeDocument/2006/relationships/slide" Target="/ppt/slides/slide15.xml" Id="Rd663cdc57ba1405d" /><Relationship Type="http://schemas.openxmlformats.org/officeDocument/2006/relationships/slide" Target="/ppt/slides/slide16.xml" Id="Rf9f1c926c3f84f5c" /><Relationship Type="http://schemas.openxmlformats.org/officeDocument/2006/relationships/slide" Target="/ppt/slides/slide17.xml" Id="Ref8beca3676e4411" /><Relationship Type="http://schemas.openxmlformats.org/officeDocument/2006/relationships/slide" Target="/ppt/slides/slide18.xml" Id="R57645dcf980c40a1" /><Relationship Type="http://schemas.openxmlformats.org/officeDocument/2006/relationships/slide" Target="/ppt/slides/slide19.xml" Id="R057facf64e97405c" /><Relationship Type="http://schemas.openxmlformats.org/officeDocument/2006/relationships/slide" Target="/ppt/slides/slide20.xml" Id="R1a648b8a3b564f01" /><Relationship Type="http://schemas.openxmlformats.org/officeDocument/2006/relationships/slide" Target="/ppt/slides/slide21.xml" Id="R5aa06b81706c496b" /><Relationship Type="http://schemas.openxmlformats.org/officeDocument/2006/relationships/slide" Target="/ppt/slides/slide22.xml" Id="R611ea34b8d8445ef" /><Relationship Type="http://schemas.openxmlformats.org/officeDocument/2006/relationships/slide" Target="/ppt/slides/slide23.xml" Id="R3781b819e74748b9" /><Relationship Type="http://schemas.openxmlformats.org/officeDocument/2006/relationships/slide" Target="/ppt/slides/slide24.xml" Id="R97226ceb6fe24feb" /><Relationship Type="http://schemas.openxmlformats.org/officeDocument/2006/relationships/slide" Target="/ppt/slides/slide25.xml" Id="R91d1cae0fdeb4b4f" /><Relationship Type="http://schemas.openxmlformats.org/officeDocument/2006/relationships/slide" Target="/ppt/slides/slide26.xml" Id="Rd92f86a2e33a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93c6e153b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1cbc556d20433e" /><Relationship Type="http://schemas.openxmlformats.org/officeDocument/2006/relationships/notesMaster" Target="/ppt/notesMasters/notesMaster1.xml" Id="R861f960616f2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ec6733f4264c01" /><Relationship Type="http://schemas.openxmlformats.org/officeDocument/2006/relationships/notesMaster" Target="/ppt/notesMasters/notesMaster1.xml" Id="Rb276a496535f4c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84f0d9a83b4e44" /><Relationship Type="http://schemas.openxmlformats.org/officeDocument/2006/relationships/notesMaster" Target="/ppt/notesMasters/notesMaster1.xml" Id="Rb1d041c506fb40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641932dc046a0" /><Relationship Type="http://schemas.openxmlformats.org/officeDocument/2006/relationships/notesMaster" Target="/ppt/notesMasters/notesMaster1.xml" Id="R0534792d3db3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ca6c35c7f4a8f" /><Relationship Type="http://schemas.openxmlformats.org/officeDocument/2006/relationships/notesMaster" Target="/ppt/notesMasters/notesMaster1.xml" Id="Reb3b8c971ce446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65904a5ca0470b" /><Relationship Type="http://schemas.openxmlformats.org/officeDocument/2006/relationships/notesMaster" Target="/ppt/notesMasters/notesMaster1.xml" Id="R0cd4c9f4e04443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4db3266f274ed5" /><Relationship Type="http://schemas.openxmlformats.org/officeDocument/2006/relationships/notesMaster" Target="/ppt/notesMasters/notesMaster1.xml" Id="Rec49e9fdafd243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70d2c8ea614668" /><Relationship Type="http://schemas.openxmlformats.org/officeDocument/2006/relationships/notesMaster" Target="/ppt/notesMasters/notesMaster1.xml" Id="R8a248ff6f40d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574afa13e46ec" /><Relationship Type="http://schemas.openxmlformats.org/officeDocument/2006/relationships/notesMaster" Target="/ppt/notesMasters/notesMaster1.xml" Id="Rb4129db2b633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7d8e3695bb4850" /><Relationship Type="http://schemas.openxmlformats.org/officeDocument/2006/relationships/notesMaster" Target="/ppt/notesMasters/notesMaster1.xml" Id="Rdbec625789a94f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de53d33382440e" /><Relationship Type="http://schemas.openxmlformats.org/officeDocument/2006/relationships/notesMaster" Target="/ppt/notesMasters/notesMaster1.xml" Id="Raeb435b121b14e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083d98cb6d4e28" /><Relationship Type="http://schemas.openxmlformats.org/officeDocument/2006/relationships/notesMaster" Target="/ppt/notesMasters/notesMaster1.xml" Id="Rc359b70756784a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e8ec5ce18d446e" /><Relationship Type="http://schemas.openxmlformats.org/officeDocument/2006/relationships/notesMaster" Target="/ppt/notesMasters/notesMaster1.xml" Id="R6b1dca6ba7d44f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ab067501ee4150" /><Relationship Type="http://schemas.openxmlformats.org/officeDocument/2006/relationships/notesMaster" Target="/ppt/notesMasters/notesMaster1.xml" Id="R92f59ceef78348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89f1d5cbb046e3" /><Relationship Type="http://schemas.openxmlformats.org/officeDocument/2006/relationships/notesMaster" Target="/ppt/notesMasters/notesMaster1.xml" Id="R8eeaa29d16de45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0aa88a79b94ab5" /><Relationship Type="http://schemas.openxmlformats.org/officeDocument/2006/relationships/notesMaster" Target="/ppt/notesMasters/notesMaster1.xml" Id="R2cf14c2439734b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d41bebe3f34b0c" /><Relationship Type="http://schemas.openxmlformats.org/officeDocument/2006/relationships/notesMaster" Target="/ppt/notesMasters/notesMaster1.xml" Id="R2c8a2ed2b8f34f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99b2f96d7e4896" /><Relationship Type="http://schemas.openxmlformats.org/officeDocument/2006/relationships/notesMaster" Target="/ppt/notesMasters/notesMaster1.xml" Id="Raa8d8262c7a546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6fdc54a56c4c3e" /><Relationship Type="http://schemas.openxmlformats.org/officeDocument/2006/relationships/notesMaster" Target="/ppt/notesMasters/notesMaster1.xml" Id="R273f4445d9ae45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ded656c1e94a20" /><Relationship Type="http://schemas.openxmlformats.org/officeDocument/2006/relationships/notesMaster" Target="/ppt/notesMasters/notesMaster1.xml" Id="Raf49b47c756d4a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25bfad467441b1" /><Relationship Type="http://schemas.openxmlformats.org/officeDocument/2006/relationships/notesMaster" Target="/ppt/notesMasters/notesMaster1.xml" Id="R5f0f6e2b07db43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2c152dd9c24c6f" /><Relationship Type="http://schemas.openxmlformats.org/officeDocument/2006/relationships/notesMaster" Target="/ppt/notesMasters/notesMaster1.xml" Id="R9987a4beef814b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d7d509e9934fa1" /><Relationship Type="http://schemas.openxmlformats.org/officeDocument/2006/relationships/notesMaster" Target="/ppt/notesMasters/notesMaster1.xml" Id="R374ddd3a63b34e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e6e501259b4f02" /><Relationship Type="http://schemas.openxmlformats.org/officeDocument/2006/relationships/notesMaster" Target="/ppt/notesMasters/notesMaster1.xml" Id="Rffae189e688548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e28a9b4a1594a92" /><Relationship Type="http://schemas.openxmlformats.org/officeDocument/2006/relationships/notesMaster" Target="/ppt/notesMasters/notesMaster1.xml" Id="R7b0e0e98613a47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e0c53c42114c26" /><Relationship Type="http://schemas.openxmlformats.org/officeDocument/2006/relationships/notesMaster" Target="/ppt/notesMasters/notesMaster1.xml" Id="R42fba5ef3b14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Lastro. Fechamento financeiro da Tarvo.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 é a Tarvo.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Hoje, o financeiro dela se apoia em três frentes que não se conectam.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um lado, uma planilha com as taxas e condições de cada lojista.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outro, relatórios dos parceiros e extratos bancários mostrando o que foi cobrado e movimentado.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E, entre essas duas pontas, a Helena, que guarda o contexto dos acordos e das exceções que os arquivos não explicam.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fim do mês, o time precisa juntar essas três frentes para descobrir quanto pode faturar...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...o que precisa corrigir...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...e quais valores continuam pendentes.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  <a:p xmlns:a="http://schemas.openxmlformats.org/drawingml/2006/main">
            <a:r>
              <a:t>Identificação Tarvo provisória, em texto. Substituir pela logo confirmada sem alterar o restante da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trabalho leva oito dias úteis, abre espaço para cobranças incorretas e deixa o fechamento dependente de quem conhece as regras.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contexto/instrucoes_extraidas.txt e contexto/RESPOSTAS_FINANCEIRO.md, relato do processo atual.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Para juntar essas informações, a gente precisa saber qual regra vale para cada operação.</a:t>
            </a:r>
          </a:p>
          <a:p xmlns:a="http://schemas.openxmlformats.org/drawingml/2006/main">
            <a:r>
              <a:t>• Uma taxa depende do contrato e da data. Um estorno precisa respeitar a venda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Foi esse processo que a gente organizou no Lastro.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 Lastro é um gerenciador inteligente do fechamento financeiro da Tarvo.</a:t>
            </a:r>
          </a:p>
          <a:p xmlns:a="http://schemas.openxmlformats.org/drawingml/2006/main">
            <a:r>
              <a:t>• Ele reúne os arquivos e as regras da operação, apura as comissões, confere as cobranças e organiza as pendências para revisão do financeiro.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https://github.com/DavidDeodato/Hackathon_barte/blob/b43e80e521646cc46b09e8f2c920fb035c20644d/src/tarvo/finance/engine.py e https://github.com/DavidDeodato/Hackathon_barte/blob/b43e80e521646cc46b09e8f2c920fb035c20644d/src/tarvo/agents/case_review.py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 analista começa pelos arquivos que o financeiro já recebe.</a:t>
            </a:r>
          </a:p>
          <a:p xmlns:a="http://schemas.openxmlformats.org/drawingml/2006/main">
            <a:r>
              <a:t>• O Lastro lê o relatório da Orbe e seus ajustes, o anexo do e-mail da Ponte, a planilha de taxas e os extratos dos dois bancos, junto com o plano de contas.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Depois, ele relaciona os identificadores da operação ao lojista e à condição comercial válida naquela data.</a:t>
            </a:r>
          </a:p>
          <a:p xmlns:a="http://schemas.openxmlformats.org/drawingml/2006/main">
            <a:r>
              <a:t>• As orientações do financeiro ficam registradas com suas fontes. O que ainda depende de confirmação continua como hipótese ou pendência.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No checkout, ele calcula a comissão pela condição contratada e compara com a taxa que foi aplicada.</a:t>
            </a:r>
          </a:p>
          <a:p xmlns:a="http://schemas.openxmlformats.org/drawingml/2006/main">
            <a:r>
              <a:t>• Estornos e reversões entram com o tratamento da operação original. A soma é feita a partir dos valores de cada linha.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Nas remessas, ele calcula os 50% de participação da Tarvo sobre o spread realizado elegível.</a:t>
            </a:r>
          </a:p>
          <a:p xmlns:a="http://schemas.openxmlformats.org/drawingml/2006/main">
            <a:r>
              <a:t>• Também verifica duplicidades e diferenças em relação ao contrato. Os spreads negativos contestados ficam fora da comissão e seguem como pendência.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Nos extratos, ele propõe a classificação de cada movimento no plano de contas.</a:t>
            </a:r>
          </a:p>
          <a:p xmlns:a="http://schemas.openxmlformats.org/drawingml/2006/main">
            <a:r>
              <a:t>• Um recebimento pode baixar uma comissão de agosto. Uma transferência pode continuar em trânsito no fim de setembro. O tratamento depende da natureza do movimento.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As três frentes alimentam as entregas pedidas no desafio.</a:t>
            </a:r>
          </a:p>
          <a:p xmlns:a="http://schemas.openxmlformats.org/drawingml/2006/main">
            <a:r>
              <a:t>• São seis arquivos: comissões, divergências, notas a emitir, lançamentos classificados, pendências e rastro.</a:t>
            </a:r>
          </a:p>
          <a:p xmlns:a="http://schemas.openxmlformats.org/drawingml/2006/main">
            <a:r>
              <a:t>• As notas ficam preparadas para revisão. A emissão fiscal continua fora desse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Ao abrir um valor, a analista encontra as operações que formam aquele total, a regra aplicada e a referência da fonte.</a:t>
            </a:r>
          </a:p>
          <a:p xmlns:a="http://schemas.openxmlformats.org/drawingml/2006/main">
            <a:r>
              <a:t>• A soma dessas contribuições precisa conferir com o resultado apresentado.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Vamos abrir a Rota Global para conferir esse caminho.</a:t>
            </a:r>
          </a:p>
          <a:p xmlns:a="http://schemas.openxmlformats.org/drawingml/2006/main">
            <a:r>
              <a:t>• O líquido preparado para revisão é de R$ 1.546,28. Uma das operações contribui com R$ 66,28: taxa contratada de 3,59%, aplicada de 4,09%, com origem na linha 749 da Orbe.</a:t>
            </a:r>
          </a:p>
          <a:p xmlns:a="http://schemas.openxmlformats.org/drawingml/2006/main">
            <a:r>
              <a:t>• O valor está preparado para revisão da Helena e eventual contestação à Orbe. Isso não comprova envio nem recuperação.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https://github.com/DavidDeodato/Hackathon_barte/blob/b43e80e521646cc46b09e8f2c920fb035c20644d/saida/rota_packet.json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nativo de apuração, não captura de uma execução da interface. Pacote atualizado close-2068e24a102ebea3, estado prepared_for_review. Operação: 01_orbe_relatorio_comissoes_set2026.csv#TX88423647@L749. Contrato: 02_tabela_taxas_contratadas.xlsx#Taxas vigentes!A10:L10. Não houve novo recálculo independente nesta etapa de produção dos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Até aqui, vimos como o Lastro apura os valores e mostra suas origens.</a:t>
            </a:r>
          </a:p>
          <a:p xmlns:a="http://schemas.openxmlformats.org/drawingml/2006/main">
            <a:r>
              <a:t>• Agora vamos entrar na arquitetura agêntica: como esses resultados viram um caso para investigação e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https://github.com/DavidDeodato/Hackathon_barte/blob/b43e80e521646cc46b09e8f2c920fb035c20644d/src/tarvo/finance/cases.py</a:t>
            </a:r>
          </a:p>
          <a:p xmlns:a="http://schemas.openxmlformats.org/drawingml/2006/main">
            <a:r>
              <a:t>https://github.com/DavidDeodato/Hackathon_barte/blob/b43e80e521646cc46b09e8f2c920fb035c20644d/src/tarvo/agents/case_review.py</a:t>
            </a:r>
          </a:p>
          <a:p xmlns:a="http://schemas.openxmlformats.org/drawingml/2006/main">
            <a:r>
              <a:t>https://github.com/DavidDeodato/Hackathon_barte/blob/b43e80e521646cc46b09e8f2c920fb035c20644d/src/tarvo/agents/service.py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abstração visual: https://mktbarte.github.io/cases/case-comp.html e https://mktbarte.github.io/cases/case-sallve.html. Diagrama próprio do Lastro, com relações limitadas à implementação consultada. O destaque indica o tópico atual, sem representar execução ou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 editorial Barte: fundo claro, títulos regulares, destaque seletivo e ilustração com foco progressivo. A pilha representa dependências conceituais. O percurso acompanha o caso, sem representar execução ou aprovação. Ilustrações originais geradas com imagegen; textos e vínculos técnicos são nativos editáveis. O crítico recebe o mesmo caso, interpretação e evidências recuperadas, sem uma nova busca. A decisão do caso Rota cabe a Helena. Parecer experimental. Não há nova execução do motor ou do modelo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 partir da apuração, o sistema monta um pacote do caso.</a:t>
            </a:r>
          </a:p>
          <a:p xmlns:a="http://schemas.openxmlformats.org/drawingml/2006/main">
            <a:r>
              <a:t>• Ele reúne valor, composição, natureza da ação, fontes, responsável e o que falta para encerrar a pendência.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https://github.com/DavidDeodato/Hackathon_barte/blob/b43e80e521646cc46b09e8f2c920fb035c20644d/src/tarvo/finance/cases.py</a:t>
            </a:r>
          </a:p>
          <a:p xmlns:a="http://schemas.openxmlformats.org/drawingml/2006/main">
            <a:r>
              <a:t>https://github.com/DavidDeodato/Hackathon_barte/blob/b43e80e521646cc46b09e8f2c920fb035c20644d/src/tarvo/agents/case_review.py</a:t>
            </a:r>
          </a:p>
          <a:p xmlns:a="http://schemas.openxmlformats.org/drawingml/2006/main">
            <a:r>
              <a:t>https://github.com/DavidDeodato/Hackathon_barte/blob/b43e80e521646cc46b09e8f2c920fb035c20644d/src/tarvo/agents/service.py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abstração visual: https://mktbarte.github.io/cases/case-comp.html e https://mktbarte.github.io/cases/case-sallve.html. Diagrama próprio do Lastro, com relações limitadas à implementação consultada. O destaque indica o tópico atual, sem representar execução ou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 editorial Barte: fundo claro, títulos regulares, destaque seletivo e ilustração com foco progressivo. A pilha representa dependências conceituais. O percurso acompanha o caso, sem representar execução ou aprovação. Ilustrações originais geradas com imagegen; textos e vínculos técnicos são nativos editáveis. O crítico recebe o mesmo caso, interpretação e evidências recuperadas, sem uma nova busca. A decisão do caso Rota cabe a Helena. Parecer experimental. Não há nova execução do motor ou do modelo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 investigador recebe esse pacote e usa ferramentas para localizar as regras e as referências que ajudam a interpretar o caso.</a:t>
            </a:r>
          </a:p>
          <a:p xmlns:a="http://schemas.openxmlformats.org/drawingml/2006/main">
            <a:r>
              <a:t>• Ele pode buscar regras, consultar uma referência, ler uma fonte cadastrada e verificar pendências. A interpretação vem acompanhada das evidências consultadas.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https://github.com/DavidDeodato/Hackathon_barte/blob/b43e80e521646cc46b09e8f2c920fb035c20644d/src/tarvo/finance/cases.py</a:t>
            </a:r>
          </a:p>
          <a:p xmlns:a="http://schemas.openxmlformats.org/drawingml/2006/main">
            <a:r>
              <a:t>https://github.com/DavidDeodato/Hackathon_barte/blob/b43e80e521646cc46b09e8f2c920fb035c20644d/src/tarvo/agents/case_review.py</a:t>
            </a:r>
          </a:p>
          <a:p xmlns:a="http://schemas.openxmlformats.org/drawingml/2006/main">
            <a:r>
              <a:t>https://github.com/DavidDeodato/Hackathon_barte/blob/b43e80e521646cc46b09e8f2c920fb035c20644d/src/tarvo/agents/service.py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abstração visual: https://mktbarte.github.io/cases/case-comp.html e https://mktbarte.github.io/cases/case-sallve.html. Diagrama próprio do Lastro, com relações limitadas à implementação consultada. O destaque indica o tópico atual, sem representar execução ou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 editorial Barte: fundo claro, títulos regulares, destaque seletivo e ilustração com foco progressivo. A pilha representa dependências conceituais. O percurso acompanha o caso, sem representar execução ou aprovação. Ilustrações originais geradas com imagegen; textos e vínculos técnicos são nativos editáveis. O crítico recebe o mesmo caso, interpretação e evidências recuperadas, sem uma nova busca. A decisão do caso Rota cabe a Helena. Parecer experimental. Não há nova execução do motor ou do modelo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Depois, outro papel examina a interpretação: o crítico.</a:t>
            </a:r>
          </a:p>
          <a:p xmlns:a="http://schemas.openxmlformats.org/drawingml/2006/main">
            <a:r>
              <a:t>• Ele recebe o mesmo pacote, a conclusão do investigador e as evidências recuperadas. Procura contradições, generalizações e decisões sem sustentação suficiente.</a:t>
            </a:r>
          </a:p>
          <a:p xmlns:a="http://schemas.openxmlformats.org/drawingml/2006/main">
            <a:r>
              <a:t>• Nesta implementação, o crítico examina esse material recebido. Ele não faz uma nova busca de ferramentas.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https://github.com/DavidDeodato/Hackathon_barte/blob/b43e80e521646cc46b09e8f2c920fb035c20644d/src/tarvo/finance/cases.py</a:t>
            </a:r>
          </a:p>
          <a:p xmlns:a="http://schemas.openxmlformats.org/drawingml/2006/main">
            <a:r>
              <a:t>https://github.com/DavidDeodato/Hackathon_barte/blob/b43e80e521646cc46b09e8f2c920fb035c20644d/src/tarvo/agents/case_review.py</a:t>
            </a:r>
          </a:p>
          <a:p xmlns:a="http://schemas.openxmlformats.org/drawingml/2006/main">
            <a:r>
              <a:t>https://github.com/DavidDeodato/Hackathon_barte/blob/b43e80e521646cc46b09e8f2c920fb035c20644d/src/tarvo/agents/service.py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abstração visual: https://mktbarte.github.io/cases/case-comp.html e https://mktbarte.github.io/cases/case-sallve.html. Diagrama próprio do Lastro, com relações limitadas à implementação consultada. O destaque indica o tópico atual, sem representar execução ou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 editorial Barte: fundo claro, títulos regulares, destaque seletivo e ilustração com foco progressivo. A pilha representa dependências conceituais. O percurso acompanha o caso, sem representar execução ou aprovação. Ilustrações originais geradas com imagegen; textos e vínculos técnicos são nativos editáveis. O crítico recebe o mesmo caso, interpretação e evidências recuperadas, sem uma nova busca. A decisão do caso Rota cabe a Helena. Parecer experimental. Não há nova execução do motor ou do modelo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 resultado dessa investigação volta para a analista com as fontes, as observações e o que ainda precisa de confirmação.</a:t>
            </a:r>
          </a:p>
          <a:p xmlns:a="http://schemas.openxmlformats.org/drawingml/2006/main">
            <a:r>
              <a:t>• Os valores continuam vinculados à apuração. Helena e o Comercial mantêm as decisões que lhes cabem.</a:t>
            </a:r>
          </a:p>
          <a:p xmlns:a="http://schemas.openxmlformats.org/drawingml/2006/main">
            <a:r>
              <a:t>• O parecer é experimental e ainda precisa ser conferido. A conclusão do modelo não aprova, envia ou movimenta recursos.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https://github.com/DavidDeodato/Hackathon_barte/blob/b43e80e521646cc46b09e8f2c920fb035c20644d/src/tarvo/finance/engine.py</a:t>
            </a:r>
          </a:p>
          <a:p xmlns:a="http://schemas.openxmlformats.org/drawingml/2006/main">
            <a:r>
              <a:t>https://github.com/DavidDeodato/Hackathon_barte/blob/b43e80e521646cc46b09e8f2c920fb035c20644d/contexto/RESPOSTAS_FINANCEIRO.md</a:t>
            </a:r>
          </a:p>
          <a:p xmlns:a="http://schemas.openxmlformats.org/drawingml/2006/main">
            <a:r>
              <a:t>https://github.com/DavidDeodato/Hackathon_barte/blob/b43e80e521646cc46b09e8f2c920fb035c20644d/src/tarvo/finance/cases.py</a:t>
            </a:r>
          </a:p>
          <a:p xmlns:a="http://schemas.openxmlformats.org/drawingml/2006/main">
            <a:r>
              <a:t>https://github.com/DavidDeodato/Hackathon_barte/blob/b43e80e521646cc46b09e8f2c920fb035c20644d/src/tarvo/agents/case_review.py</a:t>
            </a:r>
          </a:p>
          <a:p xmlns:a="http://schemas.openxmlformats.org/drawingml/2006/main">
            <a:r>
              <a:t>https://github.com/DavidDeodato/Hackathon_barte/blob/b43e80e521646cc46b09e8f2c920fb035c20644d/src/tarvo/agents/service.py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abstração visual: https://mktbarte.github.io/cases/case-comp.html e https://mktbarte.github.io/cases/case-sallve.html. Diagrama próprio do Lastro, com relações limitadas à implementação consultada. O destaque indica o tópico atual, sem representar execução ou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 editorial Barte: fundo claro, títulos regulares, destaque seletivo e ilustração com foco progressivo. A pilha representa dependências conceituais. O percurso acompanha o caso, sem representar execução ou aprovação. Ilustrações originais geradas com imagegen; textos e vínculos técnicos são nativos editáveis. O crítico recebe o mesmo caso, interpretação e evidências recuperadas, sem uma nova busca. A decisão do caso Rota cabe a Helena. Parecer experimental. Não há nova execução do motor ou do modelo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2fcdba19243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e1a33f1aa48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ca40a34e64d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c503bf7d543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0374839d140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3a413f7cb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A098EC-4316-4EC5-BA0B-A0CB8044E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D3EEA7-1387-4789-905E-247541E145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80090E-6EDF-4D91-BD3D-11F80A779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0EFE98-F102-4721-80D4-044672668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7723E3-CBF7-4347-B1B6-337422AA07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D7D576-B581-463C-9167-29E491299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D19EFF-E9B0-4334-8370-DFA32073E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594A4B-DFF4-4DA5-8CC9-1824874CF3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A11DC9-5626-40C1-B825-231573D22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B01604-6EB7-4E4A-9D3E-68A9B5439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1d404bafe48a4" /><Relationship Type="http://schemas.openxmlformats.org/officeDocument/2006/relationships/slideLayout" Target="/ppt/slideLayouts/slideLayout1.xml" Id="R8c1e8b0c31794e68" /><Relationship Type="http://schemas.openxmlformats.org/officeDocument/2006/relationships/slideLayout" Target="/ppt/slideLayouts/slideLayout2.xml" Id="Ra0c7f3edc98b4b5b" /><Relationship Type="http://schemas.openxmlformats.org/officeDocument/2006/relationships/slideLayout" Target="/ppt/slideLayouts/slideLayout3.xml" Id="Rbe935612fb0c4056" /><Relationship Type="http://schemas.openxmlformats.org/officeDocument/2006/relationships/slideLayout" Target="/ppt/slideLayouts/slideLayout4.xml" Id="R0dea199b43364d01" /><Relationship Type="http://schemas.openxmlformats.org/officeDocument/2006/relationships/slideLayout" Target="/ppt/slideLayouts/slideLayout5.xml" Id="R70962ce4500a45cb" /><Relationship Type="http://schemas.openxmlformats.org/officeDocument/2006/relationships/slideLayout" Target="/ppt/slideLayouts/slideLayout6.xml" Id="Ra89020f2c40444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e8b0c31794e68"/>
    <p:sldLayoutId xmlns:r="http://schemas.openxmlformats.org/officeDocument/2006/relationships" id="2147483650" r:id="Ra0c7f3edc98b4b5b"/>
    <p:sldLayoutId xmlns:r="http://schemas.openxmlformats.org/officeDocument/2006/relationships" id="2147483651" r:id="Rbe935612fb0c4056"/>
    <p:sldLayoutId xmlns:r="http://schemas.openxmlformats.org/officeDocument/2006/relationships" id="2147483652" r:id="R0dea199b43364d01"/>
    <p:sldLayoutId xmlns:r="http://schemas.openxmlformats.org/officeDocument/2006/relationships" id="2147483653" r:id="R70962ce4500a45cb"/>
    <p:sldLayoutId xmlns:r="http://schemas.openxmlformats.org/officeDocument/2006/relationships" id="2147483654" r:id="Ra89020f2c40444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d4dd4278b42a3" /><Relationship Type="http://schemas.openxmlformats.org/officeDocument/2006/relationships/image" Target="/ppt/media/image.png" Id="R96bdc8253ca2402b" /><Relationship Type="http://schemas.openxmlformats.org/officeDocument/2006/relationships/image" Target="/ppt/media/image.svg" Id="Ra1e7140acf274d46" /><Relationship Type="http://schemas.openxmlformats.org/officeDocument/2006/relationships/image" Target="/ppt/media/image2.png" Id="Ra7dc00926aee4a43" /><Relationship Type="http://schemas.openxmlformats.org/officeDocument/2006/relationships/notesSlide" Target="/ppt/notesSlides/notesSlide1.xml" Id="R48463f70032049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792dcdcdb4558" /><Relationship Type="http://schemas.openxmlformats.org/officeDocument/2006/relationships/image" Target="/ppt/media/image3.png" Id="R8554237d989145b8" /><Relationship Type="http://schemas.openxmlformats.org/officeDocument/2006/relationships/image" Target="/ppt/media/image2.svg" Id="Rb180b10539994c91" /><Relationship Type="http://schemas.openxmlformats.org/officeDocument/2006/relationships/image" Target="/ppt/media/image4.png" Id="R1b16be9f3741407c" /><Relationship Type="http://schemas.openxmlformats.org/officeDocument/2006/relationships/notesSlide" Target="/ppt/notesSlides/notesSlide2.xml" Id="R5854de3764b4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188fad5bb4d9a" /><Relationship Type="http://schemas.openxmlformats.org/officeDocument/2006/relationships/image" Target="/ppt/media/image5.png" Id="R60e7b31b880c43bf" /><Relationship Type="http://schemas.openxmlformats.org/officeDocument/2006/relationships/image" Target="/ppt/media/image3.svg" Id="Rc0d0896c2aa444e1" /><Relationship Type="http://schemas.openxmlformats.org/officeDocument/2006/relationships/notesSlide" Target="/ppt/notesSlides/notesSlide3.xml" Id="R36f8275cbc9344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0c99568494011" /><Relationship Type="http://schemas.openxmlformats.org/officeDocument/2006/relationships/image" Target="/ppt/media/image6.png" Id="R3786bfa266434127" /><Relationship Type="http://schemas.openxmlformats.org/officeDocument/2006/relationships/image" Target="/ppt/media/image4.svg" Id="R1cf9f78b2e6a4a4c" /><Relationship Type="http://schemas.openxmlformats.org/officeDocument/2006/relationships/image" Target="/ppt/media/image7.png" Id="Re96a928da1104bbe" /><Relationship Type="http://schemas.openxmlformats.org/officeDocument/2006/relationships/notesSlide" Target="/ppt/notesSlides/notesSlide4.xml" Id="R2240ea55c099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7073555674d7d" /><Relationship Type="http://schemas.openxmlformats.org/officeDocument/2006/relationships/image" Target="/ppt/media/image8.png" Id="R031e92bc9b1941ba" /><Relationship Type="http://schemas.openxmlformats.org/officeDocument/2006/relationships/image" Target="/ppt/media/image5.svg" Id="R846cbcaeeac44e90" /><Relationship Type="http://schemas.openxmlformats.org/officeDocument/2006/relationships/image" Target="/ppt/media/image9.png" Id="Ra10fe054202b42e1" /><Relationship Type="http://schemas.openxmlformats.org/officeDocument/2006/relationships/image" Target="/ppt/media/image10.png" Id="Rbf68400b6fb74be8" /><Relationship Type="http://schemas.openxmlformats.org/officeDocument/2006/relationships/notesSlide" Target="/ppt/notesSlides/notesSlide5.xml" Id="Rc6447270b64c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59ca85c244735" /><Relationship Type="http://schemas.openxmlformats.org/officeDocument/2006/relationships/image" Target="/ppt/media/image11.png" Id="Rbeb9ce8dd0f84fb9" /><Relationship Type="http://schemas.openxmlformats.org/officeDocument/2006/relationships/image" Target="/ppt/media/image6.svg" Id="R6ea7d313843b4568" /><Relationship Type="http://schemas.openxmlformats.org/officeDocument/2006/relationships/image" Target="/ppt/media/image12.png" Id="R54c1d35d0ffe479d" /><Relationship Type="http://schemas.openxmlformats.org/officeDocument/2006/relationships/image" Target="/ppt/media/image13.png" Id="Rcacc407a00044405" /><Relationship Type="http://schemas.openxmlformats.org/officeDocument/2006/relationships/image" Target="/ppt/media/image14.png" Id="R0c12d07e463d454e" /><Relationship Type="http://schemas.openxmlformats.org/officeDocument/2006/relationships/notesSlide" Target="/ppt/notesSlides/notesSlide6.xml" Id="R40d6f82a59294e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c46909df44dcc" /><Relationship Type="http://schemas.openxmlformats.org/officeDocument/2006/relationships/image" Target="/ppt/media/image15.png" Id="Re1c8daf234c64013" /><Relationship Type="http://schemas.openxmlformats.org/officeDocument/2006/relationships/image" Target="/ppt/media/image7.svg" Id="Rf55b2df1f3554bef" /><Relationship Type="http://schemas.openxmlformats.org/officeDocument/2006/relationships/image" Target="/ppt/media/image16.png" Id="R71ab1448ad444010" /><Relationship Type="http://schemas.openxmlformats.org/officeDocument/2006/relationships/image" Target="/ppt/media/image17.png" Id="R44e4d08bb25e4a5e" /><Relationship Type="http://schemas.openxmlformats.org/officeDocument/2006/relationships/image" Target="/ppt/media/image18.png" Id="R55d2e889ae4d4807" /><Relationship Type="http://schemas.openxmlformats.org/officeDocument/2006/relationships/notesSlide" Target="/ppt/notesSlides/notesSlide7.xml" Id="R9e157f9ccfc6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bc834bbd14f8e" /><Relationship Type="http://schemas.openxmlformats.org/officeDocument/2006/relationships/image" Target="/ppt/media/image19.png" Id="R4b7f9db93e2349e0" /><Relationship Type="http://schemas.openxmlformats.org/officeDocument/2006/relationships/image" Target="/ppt/media/image8.svg" Id="Rfb2950653d2742c4" /><Relationship Type="http://schemas.openxmlformats.org/officeDocument/2006/relationships/image" Target="/ppt/media/image20.png" Id="Rbd971cce532d44b6" /><Relationship Type="http://schemas.openxmlformats.org/officeDocument/2006/relationships/image" Target="/ppt/media/image21.png" Id="Rfab6df254ae44da3" /><Relationship Type="http://schemas.openxmlformats.org/officeDocument/2006/relationships/image" Target="/ppt/media/image22.png" Id="R4d23b717b70545ac" /><Relationship Type="http://schemas.openxmlformats.org/officeDocument/2006/relationships/notesSlide" Target="/ppt/notesSlides/notesSlide8.xml" Id="R2a1385c7409642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2c647a8a94733" /><Relationship Type="http://schemas.openxmlformats.org/officeDocument/2006/relationships/image" Target="/ppt/media/image23.png" Id="Rb9bac2e2687749b7" /><Relationship Type="http://schemas.openxmlformats.org/officeDocument/2006/relationships/image" Target="/ppt/media/image9.svg" Id="R0b5a600d70bf4b27" /><Relationship Type="http://schemas.openxmlformats.org/officeDocument/2006/relationships/image" Target="/ppt/media/image24.png" Id="R4c7bf6fb702b4b38" /><Relationship Type="http://schemas.openxmlformats.org/officeDocument/2006/relationships/image" Target="/ppt/media/image25.png" Id="R65a2ede1276141bc" /><Relationship Type="http://schemas.openxmlformats.org/officeDocument/2006/relationships/image" Target="/ppt/media/image26.png" Id="Re0d691997291426a" /><Relationship Type="http://schemas.openxmlformats.org/officeDocument/2006/relationships/notesSlide" Target="/ppt/notesSlides/notesSlide9.xml" Id="R9ae24e4aea454a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4a7e10dea4e4f" /><Relationship Type="http://schemas.openxmlformats.org/officeDocument/2006/relationships/image" Target="/ppt/media/image27.png" Id="R058c60166f684b34" /><Relationship Type="http://schemas.openxmlformats.org/officeDocument/2006/relationships/image" Target="/ppt/media/image10.svg" Id="R0f81e222a1734be7" /><Relationship Type="http://schemas.openxmlformats.org/officeDocument/2006/relationships/notesSlide" Target="/ppt/notesSlides/notesSlide10.xml" Id="R8fdff59396f14d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cf7283cd9483b" /><Relationship Type="http://schemas.openxmlformats.org/officeDocument/2006/relationships/image" Target="/ppt/media/image28.png" Id="Ra7020936be8b40e4" /><Relationship Type="http://schemas.openxmlformats.org/officeDocument/2006/relationships/image" Target="/ppt/media/image11.svg" Id="R607a8c6b4463440e" /><Relationship Type="http://schemas.openxmlformats.org/officeDocument/2006/relationships/image" Target="/ppt/media/image29.png" Id="R15b3b202ab6249dd" /><Relationship Type="http://schemas.openxmlformats.org/officeDocument/2006/relationships/notesSlide" Target="/ppt/notesSlides/notesSlide11.xml" Id="R8b09a1074f2f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f915a640a4948" /><Relationship Type="http://schemas.openxmlformats.org/officeDocument/2006/relationships/image" Target="/ppt/media/image30.png" Id="R98fe9decdca44d8a" /><Relationship Type="http://schemas.openxmlformats.org/officeDocument/2006/relationships/image" Target="/ppt/media/image12.svg" Id="Re00bebf4805e4538" /><Relationship Type="http://schemas.openxmlformats.org/officeDocument/2006/relationships/image" Target="/ppt/media/image31.png" Id="R9051574d15bf432a" /><Relationship Type="http://schemas.openxmlformats.org/officeDocument/2006/relationships/notesSlide" Target="/ppt/notesSlides/notesSlide12.xml" Id="Rd25156a19ff347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e7f952a8c476a" /><Relationship Type="http://schemas.openxmlformats.org/officeDocument/2006/relationships/image" Target="/ppt/media/image32.png" Id="R75c5faea46c240bf" /><Relationship Type="http://schemas.openxmlformats.org/officeDocument/2006/relationships/image" Target="/ppt/media/image13.svg" Id="R145684a0dfe14ac4" /><Relationship Type="http://schemas.openxmlformats.org/officeDocument/2006/relationships/image" Target="/ppt/media/image33.png" Id="R723dfd348dd14a99" /><Relationship Type="http://schemas.openxmlformats.org/officeDocument/2006/relationships/notesSlide" Target="/ppt/notesSlides/notesSlide13.xml" Id="R75472a40282b44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2eb1cf5004f75" /><Relationship Type="http://schemas.openxmlformats.org/officeDocument/2006/relationships/image" Target="/ppt/media/image34.png" Id="R540aa408fec9487d" /><Relationship Type="http://schemas.openxmlformats.org/officeDocument/2006/relationships/image" Target="/ppt/media/image14.svg" Id="Rafa01d88e7234637" /><Relationship Type="http://schemas.openxmlformats.org/officeDocument/2006/relationships/image" Target="/ppt/media/image35.png" Id="R0d82470b2fc74eb6" /><Relationship Type="http://schemas.openxmlformats.org/officeDocument/2006/relationships/notesSlide" Target="/ppt/notesSlides/notesSlide14.xml" Id="Rf4180cbab40947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b2ad36c5b44a0" /><Relationship Type="http://schemas.openxmlformats.org/officeDocument/2006/relationships/image" Target="/ppt/media/image36.png" Id="R9826c856807048e5" /><Relationship Type="http://schemas.openxmlformats.org/officeDocument/2006/relationships/image" Target="/ppt/media/image15.svg" Id="Ra630f29ddda547fe" /><Relationship Type="http://schemas.openxmlformats.org/officeDocument/2006/relationships/image" Target="/ppt/media/image37.png" Id="Rac77a23575cb42c8" /><Relationship Type="http://schemas.openxmlformats.org/officeDocument/2006/relationships/notesSlide" Target="/ppt/notesSlides/notesSlide15.xml" Id="Rb0db840b60bf42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71f48f9c84a30" /><Relationship Type="http://schemas.openxmlformats.org/officeDocument/2006/relationships/image" Target="/ppt/media/image38.png" Id="R902ae27e5de54b68" /><Relationship Type="http://schemas.openxmlformats.org/officeDocument/2006/relationships/image" Target="/ppt/media/image16.svg" Id="Refa0bfa4bc4347f4" /><Relationship Type="http://schemas.openxmlformats.org/officeDocument/2006/relationships/image" Target="/ppt/media/image39.png" Id="Rc4b01c638b33420e" /><Relationship Type="http://schemas.openxmlformats.org/officeDocument/2006/relationships/notesSlide" Target="/ppt/notesSlides/notesSlide16.xml" Id="R1ae6d1ad76dd4d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591005a86411a" /><Relationship Type="http://schemas.openxmlformats.org/officeDocument/2006/relationships/image" Target="/ppt/media/image40.png" Id="R6db9d2ceb6e04639" /><Relationship Type="http://schemas.openxmlformats.org/officeDocument/2006/relationships/image" Target="/ppt/media/image17.svg" Id="R42bc512aab6248c4" /><Relationship Type="http://schemas.openxmlformats.org/officeDocument/2006/relationships/image" Target="/ppt/media/image41.png" Id="R5c1bf0dda247426f" /><Relationship Type="http://schemas.openxmlformats.org/officeDocument/2006/relationships/notesSlide" Target="/ppt/notesSlides/notesSlide17.xml" Id="Rb0c37ad0992e4f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7e1c9526f40ee" /><Relationship Type="http://schemas.openxmlformats.org/officeDocument/2006/relationships/image" Target="/ppt/media/image42.png" Id="R5730bebd27ff45f0" /><Relationship Type="http://schemas.openxmlformats.org/officeDocument/2006/relationships/image" Target="/ppt/media/image18.svg" Id="R78ca49b3121b4e99" /><Relationship Type="http://schemas.openxmlformats.org/officeDocument/2006/relationships/image" Target="/ppt/media/image43.png" Id="R71204471923f4181" /><Relationship Type="http://schemas.openxmlformats.org/officeDocument/2006/relationships/notesSlide" Target="/ppt/notesSlides/notesSlide18.xml" Id="Rc9859ba1b37b48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772d720444311" /><Relationship Type="http://schemas.openxmlformats.org/officeDocument/2006/relationships/image" Target="/ppt/media/image44.png" Id="R90ef1e81a6264714" /><Relationship Type="http://schemas.openxmlformats.org/officeDocument/2006/relationships/image" Target="/ppt/media/image19.svg" Id="R9c1e23e2f0964b60" /><Relationship Type="http://schemas.openxmlformats.org/officeDocument/2006/relationships/image" Target="/ppt/media/image45.png" Id="R5b04ec6a9a0e46d4" /><Relationship Type="http://schemas.openxmlformats.org/officeDocument/2006/relationships/notesSlide" Target="/ppt/notesSlides/notesSlide19.xml" Id="R9c0118ce03894b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acdea6c9e4f77" /><Relationship Type="http://schemas.openxmlformats.org/officeDocument/2006/relationships/image" Target="/ppt/media/image46.png" Id="Re715608222694248" /><Relationship Type="http://schemas.openxmlformats.org/officeDocument/2006/relationships/image" Target="/ppt/media/image20.svg" Id="R348804f36a044310" /><Relationship Type="http://schemas.openxmlformats.org/officeDocument/2006/relationships/image" Target="/ppt/media/image47.png" Id="R0bbdd1aea1d04b3c" /><Relationship Type="http://schemas.openxmlformats.org/officeDocument/2006/relationships/image" Target="/ppt/media/image48.png" Id="R9a536fcfbc324ecd" /><Relationship Type="http://schemas.openxmlformats.org/officeDocument/2006/relationships/image" Target="/ppt/media/image49.png" Id="Rab6d3c731ff741e7" /><Relationship Type="http://schemas.openxmlformats.org/officeDocument/2006/relationships/image" Target="/ppt/media/image50.png" Id="R423f15340a1b4510" /><Relationship Type="http://schemas.openxmlformats.org/officeDocument/2006/relationships/notesSlide" Target="/ppt/notesSlides/notesSlide20.xml" Id="R2b8b910ef85f45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7004e50744bd5" /><Relationship Type="http://schemas.openxmlformats.org/officeDocument/2006/relationships/image" Target="/ppt/media/image51.png" Id="R1690fb44c0da4c84" /><Relationship Type="http://schemas.openxmlformats.org/officeDocument/2006/relationships/image" Target="/ppt/media/image21.svg" Id="Rb7b816b999c54109" /><Relationship Type="http://schemas.openxmlformats.org/officeDocument/2006/relationships/notesSlide" Target="/ppt/notesSlides/notesSlide21.xml" Id="Re2890b3a4a5a45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89a2dd48d488c" /><Relationship Type="http://schemas.openxmlformats.org/officeDocument/2006/relationships/image" Target="/ppt/media/image52.png" Id="R82b4e3fe64d94ff9" /><Relationship Type="http://schemas.openxmlformats.org/officeDocument/2006/relationships/image" Target="/ppt/media/image22.svg" Id="R6a1ae89384624ad2" /><Relationship Type="http://schemas.openxmlformats.org/officeDocument/2006/relationships/image" Target="/ppt/media/image53.png" Id="R079583637bb84448" /><Relationship Type="http://schemas.openxmlformats.org/officeDocument/2006/relationships/notesSlide" Target="/ppt/notesSlides/notesSlide22.xml" Id="R61c5cd1f644a4e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54a96a7fa40af" /><Relationship Type="http://schemas.openxmlformats.org/officeDocument/2006/relationships/image" Target="/ppt/media/image54.png" Id="R8491dbe2b811486c" /><Relationship Type="http://schemas.openxmlformats.org/officeDocument/2006/relationships/image" Target="/ppt/media/image23.svg" Id="Rdf8e743fb90d4605" /><Relationship Type="http://schemas.openxmlformats.org/officeDocument/2006/relationships/image" Target="/ppt/media/image55.png" Id="R7a31b413be3c42e6" /><Relationship Type="http://schemas.openxmlformats.org/officeDocument/2006/relationships/notesSlide" Target="/ppt/notesSlides/notesSlide23.xml" Id="Rdf0d626cb5f043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951238ad74594" /><Relationship Type="http://schemas.openxmlformats.org/officeDocument/2006/relationships/image" Target="/ppt/media/image56.png" Id="R0fe76b9ca1e5436b" /><Relationship Type="http://schemas.openxmlformats.org/officeDocument/2006/relationships/image" Target="/ppt/media/image24.svg" Id="R3ddb259f77be4988" /><Relationship Type="http://schemas.openxmlformats.org/officeDocument/2006/relationships/image" Target="/ppt/media/image57.png" Id="R9053a050d0dd4d7f" /><Relationship Type="http://schemas.openxmlformats.org/officeDocument/2006/relationships/notesSlide" Target="/ppt/notesSlides/notesSlide24.xml" Id="R3eea5cec1e1547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5e2cf2ec0469d" /><Relationship Type="http://schemas.openxmlformats.org/officeDocument/2006/relationships/image" Target="/ppt/media/image58.png" Id="R442e0327d97c4d23" /><Relationship Type="http://schemas.openxmlformats.org/officeDocument/2006/relationships/image" Target="/ppt/media/image25.svg" Id="R2c0fbd9906fc47d8" /><Relationship Type="http://schemas.openxmlformats.org/officeDocument/2006/relationships/image" Target="/ppt/media/image59.png" Id="Rd3f3e766cb0b4621" /><Relationship Type="http://schemas.openxmlformats.org/officeDocument/2006/relationships/notesSlide" Target="/ppt/notesSlides/notesSlide25.xml" Id="Rd2c6068102114e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e04710bff4ded" /><Relationship Type="http://schemas.openxmlformats.org/officeDocument/2006/relationships/image" Target="/ppt/media/image60.png" Id="R4917b981976748c4" /><Relationship Type="http://schemas.openxmlformats.org/officeDocument/2006/relationships/image" Target="/ppt/media/image26.svg" Id="R1cc7a785656640d4" /><Relationship Type="http://schemas.openxmlformats.org/officeDocument/2006/relationships/image" Target="/ppt/media/image61.png" Id="R76c6187bd9e64764" /><Relationship Type="http://schemas.openxmlformats.org/officeDocument/2006/relationships/notesSlide" Target="/ppt/notesSlides/notesSlide26.xml" Id="R9c21d6dc152a44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2C640-DBD6-4B0F-AB27-71577D262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dc8253ca2402b">
            <a:extLst>
              <a:ext uri="{96DAC541-7B7A-43D3-8B79-37D633B846F1}">
                <asvg:svgBlip xmlns:asvg="http://schemas.microsoft.com/office/drawing/2016/SVG/main" r:embed="Ra1e7140acf274d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2247900"/>
            <a:ext cx="4438650" cy="913840"/>
          </a:xfrm>
          <a:prstGeom xmlns:a="http://schemas.openxmlformats.org/drawingml/2006/main" prst="rect">
            <a:avLst/>
          </a:prstGeom>
        </p:spPr>
      </p:pic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418864D-7738-43D0-8328-1562EF9C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Fechamento financeiro</a:t>
            </a:r>
          </a:p>
          <a:p xmlns:a="http://schemas.openxmlformats.org/drawingml/2006/main">
            <a:pPr algn="l">
              <a:defRPr sz="32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da Tarvo</a:t>
            </a:r>
          </a:p>
        </p:txBody>
      </p:sp>
      <p:sp>
        <p:nvSpPr>
          <p:cNvPr id="4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E4F01C92-8BDF-44AF-A689-520128A7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Setembro de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86841-3EBF-40D8-8D63-8EA5F2A81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c00926aee4a43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7239000" y="1724025"/>
            <a:ext cx="3914775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66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5E622-1A55-4B60-9152-419D5C051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4237d989145b8">
            <a:extLst>
              <a:ext uri="{96DAC541-7B7A-43D3-8B79-37D633B846F1}">
                <asvg:svgBlip xmlns:asvg="http://schemas.microsoft.com/office/drawing/2016/SVG/main" r:embed="Rb180b10539994c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99D64B76-0BFE-4AD5-BBC5-C2BBB1C3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01946E5-A547-4A35-8A52-90026CC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01</a:t>
            </a:r>
          </a:p>
        </p:txBody>
      </p:sp>
      <p:sp>
        <p:nvSpPr>
          <p:cNvPr id="5" name="client-introduction">
            <a:extLst xmlns:a="http://schemas.openxmlformats.org/drawingml/2006/main">
              <a:ext uri="{FF2B5EF4-FFF2-40B4-BE49-F238E27FC236}">
                <a16:creationId xmlns:a16="http://schemas.microsoft.com/office/drawing/2014/main" id="{FE47C1C0-AFD7-440A-BA16-FBA0F90E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Essa é a</a:t>
            </a:r>
          </a:p>
        </p:txBody>
      </p:sp>
      <p:sp>
        <p:nvSpPr>
          <p:cNvPr id="6" name="tarvo-identification">
            <a:extLst xmlns:a="http://schemas.openxmlformats.org/drawingml/2006/main">
              <a:ext uri="{FF2B5EF4-FFF2-40B4-BE49-F238E27FC236}">
                <a16:creationId xmlns:a16="http://schemas.microsoft.com/office/drawing/2014/main" id="{389A5FB7-E138-4647-A6D7-B629805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6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Tarvo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CA4E-DE35-4A5F-AA77-29E1E8567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6be9f3741407c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7429500" y="2333625"/>
            <a:ext cx="3381375" cy="340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14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F28C4-9C5B-4CAA-9265-0DBAC3D0E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7b31b880c43bf">
            <a:extLst>
              <a:ext uri="{96DAC541-7B7A-43D3-8B79-37D633B846F1}">
                <asvg:svgBlip xmlns:asvg="http://schemas.microsoft.com/office/drawing/2016/SVG/main" r:embed="Rc0d0896c2aa444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CF49E9E3-C803-4BE5-9F09-3F9504C5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2435D20-6668-4166-9A0C-16BB414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02</a:t>
            </a:r>
          </a:p>
        </p:txBody>
      </p:sp>
      <p:sp>
        <p:nvSpPr>
          <p:cNvPr id="5" name="client-introduction">
            <a:extLst xmlns:a="http://schemas.openxmlformats.org/drawingml/2006/main">
              <a:ext uri="{FF2B5EF4-FFF2-40B4-BE49-F238E27FC236}">
                <a16:creationId xmlns:a16="http://schemas.microsoft.com/office/drawing/2014/main" id="{A1F176F3-E115-4916-A132-5781DAB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Essa é a</a:t>
            </a:r>
          </a:p>
        </p:txBody>
      </p:sp>
      <p:sp>
        <p:nvSpPr>
          <p:cNvPr id="6" name="tarvo-identification">
            <a:extLst xmlns:a="http://schemas.openxmlformats.org/drawingml/2006/main">
              <a:ext uri="{FF2B5EF4-FFF2-40B4-BE49-F238E27FC236}">
                <a16:creationId xmlns:a16="http://schemas.microsoft.com/office/drawing/2014/main" id="{C5495B1D-E4E6-4AA9-A0ED-ABD861D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6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Tarvo</a:t>
            </a:r>
          </a:p>
        </p:txBody>
      </p:sp>
      <p:sp>
        <p:nvSpPr>
          <p:cNvPr id="7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2615F98B-6A67-4314-9AB0-85E43F5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3 frentes que</a:t>
            </a:r>
          </a:p>
          <a:p xmlns:a="http://schemas.openxmlformats.org/drawingml/2006/main">
            <a:pPr algn="l">
              <a:defRPr sz="35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não se conectam</a:t>
            </a:r>
          </a:p>
        </p:txBody>
      </p:sp>
      <p:sp>
        <p:nvSpPr>
          <p:cNvPr id="8" name="front-1">
            <a:extLst xmlns:a="http://schemas.openxmlformats.org/drawingml/2006/main">
              <a:ext uri="{FF2B5EF4-FFF2-40B4-BE49-F238E27FC236}">
                <a16:creationId xmlns:a16="http://schemas.microsoft.com/office/drawing/2014/main" id="{97182692-5227-4C32-AF0C-7765903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  <p:sp>
        <p:nvSpPr>
          <p:cNvPr id="9" name="front-2">
            <a:extLst xmlns:a="http://schemas.openxmlformats.org/drawingml/2006/main">
              <a:ext uri="{FF2B5EF4-FFF2-40B4-BE49-F238E27FC236}">
                <a16:creationId xmlns:a16="http://schemas.microsoft.com/office/drawing/2014/main" id="{961B6CF5-8B1C-4A8D-BB77-1DCECF5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8135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  <p:sp>
        <p:nvSpPr>
          <p:cNvPr id="10" name="front-3">
            <a:extLst xmlns:a="http://schemas.openxmlformats.org/drawingml/2006/main">
              <a:ext uri="{FF2B5EF4-FFF2-40B4-BE49-F238E27FC236}">
                <a16:creationId xmlns:a16="http://schemas.microsoft.com/office/drawing/2014/main" id="{829F5D2E-24C5-48E5-858D-FD4F42A9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667375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</p:spTree>
    <p:extLst>
      <p:ext uri="{BB962C8B-B14F-4D97-AF65-F5344CB8AC3E}">
        <p14:creationId xmlns:p14="http://schemas.microsoft.com/office/powerpoint/2010/main" val="591737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6F456-6A22-4324-9D24-86E11D2F9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6bfa266434127">
            <a:extLst>
              <a:ext uri="{96DAC541-7B7A-43D3-8B79-37D633B846F1}">
                <asvg:svgBlip xmlns:asvg="http://schemas.microsoft.com/office/drawing/2016/SVG/main" r:embed="R1cf9f78b2e6a4a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AE2AF74-0545-4155-B652-55BA494F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50B2155-BDFF-4F76-87F0-94CFE7D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03</a:t>
            </a:r>
          </a:p>
        </p:txBody>
      </p:sp>
      <p:sp>
        <p:nvSpPr>
          <p:cNvPr id="5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5556FAB7-3C9B-49F2-BB86-BA5971A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524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Planilha</a:t>
            </a:r>
            <a:r>
              <a:rPr sz="3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 com</a:t>
            </a:r>
          </a:p>
          <a:p xmlns:a="http://schemas.openxmlformats.org/drawingml/2006/main">
            <a: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taxas e condições</a:t>
            </a:r>
          </a:p>
          <a:p xmlns:a="http://schemas.openxmlformats.org/drawingml/2006/main">
            <a: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de </a:t>
            </a:r>
            <a:r>
              <a:rPr sz="36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cada lojista</a:t>
            </a:r>
          </a:p>
        </p:txBody>
      </p:sp>
      <p:sp>
        <p:nvSpPr>
          <p:cNvPr id="6" name="front-1">
            <a:extLst xmlns:a="http://schemas.openxmlformats.org/drawingml/2006/main">
              <a:ext uri="{FF2B5EF4-FFF2-40B4-BE49-F238E27FC236}">
                <a16:creationId xmlns:a16="http://schemas.microsoft.com/office/drawing/2014/main" id="{A2786648-634E-4D12-8D8A-4A5CD48D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front-2">
            <a:extLst xmlns:a="http://schemas.openxmlformats.org/drawingml/2006/main">
              <a:ext uri="{FF2B5EF4-FFF2-40B4-BE49-F238E27FC236}">
                <a16:creationId xmlns:a16="http://schemas.microsoft.com/office/drawing/2014/main" id="{C03519FB-0DA1-4A2A-B895-90AFB62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8135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  <p:sp>
        <p:nvSpPr>
          <p:cNvPr id="8" name="front-3">
            <a:extLst xmlns:a="http://schemas.openxmlformats.org/drawingml/2006/main">
              <a:ext uri="{FF2B5EF4-FFF2-40B4-BE49-F238E27FC236}">
                <a16:creationId xmlns:a16="http://schemas.microsoft.com/office/drawing/2014/main" id="{7918BD93-7254-4A1C-B32D-12F0FC45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667375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A71BF-D531-48F7-8D97-37BA52CE4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a928da1104bbe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6572250" y="1590675"/>
            <a:ext cx="1905000" cy="1552575"/>
          </a:xfrm>
          <a:prstGeom xmlns:a="http://schemas.openxmlformats.org/drawingml/2006/main" prst="rect">
            <a:avLst/>
          </a:prstGeom>
        </p:spPr>
      </p:pic>
      <p:sp>
        <p:nvSpPr>
          <p:cNvPr id="10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3A8E9841-3C72-4BAB-AC76-C70C41F8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Planilha de taxas</a:t>
            </a:r>
          </a:p>
        </p:txBody>
      </p:sp>
    </p:spTree>
    <p:extLst>
      <p:ext uri="{BB962C8B-B14F-4D97-AF65-F5344CB8AC3E}">
        <p14:creationId xmlns:p14="http://schemas.microsoft.com/office/powerpoint/2010/main" val="260596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5962F-30B7-4ADD-858D-E36BD5BB7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e92bc9b1941ba">
            <a:extLst>
              <a:ext uri="{96DAC541-7B7A-43D3-8B79-37D633B846F1}">
                <asvg:svgBlip xmlns:asvg="http://schemas.microsoft.com/office/drawing/2016/SVG/main" r:embed="R846cbcaeeac44e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8BAD06DA-5616-4638-93B1-608AA63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F06CFBE-4441-4514-9866-1C9F7BC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04</a:t>
            </a:r>
          </a:p>
        </p:txBody>
      </p:sp>
      <p:sp>
        <p:nvSpPr>
          <p:cNvPr id="5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D8419AB6-50B9-492E-B4B4-539E88A8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 que foi </a:t>
            </a:r>
            <a:r>
              <a:rPr sz="36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cobrado</a:t>
            </a:r>
            <a:r>
              <a:rPr sz="36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front-1">
            <a:extLst xmlns:a="http://schemas.openxmlformats.org/drawingml/2006/main">
              <a:ext uri="{FF2B5EF4-FFF2-40B4-BE49-F238E27FC236}">
                <a16:creationId xmlns:a16="http://schemas.microsoft.com/office/drawing/2014/main" id="{3F25F0EE-00FF-44E1-83AC-63C401A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front-2">
            <a:extLst xmlns:a="http://schemas.openxmlformats.org/drawingml/2006/main">
              <a:ext uri="{FF2B5EF4-FFF2-40B4-BE49-F238E27FC236}">
                <a16:creationId xmlns:a16="http://schemas.microsoft.com/office/drawing/2014/main" id="{F4F97300-9B8F-4C99-B544-1A309589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front-3">
            <a:extLst xmlns:a="http://schemas.openxmlformats.org/drawingml/2006/main">
              <a:ext uri="{FF2B5EF4-FFF2-40B4-BE49-F238E27FC236}">
                <a16:creationId xmlns:a16="http://schemas.microsoft.com/office/drawing/2014/main" id="{7D8B64AA-F73B-4A9C-A4B6-C40CD8C7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667375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4B3A9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E160-D25B-4504-9FFF-E8A564C8C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fe054202b42e1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6572250" y="1590675"/>
            <a:ext cx="1905000" cy="1552575"/>
          </a:xfrm>
          <a:prstGeom xmlns:a="http://schemas.openxmlformats.org/drawingml/2006/main" prst="rect">
            <a:avLst/>
          </a:prstGeom>
        </p:spPr>
      </p:pic>
      <p:sp>
        <p:nvSpPr>
          <p:cNvPr id="10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4928568F-D609-4319-8473-7B5A3DBD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Planilha de taxas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3548-B084-4BDF-89BD-042D9EC05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8400b6fb74be8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9525000" y="1590675"/>
            <a:ext cx="1905000" cy="1552575"/>
          </a:xfrm>
          <a:prstGeom xmlns:a="http://schemas.openxmlformats.org/drawingml/2006/main" prst="rect">
            <a:avLst/>
          </a:prstGeom>
        </p:spPr>
      </p:pic>
      <p:sp>
        <p:nvSpPr>
          <p:cNvPr id="12" name="front-label-2">
            <a:extLst xmlns:a="http://schemas.openxmlformats.org/drawingml/2006/main">
              <a:ext uri="{FF2B5EF4-FFF2-40B4-BE49-F238E27FC236}">
                <a16:creationId xmlns:a16="http://schemas.microsoft.com/office/drawing/2014/main" id="{CD8C1156-C97B-4E71-A154-ACDAC93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9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Relatórios e extratos</a:t>
            </a:r>
          </a:p>
        </p:txBody>
      </p:sp>
    </p:spTree>
    <p:extLst>
      <p:ext uri="{BB962C8B-B14F-4D97-AF65-F5344CB8AC3E}">
        <p14:creationId xmlns:p14="http://schemas.microsoft.com/office/powerpoint/2010/main" val="1921675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A9BA1-2A6E-422D-9FA6-A2004F049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9ce8dd0f84fb9">
            <a:extLst>
              <a:ext uri="{96DAC541-7B7A-43D3-8B79-37D633B846F1}">
                <asvg:svgBlip xmlns:asvg="http://schemas.microsoft.com/office/drawing/2016/SVG/main" r:embed="R6ea7d313843b45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42356818-A091-4833-8170-35F2BC5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4BE158D-2FB2-4051-AAC3-FD2E06DF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05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2E545FD0-94B2-45D6-A809-551A517F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552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Entre pontas,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902DFD99-7E3E-4B63-B22B-11222F8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52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uma única pessoa</a:t>
            </a:r>
          </a:p>
        </p:txBody>
      </p:sp>
      <p:cxnSp>
        <p:nvCxnSpPr>
          <p:cNvPr id="7" name="triangle-top">
            <a:extLst xmlns:a="http://schemas.openxmlformats.org/drawingml/2006/main">
              <a:ext uri="{FF2B5EF4-FFF2-40B4-BE49-F238E27FC236}">
                <a16:creationId xmlns:a16="http://schemas.microsoft.com/office/drawing/2014/main" id="{8FADD6C8-3066-4D03-9570-196F450DAD8C}"/>
              </a:ext>
            </a:extLst>
          </p:cNvPr>
          <p:cNvCxnSpPr/>
          <p:nvPr/>
        </p:nvCxnSpPr>
        <p:spPr>
          <a:xfrm xmlns:a="http://schemas.openxmlformats.org/drawingml/2006/main">
            <a:off x="7524750" y="33337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cxnSp>
        <p:nvCxnSpPr>
          <p:cNvPr id="8" name="triangle-left">
            <a:extLst xmlns:a="http://schemas.openxmlformats.org/drawingml/2006/main">
              <a:ext uri="{FF2B5EF4-FFF2-40B4-BE49-F238E27FC236}">
                <a16:creationId xmlns:a16="http://schemas.microsoft.com/office/drawing/2014/main" id="{601AAE0A-5813-454F-9590-B478C7D1F816}"/>
              </a:ext>
            </a:extLst>
          </p:cNvPr>
          <p:cNvCxnSpPr/>
          <p:nvPr/>
        </p:nvCxnSpPr>
        <p:spPr>
          <a:xfrm xmlns:a="http://schemas.openxmlformats.org/drawingml/2006/main">
            <a:off x="7524750" y="3333750"/>
            <a:ext cx="1476375" cy="24860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9" name="triangle-right">
            <a:extLst xmlns:a="http://schemas.openxmlformats.org/drawingml/2006/main">
              <a:ext uri="{FF2B5EF4-FFF2-40B4-BE49-F238E27FC236}">
                <a16:creationId xmlns:a16="http://schemas.microsoft.com/office/drawing/2014/main" id="{AD13E28B-6583-4BE6-A81F-AE78DBD8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1476375" cy="2486025"/>
          </a:xfrm>
          <a:custGeom xmlns:a="http://schemas.openxmlformats.org/drawingml/2006/main">
            <a:pathLst>
              <a:path w="1476375" h="2486025">
                <a:moveTo>
                  <a:pt x="1476375" y="0"/>
                </a:moveTo>
                <a:lnTo>
                  <a:pt x="0" y="24860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  <a:prstDash val="solid"/>
          </a:ln>
        </p:spPr>
      </p:sp>
      <p:cxnSp>
        <p:nvCxnSpPr>
          <p:cNvPr id="10" name="helena-context">
            <a:extLst xmlns:a="http://schemas.openxmlformats.org/drawingml/2006/main">
              <a:ext uri="{FF2B5EF4-FFF2-40B4-BE49-F238E27FC236}">
                <a16:creationId xmlns:a16="http://schemas.microsoft.com/office/drawing/2014/main" id="{4F390745-6893-402B-AEA2-B22E84CC201B}"/>
              </a:ext>
            </a:extLst>
          </p:cNvPr>
          <p:cNvCxnSpPr/>
          <p:nvPr/>
        </p:nvCxnSpPr>
        <p:spPr>
          <a:xfrm xmlns:a="http://schemas.openxmlformats.org/drawingml/2006/main">
            <a:off x="9001125" y="4638675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4B3A9"/>
            </a:solidFill>
            <a:prstDash val="dash"/>
          </a:ln>
        </p:spPr>
      </p:cxnSp>
      <p:sp>
        <p:nvSpPr>
          <p:cNvPr id="11" name="front-1">
            <a:extLst xmlns:a="http://schemas.openxmlformats.org/drawingml/2006/main">
              <a:ext uri="{FF2B5EF4-FFF2-40B4-BE49-F238E27FC236}">
                <a16:creationId xmlns:a16="http://schemas.microsoft.com/office/drawing/2014/main" id="{3964F83B-55EC-4A72-A366-7682A4E1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front-2">
            <a:extLst xmlns:a="http://schemas.openxmlformats.org/drawingml/2006/main">
              <a:ext uri="{FF2B5EF4-FFF2-40B4-BE49-F238E27FC236}">
                <a16:creationId xmlns:a16="http://schemas.microsoft.com/office/drawing/2014/main" id="{8593DF72-17CD-4ED4-90A8-7DB6F74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81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front-3">
            <a:extLst xmlns:a="http://schemas.openxmlformats.org/drawingml/2006/main">
              <a:ext uri="{FF2B5EF4-FFF2-40B4-BE49-F238E27FC236}">
                <a16:creationId xmlns:a16="http://schemas.microsoft.com/office/drawing/2014/main" id="{3AE09AF3-FEA1-40B2-AA8F-F5F8955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667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9D9BE-FFC1-4F8F-B367-D318F85F4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1d35d0ffe479d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6572250" y="1590675"/>
            <a:ext cx="1905000" cy="1552575"/>
          </a:xfrm>
          <a:prstGeom xmlns:a="http://schemas.openxmlformats.org/drawingml/2006/main" prst="rect">
            <a:avLst/>
          </a:prstGeom>
        </p:spPr>
      </p:pic>
      <p:sp>
        <p:nvSpPr>
          <p:cNvPr id="15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9DBA9DE2-8352-41E4-9FF0-74981F03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Planilha de taxas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DEA59-3154-433F-ABC9-95D5AEDDE6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c407a00044405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9525000" y="1590675"/>
            <a:ext cx="1905000" cy="1552575"/>
          </a:xfrm>
          <a:prstGeom xmlns:a="http://schemas.openxmlformats.org/drawingml/2006/main" prst="rect">
            <a:avLst/>
          </a:prstGeom>
        </p:spPr>
      </p:pic>
      <p:sp>
        <p:nvSpPr>
          <p:cNvPr id="17" name="front-label-2">
            <a:extLst xmlns:a="http://schemas.openxmlformats.org/drawingml/2006/main">
              <a:ext uri="{FF2B5EF4-FFF2-40B4-BE49-F238E27FC236}">
                <a16:creationId xmlns:a16="http://schemas.microsoft.com/office/drawing/2014/main" id="{104083A5-72B0-415A-A78F-630056D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9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Relatórios e extratos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8BAA4-A946-4548-929E-2D687D7E7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2d07e463d454e"/>
          <a:srcRect xmlns:a="http://schemas.openxmlformats.org/drawingml/2006/main" l="8700" t="7640" r="6220" b="6910"/>
          <a:stretch xmlns:a="http://schemas.openxmlformats.org/drawingml/2006/main"/>
        </p:blipFill>
        <p:spPr>
          <a:xfrm xmlns:a="http://schemas.openxmlformats.org/drawingml/2006/main">
            <a:off x="8096250" y="4676775"/>
            <a:ext cx="1809750" cy="990600"/>
          </a:xfrm>
          <a:prstGeom xmlns:a="http://schemas.openxmlformats.org/drawingml/2006/main" prst="rect">
            <a:avLst/>
          </a:prstGeom>
        </p:spPr>
      </p:pic>
      <p:sp>
        <p:nvSpPr>
          <p:cNvPr id="19" name="front-label-3">
            <a:extLst xmlns:a="http://schemas.openxmlformats.org/drawingml/2006/main">
              <a:ext uri="{FF2B5EF4-FFF2-40B4-BE49-F238E27FC236}">
                <a16:creationId xmlns:a16="http://schemas.microsoft.com/office/drawing/2014/main" id="{4D60EB85-12C7-4500-8101-2DBAEDF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34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Contexto e exceções</a:t>
            </a:r>
          </a:p>
        </p:txBody>
      </p:sp>
      <p:sp>
        <p:nvSpPr>
          <p:cNvPr id="20" name="helena">
            <a:extLst xmlns:a="http://schemas.openxmlformats.org/drawingml/2006/main">
              <a:ext uri="{FF2B5EF4-FFF2-40B4-BE49-F238E27FC236}">
                <a16:creationId xmlns:a16="http://schemas.microsoft.com/office/drawing/2014/main" id="{70769FE3-5277-4927-AF83-569AF2C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4812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Helena</a:t>
            </a:r>
          </a:p>
        </p:txBody>
      </p:sp>
    </p:spTree>
    <p:extLst>
      <p:ext uri="{BB962C8B-B14F-4D97-AF65-F5344CB8AC3E}">
        <p14:creationId xmlns:p14="http://schemas.microsoft.com/office/powerpoint/2010/main" val="1463438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3B3BB-4611-4503-8358-91CABC96D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8daf234c64013">
            <a:extLst>
              <a:ext uri="{96DAC541-7B7A-43D3-8B79-37D633B846F1}">
                <asvg:svgBlip xmlns:asvg="http://schemas.microsoft.com/office/drawing/2016/SVG/main" r:embed="Rf55b2df1f3554b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76AF1440-9C4A-499B-A931-4BD2C5E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EC7B604-1B48-4AE1-AFC9-A5534A1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06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57C1D119-C798-4315-9D9A-9A99C45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No fim do mês</a:t>
            </a:r>
          </a:p>
        </p:txBody>
      </p:sp>
      <p:cxnSp>
        <p:nvCxnSpPr>
          <p:cNvPr id="6" name="triangle-top">
            <a:extLst xmlns:a="http://schemas.openxmlformats.org/drawingml/2006/main">
              <a:ext uri="{FF2B5EF4-FFF2-40B4-BE49-F238E27FC236}">
                <a16:creationId xmlns:a16="http://schemas.microsoft.com/office/drawing/2014/main" id="{96C55AE0-5916-4BC6-9334-CC0489156AE5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cxnSp>
        <p:nvCxnSpPr>
          <p:cNvPr id="7" name="triangle-left">
            <a:extLst xmlns:a="http://schemas.openxmlformats.org/drawingml/2006/main">
              <a:ext uri="{FF2B5EF4-FFF2-40B4-BE49-F238E27FC236}">
                <a16:creationId xmlns:a16="http://schemas.microsoft.com/office/drawing/2014/main" id="{9CE6D645-D0CB-4A98-A3FA-D749C43A24B1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1447800" cy="2257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8" name="triangle-right">
            <a:extLst xmlns:a="http://schemas.openxmlformats.org/drawingml/2006/main">
              <a:ext uri="{FF2B5EF4-FFF2-40B4-BE49-F238E27FC236}">
                <a16:creationId xmlns:a16="http://schemas.microsoft.com/office/drawing/2014/main" id="{4ADFD4D4-A986-4CD0-8580-326867CD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447800" cy="2257425"/>
          </a:xfrm>
          <a:custGeom xmlns:a="http://schemas.openxmlformats.org/drawingml/2006/main">
            <a:pathLst>
              <a:path w="1447800" h="2257425">
                <a:moveTo>
                  <a:pt x="1447800" y="0"/>
                </a:moveTo>
                <a:lnTo>
                  <a:pt x="0" y="22574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  <a:prstDash val="solid"/>
          </a:ln>
        </p:spPr>
      </p:sp>
      <p:cxnSp>
        <p:nvCxnSpPr>
          <p:cNvPr id="9" name="helena-context">
            <a:extLst xmlns:a="http://schemas.openxmlformats.org/drawingml/2006/main">
              <a:ext uri="{FF2B5EF4-FFF2-40B4-BE49-F238E27FC236}">
                <a16:creationId xmlns:a16="http://schemas.microsoft.com/office/drawing/2014/main" id="{A74EA2FB-8CB2-4B03-9B1D-048ACEB58AF2}"/>
              </a:ext>
            </a:extLst>
          </p:cNvPr>
          <p:cNvCxnSpPr/>
          <p:nvPr/>
        </p:nvCxnSpPr>
        <p:spPr>
          <a:xfrm xmlns:a="http://schemas.openxmlformats.org/drawingml/2006/main">
            <a:off x="3143250" y="48482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4B3A9"/>
            </a:solidFill>
            <a:prstDash val="dash"/>
          </a:ln>
        </p:spPr>
      </p:cxnSp>
      <p:sp>
        <p:nvSpPr>
          <p:cNvPr id="10" name="front-1">
            <a:extLst xmlns:a="http://schemas.openxmlformats.org/drawingml/2006/main">
              <a:ext uri="{FF2B5EF4-FFF2-40B4-BE49-F238E27FC236}">
                <a16:creationId xmlns:a16="http://schemas.microsoft.com/office/drawing/2014/main" id="{E7ABA07E-667C-4402-B059-64E69D9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front-2">
            <a:extLst xmlns:a="http://schemas.openxmlformats.org/drawingml/2006/main">
              <a:ext uri="{FF2B5EF4-FFF2-40B4-BE49-F238E27FC236}">
                <a16:creationId xmlns:a16="http://schemas.microsoft.com/office/drawing/2014/main" id="{567438BE-70F8-4F58-913D-00492AF7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front-3">
            <a:extLst xmlns:a="http://schemas.openxmlformats.org/drawingml/2006/main">
              <a:ext uri="{FF2B5EF4-FFF2-40B4-BE49-F238E27FC236}">
                <a16:creationId xmlns:a16="http://schemas.microsoft.com/office/drawing/2014/main" id="{763C813C-180B-4F9F-9710-5752909E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81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28D4C-DBB7-453A-9F3C-E544EFCB6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b1448ad444010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10287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4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5F31588D-D075-4C22-BD9B-F926CDC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Taxas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0D801-29A3-49EE-BFC2-FE3F325C0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4d08bb25e4a5e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39243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6" name="front-label-2">
            <a:extLst xmlns:a="http://schemas.openxmlformats.org/drawingml/2006/main">
              <a:ext uri="{FF2B5EF4-FFF2-40B4-BE49-F238E27FC236}">
                <a16:creationId xmlns:a16="http://schemas.microsoft.com/office/drawing/2014/main" id="{E47A1103-5B05-48E8-8E13-4217A7A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50CEE-D08D-4ACD-B8DE-EB3F31D44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2e889ae4d4807"/>
          <a:srcRect xmlns:a="http://schemas.openxmlformats.org/drawingml/2006/main" l="8700" t="7640" r="6220" b="6910"/>
          <a:stretch xmlns:a="http://schemas.openxmlformats.org/drawingml/2006/main"/>
        </p:blipFill>
        <p:spPr>
          <a:xfrm xmlns:a="http://schemas.openxmlformats.org/drawingml/2006/main">
            <a:off x="2500313" y="4752975"/>
            <a:ext cx="1285875" cy="838200"/>
          </a:xfrm>
          <a:prstGeom xmlns:a="http://schemas.openxmlformats.org/drawingml/2006/main" prst="rect">
            <a:avLst/>
          </a:prstGeom>
        </p:spPr>
      </p:pic>
      <p:sp>
        <p:nvSpPr>
          <p:cNvPr id="18" name="front-label-3">
            <a:extLst xmlns:a="http://schemas.openxmlformats.org/drawingml/2006/main">
              <a:ext uri="{FF2B5EF4-FFF2-40B4-BE49-F238E27FC236}">
                <a16:creationId xmlns:a16="http://schemas.microsoft.com/office/drawing/2014/main" id="{2013B410-EE48-4107-9A61-41AB307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9" name="helena">
            <a:extLst xmlns:a="http://schemas.openxmlformats.org/drawingml/2006/main">
              <a:ext uri="{FF2B5EF4-FFF2-40B4-BE49-F238E27FC236}">
                <a16:creationId xmlns:a16="http://schemas.microsoft.com/office/drawing/2014/main" id="{76A83286-9CBB-4373-B8EE-66EAA91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5767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Helena</a:t>
            </a:r>
          </a:p>
        </p:txBody>
      </p:sp>
      <p:sp>
        <p:nvSpPr>
          <p:cNvPr id="20" name="closing-question-1">
            <a:extLst xmlns:a="http://schemas.openxmlformats.org/drawingml/2006/main">
              <a:ext uri="{FF2B5EF4-FFF2-40B4-BE49-F238E27FC236}">
                <a16:creationId xmlns:a16="http://schemas.microsoft.com/office/drawing/2014/main" id="{E8D53F29-C3B7-4001-8256-BEADA62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Quanto pode faturar</a:t>
            </a:r>
          </a:p>
        </p:txBody>
      </p:sp>
      <p:sp>
        <p:nvSpPr>
          <p:cNvPr id="21" name="join-to-question">
            <a:extLst xmlns:a="http://schemas.openxmlformats.org/drawingml/2006/main">
              <a:ext uri="{FF2B5EF4-FFF2-40B4-BE49-F238E27FC236}">
                <a16:creationId xmlns:a16="http://schemas.microsoft.com/office/drawing/2014/main" id="{DD27511B-14C6-4077-87EC-3AA944C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2257425" cy="1209675"/>
          </a:xfrm>
          <a:custGeom xmlns:a="http://schemas.openxmlformats.org/drawingml/2006/main">
            <a:pathLst>
              <a:path w="2257425" h="1209675">
                <a:moveTo>
                  <a:pt x="0" y="1209675"/>
                </a:moveTo>
                <a:cubicBezTo>
                  <a:pt x="1128713" y="1209675"/>
                  <a:pt x="1128713" y="0"/>
                  <a:pt x="22574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E6654"/>
            </a:solidFill>
          </a:ln>
        </p:spPr>
      </p:sp>
      <p:sp>
        <p:nvSpPr>
          <p:cNvPr id="22" name="question-anchor">
            <a:extLst xmlns:a="http://schemas.openxmlformats.org/drawingml/2006/main">
              <a:ext uri="{FF2B5EF4-FFF2-40B4-BE49-F238E27FC236}">
                <a16:creationId xmlns:a16="http://schemas.microsoft.com/office/drawing/2014/main" id="{4C45C8D8-AF8E-46E7-A509-D4535B4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0" y="32842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</p:sp>
    </p:spTree>
    <p:extLst>
      <p:ext uri="{BB962C8B-B14F-4D97-AF65-F5344CB8AC3E}">
        <p14:creationId xmlns:p14="http://schemas.microsoft.com/office/powerpoint/2010/main" val="1636571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509D9-3668-4B0A-A679-5070BC9E1B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9db93e2349e0">
            <a:extLst>
              <a:ext uri="{96DAC541-7B7A-43D3-8B79-37D633B846F1}">
                <asvg:svgBlip xmlns:asvg="http://schemas.microsoft.com/office/drawing/2016/SVG/main" r:embed="Rfb2950653d2742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56A85F2-04CA-4011-9260-34114E09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C442FA9-4716-44BF-8265-7DAEFE44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07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D0B68078-E47E-4309-8BEA-D8525267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No fim do mês</a:t>
            </a:r>
          </a:p>
        </p:txBody>
      </p:sp>
      <p:cxnSp>
        <p:nvCxnSpPr>
          <p:cNvPr id="6" name="triangle-top">
            <a:extLst xmlns:a="http://schemas.openxmlformats.org/drawingml/2006/main">
              <a:ext uri="{FF2B5EF4-FFF2-40B4-BE49-F238E27FC236}">
                <a16:creationId xmlns:a16="http://schemas.microsoft.com/office/drawing/2014/main" id="{4F35FAFB-955C-4691-8E1B-7C4B1056E194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cxnSp>
        <p:nvCxnSpPr>
          <p:cNvPr id="7" name="triangle-left">
            <a:extLst xmlns:a="http://schemas.openxmlformats.org/drawingml/2006/main">
              <a:ext uri="{FF2B5EF4-FFF2-40B4-BE49-F238E27FC236}">
                <a16:creationId xmlns:a16="http://schemas.microsoft.com/office/drawing/2014/main" id="{A2AFDFC3-8C4F-4F98-AC04-99F7B4E366EE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1447800" cy="2257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8" name="triangle-right">
            <a:extLst xmlns:a="http://schemas.openxmlformats.org/drawingml/2006/main">
              <a:ext uri="{FF2B5EF4-FFF2-40B4-BE49-F238E27FC236}">
                <a16:creationId xmlns:a16="http://schemas.microsoft.com/office/drawing/2014/main" id="{B5FA8F57-3CB7-4151-9768-BB1CC37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447800" cy="2257425"/>
          </a:xfrm>
          <a:custGeom xmlns:a="http://schemas.openxmlformats.org/drawingml/2006/main">
            <a:pathLst>
              <a:path w="1447800" h="2257425">
                <a:moveTo>
                  <a:pt x="1447800" y="0"/>
                </a:moveTo>
                <a:lnTo>
                  <a:pt x="0" y="22574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  <a:prstDash val="solid"/>
          </a:ln>
        </p:spPr>
      </p:sp>
      <p:cxnSp>
        <p:nvCxnSpPr>
          <p:cNvPr id="9" name="helena-context">
            <a:extLst xmlns:a="http://schemas.openxmlformats.org/drawingml/2006/main">
              <a:ext uri="{FF2B5EF4-FFF2-40B4-BE49-F238E27FC236}">
                <a16:creationId xmlns:a16="http://schemas.microsoft.com/office/drawing/2014/main" id="{59F66B61-1F46-4828-B870-887AFA15E365}"/>
              </a:ext>
            </a:extLst>
          </p:cNvPr>
          <p:cNvCxnSpPr/>
          <p:nvPr/>
        </p:nvCxnSpPr>
        <p:spPr>
          <a:xfrm xmlns:a="http://schemas.openxmlformats.org/drawingml/2006/main">
            <a:off x="3143250" y="48482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4B3A9"/>
            </a:solidFill>
            <a:prstDash val="dash"/>
          </a:ln>
        </p:spPr>
      </p:cxnSp>
      <p:sp>
        <p:nvSpPr>
          <p:cNvPr id="10" name="front-1">
            <a:extLst xmlns:a="http://schemas.openxmlformats.org/drawingml/2006/main">
              <a:ext uri="{FF2B5EF4-FFF2-40B4-BE49-F238E27FC236}">
                <a16:creationId xmlns:a16="http://schemas.microsoft.com/office/drawing/2014/main" id="{DB98CEF8-241E-4454-8251-1E6A6151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front-2">
            <a:extLst xmlns:a="http://schemas.openxmlformats.org/drawingml/2006/main">
              <a:ext uri="{FF2B5EF4-FFF2-40B4-BE49-F238E27FC236}">
                <a16:creationId xmlns:a16="http://schemas.microsoft.com/office/drawing/2014/main" id="{DC981F76-FFBB-4105-94DE-EE7D77E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front-3">
            <a:extLst xmlns:a="http://schemas.openxmlformats.org/drawingml/2006/main">
              <a:ext uri="{FF2B5EF4-FFF2-40B4-BE49-F238E27FC236}">
                <a16:creationId xmlns:a16="http://schemas.microsoft.com/office/drawing/2014/main" id="{9004A5A8-C85C-4F5D-ABE1-0EC189EF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81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6169C-68B9-4AAB-8858-73A32FD35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71cce532d44b6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10287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4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7D021DF5-0F69-444C-A1C3-C2483E32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Taxas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22253-F44B-42EE-96C0-9F6FA74C2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df254ae44da3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39243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6" name="front-label-2">
            <a:extLst xmlns:a="http://schemas.openxmlformats.org/drawingml/2006/main">
              <a:ext uri="{FF2B5EF4-FFF2-40B4-BE49-F238E27FC236}">
                <a16:creationId xmlns:a16="http://schemas.microsoft.com/office/drawing/2014/main" id="{60895DF7-C5E0-4943-AD29-429F4C6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33998-F0DC-41B2-ACE5-758D3256C0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3b717b70545ac"/>
          <a:srcRect xmlns:a="http://schemas.openxmlformats.org/drawingml/2006/main" l="8700" t="7640" r="6220" b="6910"/>
          <a:stretch xmlns:a="http://schemas.openxmlformats.org/drawingml/2006/main"/>
        </p:blipFill>
        <p:spPr>
          <a:xfrm xmlns:a="http://schemas.openxmlformats.org/drawingml/2006/main">
            <a:off x="2500313" y="4752975"/>
            <a:ext cx="1285875" cy="838200"/>
          </a:xfrm>
          <a:prstGeom xmlns:a="http://schemas.openxmlformats.org/drawingml/2006/main" prst="rect">
            <a:avLst/>
          </a:prstGeom>
        </p:spPr>
      </p:pic>
      <p:sp>
        <p:nvSpPr>
          <p:cNvPr id="18" name="front-label-3">
            <a:extLst xmlns:a="http://schemas.openxmlformats.org/drawingml/2006/main">
              <a:ext uri="{FF2B5EF4-FFF2-40B4-BE49-F238E27FC236}">
                <a16:creationId xmlns:a16="http://schemas.microsoft.com/office/drawing/2014/main" id="{A5DAC81D-BF3B-435C-B2A6-9623E8F7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9" name="helena">
            <a:extLst xmlns:a="http://schemas.openxmlformats.org/drawingml/2006/main">
              <a:ext uri="{FF2B5EF4-FFF2-40B4-BE49-F238E27FC236}">
                <a16:creationId xmlns:a16="http://schemas.microsoft.com/office/drawing/2014/main" id="{B5B65710-CBA5-48D7-8F56-7E2314E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5767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Helena</a:t>
            </a:r>
          </a:p>
        </p:txBody>
      </p:sp>
      <p:sp>
        <p:nvSpPr>
          <p:cNvPr id="20" name="closing-question-1">
            <a:extLst xmlns:a="http://schemas.openxmlformats.org/drawingml/2006/main">
              <a:ext uri="{FF2B5EF4-FFF2-40B4-BE49-F238E27FC236}">
                <a16:creationId xmlns:a16="http://schemas.microsoft.com/office/drawing/2014/main" id="{0338A100-8F47-4A46-B8F1-3E4A7D6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Quanto pode faturar</a:t>
            </a:r>
          </a:p>
        </p:txBody>
      </p:sp>
      <p:sp>
        <p:nvSpPr>
          <p:cNvPr id="21" name="closing-question-2">
            <a:extLst xmlns:a="http://schemas.openxmlformats.org/drawingml/2006/main">
              <a:ext uri="{FF2B5EF4-FFF2-40B4-BE49-F238E27FC236}">
                <a16:creationId xmlns:a16="http://schemas.microsoft.com/office/drawing/2014/main" id="{0A16409E-0B06-4969-8959-F115DFA8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O que precisa corrigir</a:t>
            </a:r>
          </a:p>
        </p:txBody>
      </p:sp>
      <p:sp>
        <p:nvSpPr>
          <p:cNvPr id="22" name="join-to-question">
            <a:extLst xmlns:a="http://schemas.openxmlformats.org/drawingml/2006/main">
              <a:ext uri="{FF2B5EF4-FFF2-40B4-BE49-F238E27FC236}">
                <a16:creationId xmlns:a16="http://schemas.microsoft.com/office/drawing/2014/main" id="{7277626C-9A56-4CDE-9D35-7DE1D3C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91025"/>
            <a:ext cx="2257425" cy="133350"/>
          </a:xfrm>
          <a:custGeom xmlns:a="http://schemas.openxmlformats.org/drawingml/2006/main">
            <a:pathLst>
              <a:path w="2257425" h="133350">
                <a:moveTo>
                  <a:pt x="0" y="133350"/>
                </a:moveTo>
                <a:cubicBezTo>
                  <a:pt x="1128713" y="133350"/>
                  <a:pt x="1128713" y="0"/>
                  <a:pt x="22574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E6654"/>
            </a:solidFill>
          </a:ln>
        </p:spPr>
      </p:sp>
      <p:sp>
        <p:nvSpPr>
          <p:cNvPr id="23" name="question-anchor">
            <a:extLst xmlns:a="http://schemas.openxmlformats.org/drawingml/2006/main">
              <a:ext uri="{FF2B5EF4-FFF2-40B4-BE49-F238E27FC236}">
                <a16:creationId xmlns:a16="http://schemas.microsoft.com/office/drawing/2014/main" id="{0D49A9FD-D8D2-4540-9EB1-B17F9D8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0" y="43605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</p:sp>
    </p:spTree>
    <p:extLst>
      <p:ext uri="{BB962C8B-B14F-4D97-AF65-F5344CB8AC3E}">
        <p14:creationId xmlns:p14="http://schemas.microsoft.com/office/powerpoint/2010/main" val="383605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C47E-275F-4FC8-8101-42C2CD0A6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ac2e2687749b7">
            <a:extLst>
              <a:ext uri="{96DAC541-7B7A-43D3-8B79-37D633B846F1}">
                <asvg:svgBlip xmlns:asvg="http://schemas.microsoft.com/office/drawing/2016/SVG/main" r:embed="R0b5a600d70bf4b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937BBA56-05C9-4335-92A4-7D55764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F0DA4CF-F19E-49D0-8005-FDD1741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08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C462FD44-2018-4612-982F-C052A47E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No fim do mês</a:t>
            </a:r>
          </a:p>
        </p:txBody>
      </p:sp>
      <p:cxnSp>
        <p:nvCxnSpPr>
          <p:cNvPr id="6" name="triangle-top">
            <a:extLst xmlns:a="http://schemas.openxmlformats.org/drawingml/2006/main">
              <a:ext uri="{FF2B5EF4-FFF2-40B4-BE49-F238E27FC236}">
                <a16:creationId xmlns:a16="http://schemas.microsoft.com/office/drawing/2014/main" id="{304366E8-C838-4B34-93F3-1F35E81165C4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cxnSp>
        <p:nvCxnSpPr>
          <p:cNvPr id="7" name="triangle-left">
            <a:extLst xmlns:a="http://schemas.openxmlformats.org/drawingml/2006/main">
              <a:ext uri="{FF2B5EF4-FFF2-40B4-BE49-F238E27FC236}">
                <a16:creationId xmlns:a16="http://schemas.microsoft.com/office/drawing/2014/main" id="{B5875ACC-D1D0-462F-A7C2-F65C6AFF54A3}"/>
              </a:ext>
            </a:extLst>
          </p:cNvPr>
          <p:cNvCxnSpPr/>
          <p:nvPr/>
        </p:nvCxnSpPr>
        <p:spPr>
          <a:xfrm xmlns:a="http://schemas.openxmlformats.org/drawingml/2006/main">
            <a:off x="1695450" y="3476625"/>
            <a:ext cx="1447800" cy="2257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8" name="triangle-right">
            <a:extLst xmlns:a="http://schemas.openxmlformats.org/drawingml/2006/main">
              <a:ext uri="{FF2B5EF4-FFF2-40B4-BE49-F238E27FC236}">
                <a16:creationId xmlns:a16="http://schemas.microsoft.com/office/drawing/2014/main" id="{A9899C0B-BDE3-474B-A0B7-492BA23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447800" cy="2257425"/>
          </a:xfrm>
          <a:custGeom xmlns:a="http://schemas.openxmlformats.org/drawingml/2006/main">
            <a:pathLst>
              <a:path w="1447800" h="2257425">
                <a:moveTo>
                  <a:pt x="1447800" y="0"/>
                </a:moveTo>
                <a:lnTo>
                  <a:pt x="0" y="22574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  <a:prstDash val="solid"/>
          </a:ln>
        </p:spPr>
      </p:sp>
      <p:cxnSp>
        <p:nvCxnSpPr>
          <p:cNvPr id="9" name="helena-context">
            <a:extLst xmlns:a="http://schemas.openxmlformats.org/drawingml/2006/main">
              <a:ext uri="{FF2B5EF4-FFF2-40B4-BE49-F238E27FC236}">
                <a16:creationId xmlns:a16="http://schemas.microsoft.com/office/drawing/2014/main" id="{F0E26CDC-7DC9-4566-818D-76DE8ED86706}"/>
              </a:ext>
            </a:extLst>
          </p:cNvPr>
          <p:cNvCxnSpPr/>
          <p:nvPr/>
        </p:nvCxnSpPr>
        <p:spPr>
          <a:xfrm xmlns:a="http://schemas.openxmlformats.org/drawingml/2006/main">
            <a:off x="3143250" y="48482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4B3A9"/>
            </a:solidFill>
            <a:prstDash val="dash"/>
          </a:ln>
        </p:spPr>
      </p:cxnSp>
      <p:sp>
        <p:nvSpPr>
          <p:cNvPr id="10" name="front-1">
            <a:extLst xmlns:a="http://schemas.openxmlformats.org/drawingml/2006/main">
              <a:ext uri="{FF2B5EF4-FFF2-40B4-BE49-F238E27FC236}">
                <a16:creationId xmlns:a16="http://schemas.microsoft.com/office/drawing/2014/main" id="{06C32214-229F-46BA-A723-80A2DE3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front-2">
            <a:extLst xmlns:a="http://schemas.openxmlformats.org/drawingml/2006/main">
              <a:ext uri="{FF2B5EF4-FFF2-40B4-BE49-F238E27FC236}">
                <a16:creationId xmlns:a16="http://schemas.microsoft.com/office/drawing/2014/main" id="{A333D073-FD0A-4C23-BB4E-86E99D62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E66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front-3">
            <a:extLst xmlns:a="http://schemas.openxmlformats.org/drawingml/2006/main">
              <a:ext uri="{FF2B5EF4-FFF2-40B4-BE49-F238E27FC236}">
                <a16:creationId xmlns:a16="http://schemas.microsoft.com/office/drawing/2014/main" id="{788EC408-E24E-4823-86DA-FAF98FCF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81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6D6D6-C79D-4904-8B34-686E7298E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bf6fb702b4b38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10287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4" name="front-label-1">
            <a:extLst xmlns:a="http://schemas.openxmlformats.org/drawingml/2006/main">
              <a:ext uri="{FF2B5EF4-FFF2-40B4-BE49-F238E27FC236}">
                <a16:creationId xmlns:a16="http://schemas.microsoft.com/office/drawing/2014/main" id="{70BE1704-414D-4BBD-A48A-FF7DC2E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Taxas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FEC3-C540-4A48-98AB-E17A456DF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2ede1276141bc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3924300" y="2238375"/>
            <a:ext cx="1333500" cy="1047750"/>
          </a:xfrm>
          <a:prstGeom xmlns:a="http://schemas.openxmlformats.org/drawingml/2006/main" prst="rect">
            <a:avLst/>
          </a:prstGeom>
        </p:spPr>
      </p:pic>
      <p:sp>
        <p:nvSpPr>
          <p:cNvPr id="16" name="front-label-2">
            <a:extLst xmlns:a="http://schemas.openxmlformats.org/drawingml/2006/main">
              <a:ext uri="{FF2B5EF4-FFF2-40B4-BE49-F238E27FC236}">
                <a16:creationId xmlns:a16="http://schemas.microsoft.com/office/drawing/2014/main" id="{0ED03F6E-272A-416B-A8F8-6C2ABC82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288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7B5A9-4A22-409A-9E99-5E4C9B4BB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91997291426a"/>
          <a:srcRect xmlns:a="http://schemas.openxmlformats.org/drawingml/2006/main" l="8700" t="7640" r="6220" b="6910"/>
          <a:stretch xmlns:a="http://schemas.openxmlformats.org/drawingml/2006/main"/>
        </p:blipFill>
        <p:spPr>
          <a:xfrm xmlns:a="http://schemas.openxmlformats.org/drawingml/2006/main">
            <a:off x="2500313" y="4752975"/>
            <a:ext cx="1285875" cy="838200"/>
          </a:xfrm>
          <a:prstGeom xmlns:a="http://schemas.openxmlformats.org/drawingml/2006/main" prst="rect">
            <a:avLst/>
          </a:prstGeom>
        </p:spPr>
      </p:pic>
      <p:sp>
        <p:nvSpPr>
          <p:cNvPr id="18" name="front-label-3">
            <a:extLst xmlns:a="http://schemas.openxmlformats.org/drawingml/2006/main">
              <a:ext uri="{FF2B5EF4-FFF2-40B4-BE49-F238E27FC236}">
                <a16:creationId xmlns:a16="http://schemas.microsoft.com/office/drawing/2014/main" id="{917846BB-1CFF-4842-AF0F-6F1D9E3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9" name="helena">
            <a:extLst xmlns:a="http://schemas.openxmlformats.org/drawingml/2006/main">
              <a:ext uri="{FF2B5EF4-FFF2-40B4-BE49-F238E27FC236}">
                <a16:creationId xmlns:a16="http://schemas.microsoft.com/office/drawing/2014/main" id="{24548C58-F835-4EBB-812A-4A844B9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57675"/>
            <a:ext cx="1981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Helena</a:t>
            </a:r>
          </a:p>
        </p:txBody>
      </p:sp>
      <p:sp>
        <p:nvSpPr>
          <p:cNvPr id="20" name="closing-question-1">
            <a:extLst xmlns:a="http://schemas.openxmlformats.org/drawingml/2006/main">
              <a:ext uri="{FF2B5EF4-FFF2-40B4-BE49-F238E27FC236}">
                <a16:creationId xmlns:a16="http://schemas.microsoft.com/office/drawing/2014/main" id="{A96EA099-E109-499B-89E9-A9FCECC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Quanto pode faturar</a:t>
            </a:r>
          </a:p>
        </p:txBody>
      </p:sp>
      <p:sp>
        <p:nvSpPr>
          <p:cNvPr id="21" name="closing-question-2">
            <a:extLst xmlns:a="http://schemas.openxmlformats.org/drawingml/2006/main">
              <a:ext uri="{FF2B5EF4-FFF2-40B4-BE49-F238E27FC236}">
                <a16:creationId xmlns:a16="http://schemas.microsoft.com/office/drawing/2014/main" id="{54D6B87E-257D-4901-9E26-7E74AB0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 que precisa corrigir</a:t>
            </a:r>
          </a:p>
        </p:txBody>
      </p:sp>
      <p:sp>
        <p:nvSpPr>
          <p:cNvPr id="22" name="closing-question-3">
            <a:extLst xmlns:a="http://schemas.openxmlformats.org/drawingml/2006/main">
              <a:ext uri="{FF2B5EF4-FFF2-40B4-BE49-F238E27FC236}">
                <a16:creationId xmlns:a16="http://schemas.microsoft.com/office/drawing/2014/main" id="{E04E0E3E-9EFE-485C-A548-1D5C852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29225"/>
            <a:ext cx="4686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Quais valores continuam</a:t>
            </a:r>
          </a:p>
          <a:p xmlns:a="http://schemas.openxmlformats.org/drawingml/2006/main">
            <a:pPr algn="l">
              <a:defRPr sz="26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pendentes</a:t>
            </a:r>
          </a:p>
        </p:txBody>
      </p:sp>
      <p:sp>
        <p:nvSpPr>
          <p:cNvPr id="23" name="join-to-question">
            <a:extLst xmlns:a="http://schemas.openxmlformats.org/drawingml/2006/main">
              <a:ext uri="{FF2B5EF4-FFF2-40B4-BE49-F238E27FC236}">
                <a16:creationId xmlns:a16="http://schemas.microsoft.com/office/drawing/2014/main" id="{F002E8FC-9CD5-4B13-BE98-17DBE7B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24375"/>
            <a:ext cx="2257425" cy="942975"/>
          </a:xfrm>
          <a:custGeom xmlns:a="http://schemas.openxmlformats.org/drawingml/2006/main">
            <a:pathLst>
              <a:path w="2257425" h="942975">
                <a:moveTo>
                  <a:pt x="0" y="0"/>
                </a:moveTo>
                <a:cubicBezTo>
                  <a:pt x="1128713" y="0"/>
                  <a:pt x="1128713" y="942975"/>
                  <a:pt x="2257425" y="942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E6654"/>
            </a:solidFill>
          </a:ln>
        </p:spPr>
      </p:sp>
      <p:sp>
        <p:nvSpPr>
          <p:cNvPr id="24" name="question-anchor">
            <a:extLst xmlns:a="http://schemas.openxmlformats.org/drawingml/2006/main">
              <a:ext uri="{FF2B5EF4-FFF2-40B4-BE49-F238E27FC236}">
                <a16:creationId xmlns:a16="http://schemas.microsoft.com/office/drawing/2014/main" id="{FA206AA9-D41E-477E-B556-527506F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0" y="543687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</p:sp>
    </p:spTree>
    <p:extLst>
      <p:ext uri="{BB962C8B-B14F-4D97-AF65-F5344CB8AC3E}">
        <p14:creationId xmlns:p14="http://schemas.microsoft.com/office/powerpoint/2010/main" val="2087193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5D713-9C91-4E21-9625-9C3C38251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c60166f684b34">
            <a:extLst>
              <a:ext uri="{96DAC541-7B7A-43D3-8B79-37D633B846F1}">
                <asvg:svgBlip xmlns:asvg="http://schemas.microsoft.com/office/drawing/2016/SVG/main" r:embed="R0f81e222a1734b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FB54734-6EA2-49E9-8219-D0B7BF10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9ACF3BD-C47F-4812-80BD-6423A99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09</a:t>
            </a:r>
          </a:p>
        </p:txBody>
      </p:sp>
      <p:sp>
        <p:nvSpPr>
          <p:cNvPr id="5" name="days">
            <a:extLst xmlns:a="http://schemas.openxmlformats.org/drawingml/2006/main">
              <a:ext uri="{FF2B5EF4-FFF2-40B4-BE49-F238E27FC236}">
                <a16:creationId xmlns:a16="http://schemas.microsoft.com/office/drawing/2014/main" id="{63D2C49D-78F9-464B-B1F2-C7D53DC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0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30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duration">
            <a:extLst xmlns:a="http://schemas.openxmlformats.org/drawingml/2006/main">
              <a:ext uri="{FF2B5EF4-FFF2-40B4-BE49-F238E27FC236}">
                <a16:creationId xmlns:a16="http://schemas.microsoft.com/office/drawing/2014/main" id="{F27F8058-63E7-479B-AB0E-11086FD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47850"/>
            <a:ext cx="7810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4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44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dias úteis</a:t>
            </a:r>
          </a:p>
        </p:txBody>
      </p:sp>
      <p:sp>
        <p:nvSpPr>
          <p:cNvPr id="7" name="duration-meaning">
            <a:extLst xmlns:a="http://schemas.openxmlformats.org/drawingml/2006/main">
              <a:ext uri="{FF2B5EF4-FFF2-40B4-BE49-F238E27FC236}">
                <a16:creationId xmlns:a16="http://schemas.microsoft.com/office/drawing/2014/main" id="{BAE70B2D-3F5B-462F-A763-3470D7EF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781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para fechar o mês</a:t>
            </a:r>
          </a:p>
        </p:txBody>
      </p:sp>
      <p:sp>
        <p:nvSpPr>
          <p:cNvPr id="8" name="incorrect-charges">
            <a:extLst xmlns:a="http://schemas.openxmlformats.org/drawingml/2006/main">
              <a:ext uri="{FF2B5EF4-FFF2-40B4-BE49-F238E27FC236}">
                <a16:creationId xmlns:a16="http://schemas.microsoft.com/office/drawing/2014/main" id="{F971C2CE-66D8-4E81-84B2-C415434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Espaço para</a:t>
            </a:r>
          </a:p>
          <a:p xmlns:a="http://schemas.openxmlformats.org/drawingml/2006/main">
            <a: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cobranças incorretas</a:t>
            </a:r>
          </a:p>
        </p:txBody>
      </p:sp>
      <p:sp>
        <p:nvSpPr>
          <p:cNvPr id="9" name="tacit-dependency">
            <a:extLst xmlns:a="http://schemas.openxmlformats.org/drawingml/2006/main">
              <a:ext uri="{FF2B5EF4-FFF2-40B4-BE49-F238E27FC236}">
                <a16:creationId xmlns:a16="http://schemas.microsoft.com/office/drawing/2014/main" id="{9415C613-7C3E-41D0-ADF2-F6AD0378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43425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Fechamento dependente</a:t>
            </a:r>
          </a:p>
          <a:p xmlns:a="http://schemas.openxmlformats.org/drawingml/2006/main">
            <a:pPr algn="l">
              <a:defRPr sz="24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de quem conhece as regras</a:t>
            </a:r>
          </a:p>
        </p:txBody>
      </p:sp>
      <p:sp>
        <p:nvSpPr>
          <p:cNvPr id="10" name="baseline">
            <a:extLst xmlns:a="http://schemas.openxmlformats.org/drawingml/2006/main">
              <a:ext uri="{FF2B5EF4-FFF2-40B4-BE49-F238E27FC236}">
                <a16:creationId xmlns:a16="http://schemas.microsoft.com/office/drawing/2014/main" id="{37D16095-5270-49BE-897C-87AB5D4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817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Prazo relatado no case</a:t>
            </a:r>
          </a:p>
        </p:txBody>
      </p:sp>
    </p:spTree>
    <p:extLst>
      <p:ext uri="{BB962C8B-B14F-4D97-AF65-F5344CB8AC3E}">
        <p14:creationId xmlns:p14="http://schemas.microsoft.com/office/powerpoint/2010/main" val="1978279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D3F0E-CAAA-44A5-A8FF-677AD933E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20936be8b40e4">
            <a:extLst>
              <a:ext uri="{96DAC541-7B7A-43D3-8B79-37D633B846F1}">
                <asvg:svgBlip xmlns:asvg="http://schemas.microsoft.com/office/drawing/2016/SVG/main" r:embed="R607a8c6b446344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F1442F87-7D2D-4C30-9E83-6C9C382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CONTEXTO TARVO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B1668C4-412E-402C-BBDB-6DF63330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10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D4DD12F6-D414-4FD0-BC5B-0FBDDF2E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600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Cada operação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6F6B0BDF-0E3D-40D6-861C-A20D910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600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precisa da regra certa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BE7FC-DEA7-4E32-A8E9-3B7888313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3b202ab6249dd"/>
          <a:srcRect xmlns:a="http://schemas.openxmlformats.org/drawingml/2006/main" l="24100" t="8100" r="13540" b="4880"/>
          <a:stretch xmlns:a="http://schemas.openxmlformats.org/drawingml/2006/main"/>
        </p:blipFill>
        <p:spPr>
          <a:xfrm xmlns:a="http://schemas.openxmlformats.org/drawingml/2006/main">
            <a:off x="7477125" y="2752725"/>
            <a:ext cx="3352800" cy="3105150"/>
          </a:xfrm>
          <a:prstGeom xmlns:a="http://schemas.openxmlformats.org/drawingml/2006/main" prst="rect">
            <a:avLst/>
          </a:prstGeom>
        </p:spPr>
      </p:pic>
      <p:sp>
        <p:nvSpPr>
          <p:cNvPr id="8" name="what-question">
            <a:extLst xmlns:a="http://schemas.openxmlformats.org/drawingml/2006/main">
              <a:ext uri="{FF2B5EF4-FFF2-40B4-BE49-F238E27FC236}">
                <a16:creationId xmlns:a16="http://schemas.microsoft.com/office/drawing/2014/main" id="{B7784CD9-777F-4A55-A42B-05524EC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 que tem?</a:t>
            </a:r>
          </a:p>
        </p:txBody>
      </p:sp>
      <p:sp>
        <p:nvSpPr>
          <p:cNvPr id="9" name="what-context">
            <a:extLst xmlns:a="http://schemas.openxmlformats.org/drawingml/2006/main">
              <a:ext uri="{FF2B5EF4-FFF2-40B4-BE49-F238E27FC236}">
                <a16:creationId xmlns:a16="http://schemas.microsoft.com/office/drawing/2014/main" id="{206AC5A6-42E4-4214-BBFE-76A8E36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Taxa e condição</a:t>
            </a:r>
          </a:p>
        </p:txBody>
      </p:sp>
      <p:sp>
        <p:nvSpPr>
          <p:cNvPr id="10" name="origin-question">
            <a:extLst xmlns:a="http://schemas.openxmlformats.org/drawingml/2006/main">
              <a:ext uri="{FF2B5EF4-FFF2-40B4-BE49-F238E27FC236}">
                <a16:creationId xmlns:a16="http://schemas.microsoft.com/office/drawing/2014/main" id="{C948CF92-7A5B-4B57-87DD-0A2C0EF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6097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De onde veio?</a:t>
            </a:r>
          </a:p>
        </p:txBody>
      </p:sp>
      <p:sp>
        <p:nvSpPr>
          <p:cNvPr id="11" name="origin-context">
            <a:extLst xmlns:a="http://schemas.openxmlformats.org/drawingml/2006/main">
              <a:ext uri="{FF2B5EF4-FFF2-40B4-BE49-F238E27FC236}">
                <a16:creationId xmlns:a16="http://schemas.microsoft.com/office/drawing/2014/main" id="{05C86F3E-8010-43F3-90D9-45A4A08F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14550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Fonte e vigência</a:t>
            </a:r>
          </a:p>
        </p:txBody>
      </p:sp>
      <p:sp>
        <p:nvSpPr>
          <p:cNvPr id="12" name="condition-link">
            <a:extLst xmlns:a="http://schemas.openxmlformats.org/drawingml/2006/main">
              <a:ext uri="{FF2B5EF4-FFF2-40B4-BE49-F238E27FC236}">
                <a16:creationId xmlns:a16="http://schemas.microsoft.com/office/drawing/2014/main" id="{915A47BF-0ECA-4589-948A-30B4B07A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62225"/>
            <a:ext cx="733425" cy="485775"/>
          </a:xfrm>
          <a:custGeom xmlns:a="http://schemas.openxmlformats.org/drawingml/2006/main">
            <a:pathLst>
              <a:path w="733425" h="485775">
                <a:moveTo>
                  <a:pt x="0" y="0"/>
                </a:moveTo>
                <a:cubicBezTo>
                  <a:pt x="366713" y="0"/>
                  <a:pt x="366713" y="485775"/>
                  <a:pt x="733425" y="4857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3" name="origin-link">
            <a:extLst xmlns:a="http://schemas.openxmlformats.org/drawingml/2006/main">
              <a:ext uri="{FF2B5EF4-FFF2-40B4-BE49-F238E27FC236}">
                <a16:creationId xmlns:a16="http://schemas.microsoft.com/office/drawing/2014/main" id="{683F7A28-C046-468A-A1A8-79CD23F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62225"/>
            <a:ext cx="266700" cy="2124075"/>
          </a:xfrm>
          <a:custGeom xmlns:a="http://schemas.openxmlformats.org/drawingml/2006/main">
            <a:pathLst>
              <a:path w="266700" h="2124075">
                <a:moveTo>
                  <a:pt x="266700" y="0"/>
                </a:moveTo>
                <a:cubicBezTo>
                  <a:pt x="133350" y="0"/>
                  <a:pt x="133350" y="2124075"/>
                  <a:pt x="0" y="2124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4" name="origin-anchor">
            <a:extLst xmlns:a="http://schemas.openxmlformats.org/drawingml/2006/main">
              <a:ext uri="{FF2B5EF4-FFF2-40B4-BE49-F238E27FC236}">
                <a16:creationId xmlns:a16="http://schemas.microsoft.com/office/drawing/2014/main" id="{6A1FC7C1-F494-4F0E-B12C-8906CD37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662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12383">
            <a:solidFill>
              <a:srgbClr val="1E6654"/>
            </a:solidFill>
          </a:ln>
        </p:spPr>
      </p:sp>
      <p:sp>
        <p:nvSpPr>
          <p:cNvPr id="15" name="operation-label">
            <a:extLst xmlns:a="http://schemas.openxmlformats.org/drawingml/2006/main">
              <a:ext uri="{FF2B5EF4-FFF2-40B4-BE49-F238E27FC236}">
                <a16:creationId xmlns:a16="http://schemas.microsoft.com/office/drawing/2014/main" id="{75980DF4-B61F-4F56-9AA8-C6263B7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1027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</p:spTree>
    <p:extLst>
      <p:ext uri="{BB962C8B-B14F-4D97-AF65-F5344CB8AC3E}">
        <p14:creationId xmlns:p14="http://schemas.microsoft.com/office/powerpoint/2010/main" val="994583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FE22CBA-8302-48D9-A2FC-D333C3F6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A9221-DA3F-452A-8209-E395318DE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e9decdca44d8a">
            <a:extLst>
              <a:ext uri="{96DAC541-7B7A-43D3-8B79-37D633B846F1}">
                <asvg:svgBlip xmlns:asvg="http://schemas.microsoft.com/office/drawing/2016/SVG/main" r:embed="Re00bebf4805e45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2343150"/>
            <a:ext cx="4581525" cy="943255"/>
          </a:xfrm>
          <a:prstGeom xmlns:a="http://schemas.openxmlformats.org/drawingml/2006/main" prst="rect">
            <a:avLst/>
          </a:prstGeom>
        </p:spPr>
      </p:pic>
      <p:sp>
        <p:nvSpPr>
          <p:cNvPr id="4" name="solution-entry">
            <a:extLst xmlns:a="http://schemas.openxmlformats.org/drawingml/2006/main">
              <a:ext uri="{FF2B5EF4-FFF2-40B4-BE49-F238E27FC236}">
                <a16:creationId xmlns:a16="http://schemas.microsoft.com/office/drawing/2014/main" id="{FBC038B6-7E26-40FE-84F6-658DD9F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614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Fechamento financeiro da Tarvo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587B4-C46F-49ED-A607-31B8D1683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1574d15bf432a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7572375" y="1866900"/>
            <a:ext cx="37052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03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371A8-0BB2-40A2-AC8E-F7EC8B5D11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5faea46c240bf">
            <a:extLst>
              <a:ext uri="{96DAC541-7B7A-43D3-8B79-37D633B846F1}">
                <asvg:svgBlip xmlns:asvg="http://schemas.microsoft.com/office/drawing/2016/SVG/main" r:embed="R145684a0dfe14a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98A217E-C2C7-4A35-B82F-BB67905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SOLUÇÃO LASTRO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833391C-F937-4270-914B-0E60C4C7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12</a:t>
            </a:r>
          </a:p>
        </p:txBody>
      </p:sp>
      <p:sp>
        <p:nvSpPr>
          <p:cNvPr id="5" name="definition">
            <a:extLst xmlns:a="http://schemas.openxmlformats.org/drawingml/2006/main">
              <a:ext uri="{FF2B5EF4-FFF2-40B4-BE49-F238E27FC236}">
                <a16:creationId xmlns:a16="http://schemas.microsoft.com/office/drawing/2014/main" id="{E745CFE3-1F25-41A3-8C79-3977614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0008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Um </a:t>
            </a:r>
            <a:r>
              <a:rPr sz="35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gerenciador inteligente</a:t>
            </a:r>
          </a:p>
          <a:p xmlns:a="http://schemas.openxmlformats.org/drawingml/2006/main">
            <a: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do fechamento financeiro</a:t>
            </a:r>
          </a:p>
          <a:p xmlns:a="http://schemas.openxmlformats.org/drawingml/2006/main">
            <a:pPr algn="l">
              <a:defRPr sz="35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da Tarvo</a:t>
            </a:r>
          </a:p>
        </p:txBody>
      </p:sp>
      <p:sp>
        <p:nvSpPr>
          <p:cNvPr id="6" name="definition-detail">
            <a:extLst xmlns:a="http://schemas.openxmlformats.org/drawingml/2006/main">
              <a:ext uri="{FF2B5EF4-FFF2-40B4-BE49-F238E27FC236}">
                <a16:creationId xmlns:a16="http://schemas.microsoft.com/office/drawing/2014/main" id="{1998CE32-AD88-42F4-8312-5ED8F3E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69246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Reúne os arquivos e as regras da operação.</a:t>
            </a:r>
          </a:p>
          <a:p xmlns:a="http://schemas.openxmlformats.org/drawingml/2006/main">
            <a: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Apura comissões, confere cobranças e</a:t>
            </a:r>
          </a:p>
          <a:p xmlns:a="http://schemas.openxmlformats.org/drawingml/2006/main">
            <a: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organiza as pendências para o financeiro.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BB58-1FB2-4CF9-A0FF-14D50E32B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dfd348dd14a99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8001000" y="2524125"/>
            <a:ext cx="3305175" cy="337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004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E2E4-A995-4E18-BCE7-24C93DB6A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aa408fec9487d">
            <a:extLst>
              <a:ext uri="{96DAC541-7B7A-43D3-8B79-37D633B846F1}">
                <asvg:svgBlip xmlns:asvg="http://schemas.microsoft.com/office/drawing/2016/SVG/main" r:embed="Rafa01d88e72346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1E6709AF-5654-4F67-B039-6BB89467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SOLUÇÃO LASTRO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1060CA9-5093-4A67-97C5-ED42475E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13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4749E851-C282-429B-A932-81C5506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Recebe os arquivos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EC9460FF-9FFF-43EB-8441-9C65096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como chegam</a:t>
            </a:r>
          </a:p>
        </p:txBody>
      </p:sp>
      <p:sp>
        <p:nvSpPr>
          <p:cNvPr id="7" name="source-0">
            <a:extLst xmlns:a="http://schemas.openxmlformats.org/drawingml/2006/main">
              <a:ext uri="{FF2B5EF4-FFF2-40B4-BE49-F238E27FC236}">
                <a16:creationId xmlns:a16="http://schemas.microsoft.com/office/drawing/2014/main" id="{0BCE8863-CAFB-4670-8727-EBF3650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28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Orbe e ajustes</a:t>
            </a:r>
          </a:p>
        </p:txBody>
      </p:sp>
      <p:sp>
        <p:nvSpPr>
          <p:cNvPr id="8" name="source-format-0">
            <a:extLst xmlns:a="http://schemas.openxmlformats.org/drawingml/2006/main">
              <a:ext uri="{FF2B5EF4-FFF2-40B4-BE49-F238E27FC236}">
                <a16:creationId xmlns:a16="http://schemas.microsoft.com/office/drawing/2014/main" id="{C7E42EFD-EDD1-44F5-AA3A-E982CB2E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00425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CSV</a:t>
            </a:r>
          </a:p>
        </p:txBody>
      </p:sp>
      <p:sp>
        <p:nvSpPr>
          <p:cNvPr id="9" name="source-link-0">
            <a:extLst xmlns:a="http://schemas.openxmlformats.org/drawingml/2006/main">
              <a:ext uri="{FF2B5EF4-FFF2-40B4-BE49-F238E27FC236}">
                <a16:creationId xmlns:a16="http://schemas.microsoft.com/office/drawing/2014/main" id="{A9568321-59A2-4FF9-9C29-5D86F20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2095500" cy="1190625"/>
          </a:xfrm>
          <a:custGeom xmlns:a="http://schemas.openxmlformats.org/drawingml/2006/main">
            <a:pathLst>
              <a:path w="2095500" h="1190625">
                <a:moveTo>
                  <a:pt x="0" y="0"/>
                </a:moveTo>
                <a:cubicBezTo>
                  <a:pt x="1047750" y="0"/>
                  <a:pt x="1047750" y="1190625"/>
                  <a:pt x="2095500" y="1190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FB31C564-0ACA-40F3-9EE6-965DA454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E-mail da Ponte</a:t>
            </a:r>
          </a:p>
        </p:txBody>
      </p:sp>
      <p:sp>
        <p:nvSpPr>
          <p:cNvPr id="11" name="source-format-1">
            <a:extLst xmlns:a="http://schemas.openxmlformats.org/drawingml/2006/main">
              <a:ext uri="{FF2B5EF4-FFF2-40B4-BE49-F238E27FC236}">
                <a16:creationId xmlns:a16="http://schemas.microsoft.com/office/drawing/2014/main" id="{971AE6E1-36DF-48A5-A194-7CEE5AE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XLSX no anexo</a:t>
            </a:r>
          </a:p>
        </p:txBody>
      </p:sp>
      <p:sp>
        <p:nvSpPr>
          <p:cNvPr id="12" name="source-link-1">
            <a:extLst xmlns:a="http://schemas.openxmlformats.org/drawingml/2006/main">
              <a:ext uri="{FF2B5EF4-FFF2-40B4-BE49-F238E27FC236}">
                <a16:creationId xmlns:a16="http://schemas.microsoft.com/office/drawing/2014/main" id="{C9D32E1C-B708-448C-BA31-C25185C4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2095500" cy="419100"/>
          </a:xfrm>
          <a:custGeom xmlns:a="http://schemas.openxmlformats.org/drawingml/2006/main">
            <a:pathLst>
              <a:path w="2095500" h="419100">
                <a:moveTo>
                  <a:pt x="0" y="0"/>
                </a:moveTo>
                <a:cubicBezTo>
                  <a:pt x="1047750" y="0"/>
                  <a:pt x="1047750" y="419100"/>
                  <a:pt x="2095500" y="419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389198B1-125B-46A0-81CF-8D81C7E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72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Taxas e plano de contas</a:t>
            </a:r>
          </a:p>
        </p:txBody>
      </p:sp>
      <p:sp>
        <p:nvSpPr>
          <p:cNvPr id="14" name="source-format-2">
            <a:extLst xmlns:a="http://schemas.openxmlformats.org/drawingml/2006/main">
              <a:ext uri="{FF2B5EF4-FFF2-40B4-BE49-F238E27FC236}">
                <a16:creationId xmlns:a16="http://schemas.microsoft.com/office/drawing/2014/main" id="{A83BA620-D76A-4DFE-8CFD-A4485E7A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43475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XLSX / CSV</a:t>
            </a:r>
          </a:p>
        </p:txBody>
      </p:sp>
      <p:sp>
        <p:nvSpPr>
          <p:cNvPr id="15" name="source-link-2">
            <a:extLst xmlns:a="http://schemas.openxmlformats.org/drawingml/2006/main">
              <a:ext uri="{FF2B5EF4-FFF2-40B4-BE49-F238E27FC236}">
                <a16:creationId xmlns:a16="http://schemas.microsoft.com/office/drawing/2014/main" id="{AFDD123E-695F-4B2F-8EA4-83639AE5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2095500" cy="352425"/>
          </a:xfrm>
          <a:custGeom xmlns:a="http://schemas.openxmlformats.org/drawingml/2006/main">
            <a:pathLst>
              <a:path w="2095500" h="352425">
                <a:moveTo>
                  <a:pt x="0" y="352425"/>
                </a:moveTo>
                <a:cubicBezTo>
                  <a:pt x="1047750" y="352425"/>
                  <a:pt x="1047750" y="0"/>
                  <a:pt x="20955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6" name="source-3">
            <a:extLst xmlns:a="http://schemas.openxmlformats.org/drawingml/2006/main">
              <a:ext uri="{FF2B5EF4-FFF2-40B4-BE49-F238E27FC236}">
                <a16:creationId xmlns:a16="http://schemas.microsoft.com/office/drawing/2014/main" id="{679D1094-30EC-4E9E-8EFB-0ABB8B4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435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Dois bancos</a:t>
            </a:r>
          </a:p>
        </p:txBody>
      </p:sp>
      <p:sp>
        <p:nvSpPr>
          <p:cNvPr id="17" name="source-format-3">
            <a:extLst xmlns:a="http://schemas.openxmlformats.org/drawingml/2006/main">
              <a:ext uri="{FF2B5EF4-FFF2-40B4-BE49-F238E27FC236}">
                <a16:creationId xmlns:a16="http://schemas.microsoft.com/office/drawing/2014/main" id="{C4850887-8C89-4E20-97E8-3292335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150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CSV / OFX</a:t>
            </a:r>
          </a:p>
        </p:txBody>
      </p:sp>
      <p:sp>
        <p:nvSpPr>
          <p:cNvPr id="18" name="source-link-3">
            <a:extLst xmlns:a="http://schemas.openxmlformats.org/drawingml/2006/main">
              <a:ext uri="{FF2B5EF4-FFF2-40B4-BE49-F238E27FC236}">
                <a16:creationId xmlns:a16="http://schemas.microsoft.com/office/drawing/2014/main" id="{3DD7B62E-3BAB-4350-91EB-4F889E8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2095500" cy="1123950"/>
          </a:xfrm>
          <a:custGeom xmlns:a="http://schemas.openxmlformats.org/drawingml/2006/main">
            <a:pathLst>
              <a:path w="2095500" h="1123950">
                <a:moveTo>
                  <a:pt x="0" y="1123950"/>
                </a:moveTo>
                <a:cubicBezTo>
                  <a:pt x="1047750" y="1123950"/>
                  <a:pt x="1047750" y="0"/>
                  <a:pt x="20955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4534B-7F1E-451C-970F-E14271ABE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2470b2fc74eb6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7677150" y="2867025"/>
            <a:ext cx="3305175" cy="3295650"/>
          </a:xfrm>
          <a:prstGeom xmlns:a="http://schemas.openxmlformats.org/drawingml/2006/main" prst="rect">
            <a:avLst/>
          </a:prstGeom>
        </p:spPr>
      </p:pic>
      <p:sp>
        <p:nvSpPr>
          <p:cNvPr id="20" name="unified-files">
            <a:extLst xmlns:a="http://schemas.openxmlformats.org/drawingml/2006/main">
              <a:ext uri="{FF2B5EF4-FFF2-40B4-BE49-F238E27FC236}">
                <a16:creationId xmlns:a16="http://schemas.microsoft.com/office/drawing/2014/main" id="{C0BCBB0A-69C7-4185-B131-DD29034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91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Arquivos preservados</a:t>
            </a:r>
          </a:p>
        </p:txBody>
      </p:sp>
    </p:spTree>
    <p:extLst>
      <p:ext uri="{BB962C8B-B14F-4D97-AF65-F5344CB8AC3E}">
        <p14:creationId xmlns:p14="http://schemas.microsoft.com/office/powerpoint/2010/main" val="15558942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E7ECA-FE8F-4547-8504-D15C5481C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6c856807048e5">
            <a:extLst>
              <a:ext uri="{96DAC541-7B7A-43D3-8B79-37D633B846F1}">
                <asvg:svgBlip xmlns:asvg="http://schemas.microsoft.com/office/drawing/2016/SVG/main" r:embed="Ra630f29ddda547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F9AA1515-904F-451F-9187-EEEEDEDE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SOLUÇÃO LASTRO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C41F8D-6960-482E-9302-1015AE7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14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47CD4053-97E9-48E5-AD9C-9F8DB2D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Liga cada operação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30428FCF-E51F-4153-B851-BC8E105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à condição aplicável</a:t>
            </a:r>
          </a:p>
        </p:txBody>
      </p:sp>
      <p:sp>
        <p:nvSpPr>
          <p:cNvPr id="7" name="condition-0">
            <a:extLst xmlns:a="http://schemas.openxmlformats.org/drawingml/2006/main">
              <a:ext uri="{FF2B5EF4-FFF2-40B4-BE49-F238E27FC236}">
                <a16:creationId xmlns:a16="http://schemas.microsoft.com/office/drawing/2014/main" id="{411274C7-D069-49D7-B239-112D3D4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Lojista</a:t>
            </a:r>
          </a:p>
        </p:txBody>
      </p:sp>
      <p:sp>
        <p:nvSpPr>
          <p:cNvPr id="8" name="condition-detail-0">
            <a:extLst xmlns:a="http://schemas.openxmlformats.org/drawingml/2006/main">
              <a:ext uri="{FF2B5EF4-FFF2-40B4-BE49-F238E27FC236}">
                <a16:creationId xmlns:a16="http://schemas.microsoft.com/office/drawing/2014/main" id="{53A75E64-FC9F-4C3F-AB9E-4DA5570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Identidade confirmada</a:t>
            </a:r>
          </a:p>
        </p:txBody>
      </p:sp>
      <p:sp>
        <p:nvSpPr>
          <p:cNvPr id="9" name="match-link-0">
            <a:extLst xmlns:a="http://schemas.openxmlformats.org/drawingml/2006/main">
              <a:ext uri="{FF2B5EF4-FFF2-40B4-BE49-F238E27FC236}">
                <a16:creationId xmlns:a16="http://schemas.microsoft.com/office/drawing/2014/main" id="{AD59C9B8-A2FB-48A3-9DA5-C552144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1809750" cy="1076325"/>
          </a:xfrm>
          <a:custGeom xmlns:a="http://schemas.openxmlformats.org/drawingml/2006/main">
            <a:pathLst>
              <a:path w="1809750" h="1076325">
                <a:moveTo>
                  <a:pt x="0" y="0"/>
                </a:moveTo>
                <a:cubicBezTo>
                  <a:pt x="904875" y="0"/>
                  <a:pt x="904875" y="1076325"/>
                  <a:pt x="1809750" y="1076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0" name="condition-1">
            <a:extLst xmlns:a="http://schemas.openxmlformats.org/drawingml/2006/main">
              <a:ext uri="{FF2B5EF4-FFF2-40B4-BE49-F238E27FC236}">
                <a16:creationId xmlns:a16="http://schemas.microsoft.com/office/drawing/2014/main" id="{28986E16-4A2F-4AB5-B8F1-3FC4C63C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Contrato e vigência</a:t>
            </a:r>
          </a:p>
        </p:txBody>
      </p:sp>
      <p:sp>
        <p:nvSpPr>
          <p:cNvPr id="11" name="condition-detail-1">
            <a:extLst xmlns:a="http://schemas.openxmlformats.org/drawingml/2006/main">
              <a:ext uri="{FF2B5EF4-FFF2-40B4-BE49-F238E27FC236}">
                <a16:creationId xmlns:a16="http://schemas.microsoft.com/office/drawing/2014/main" id="{86635898-AF7A-45D1-A2F8-AC71FE78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Condição válida na data</a:t>
            </a:r>
          </a:p>
        </p:txBody>
      </p:sp>
      <p:sp>
        <p:nvSpPr>
          <p:cNvPr id="12" name="match-link-1">
            <a:extLst xmlns:a="http://schemas.openxmlformats.org/drawingml/2006/main">
              <a:ext uri="{FF2B5EF4-FFF2-40B4-BE49-F238E27FC236}">
                <a16:creationId xmlns:a16="http://schemas.microsoft.com/office/drawing/2014/main" id="{BBAEDAC0-9C69-4A3A-95B6-B933803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19575"/>
            <a:ext cx="1809750" cy="133350"/>
          </a:xfrm>
          <a:custGeom xmlns:a="http://schemas.openxmlformats.org/drawingml/2006/main">
            <a:pathLst>
              <a:path w="1809750" h="133350">
                <a:moveTo>
                  <a:pt x="0" y="0"/>
                </a:moveTo>
                <a:cubicBezTo>
                  <a:pt x="904875" y="0"/>
                  <a:pt x="904875" y="133350"/>
                  <a:pt x="1809750" y="1333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3" name="condition-2">
            <a:extLst xmlns:a="http://schemas.openxmlformats.org/drawingml/2006/main">
              <a:ext uri="{FF2B5EF4-FFF2-40B4-BE49-F238E27FC236}">
                <a16:creationId xmlns:a16="http://schemas.microsoft.com/office/drawing/2014/main" id="{08662B1E-C359-4231-8F38-2F8E594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Orientação do financeiro</a:t>
            </a:r>
          </a:p>
        </p:txBody>
      </p:sp>
      <p:sp>
        <p:nvSpPr>
          <p:cNvPr id="14" name="condition-detail-2">
            <a:extLst xmlns:a="http://schemas.openxmlformats.org/drawingml/2006/main">
              <a:ext uri="{FF2B5EF4-FFF2-40B4-BE49-F238E27FC236}">
                <a16:creationId xmlns:a16="http://schemas.microsoft.com/office/drawing/2014/main" id="{89641485-89ED-49EF-8BBE-B075CD3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Fonte e confirmação</a:t>
            </a:r>
          </a:p>
        </p:txBody>
      </p:sp>
      <p:sp>
        <p:nvSpPr>
          <p:cNvPr id="15" name="match-link-2">
            <a:extLst xmlns:a="http://schemas.openxmlformats.org/drawingml/2006/main">
              <a:ext uri="{FF2B5EF4-FFF2-40B4-BE49-F238E27FC236}">
                <a16:creationId xmlns:a16="http://schemas.microsoft.com/office/drawing/2014/main" id="{352EE4C1-3786-49D1-8FC1-AFB090DD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52925"/>
            <a:ext cx="1809750" cy="809625"/>
          </a:xfrm>
          <a:custGeom xmlns:a="http://schemas.openxmlformats.org/drawingml/2006/main">
            <a:pathLst>
              <a:path w="1809750" h="809625">
                <a:moveTo>
                  <a:pt x="0" y="809625"/>
                </a:moveTo>
                <a:cubicBezTo>
                  <a:pt x="904875" y="809625"/>
                  <a:pt x="904875" y="0"/>
                  <a:pt x="18097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4269C-B1D3-406A-A9A5-35E24E1524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a23575cb42c8"/>
          <a:srcRect xmlns:a="http://schemas.openxmlformats.org/drawingml/2006/main" l="24100" t="8100" r="13540" b="4880"/>
          <a:stretch xmlns:a="http://schemas.openxmlformats.org/drawingml/2006/main"/>
        </p:blipFill>
        <p:spPr>
          <a:xfrm xmlns:a="http://schemas.openxmlformats.org/drawingml/2006/main">
            <a:off x="7810500" y="2762250"/>
            <a:ext cx="3333750" cy="3124200"/>
          </a:xfrm>
          <a:prstGeom xmlns:a="http://schemas.openxmlformats.org/drawingml/2006/main" prst="rect">
            <a:avLst/>
          </a:prstGeom>
        </p:spPr>
      </p:pic>
      <p:sp>
        <p:nvSpPr>
          <p:cNvPr id="17" name="unconfirmed">
            <a:extLst xmlns:a="http://schemas.openxmlformats.org/drawingml/2006/main">
              <a:ext uri="{FF2B5EF4-FFF2-40B4-BE49-F238E27FC236}">
                <a16:creationId xmlns:a16="http://schemas.microsoft.com/office/drawing/2014/main" id="{9C5D1D75-5903-45CA-B58E-42AC964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Informação sem confirmação permanece pendente.</a:t>
            </a:r>
          </a:p>
        </p:txBody>
      </p:sp>
    </p:spTree>
    <p:extLst>
      <p:ext uri="{BB962C8B-B14F-4D97-AF65-F5344CB8AC3E}">
        <p14:creationId xmlns:p14="http://schemas.microsoft.com/office/powerpoint/2010/main" val="6648174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52833-32EF-46A6-9238-0A63BD2A5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ae27e5de54b68">
            <a:extLst>
              <a:ext uri="{96DAC541-7B7A-43D3-8B79-37D633B846F1}">
                <asvg:svgBlip xmlns:asvg="http://schemas.microsoft.com/office/drawing/2016/SVG/main" r:embed="Refa0bfa4bc4347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1CC8917-AE53-491C-910B-443DD449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APURAÇÃO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D62C9F8-4FF3-4F79-BC0E-A6D3E02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15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629077A4-4751-417B-BD1C-BD4AEC59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Apura o checkout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D8E7E581-531C-4B58-A79F-019802F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pela condição contratada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45602-436A-4115-9579-4FF5B2B83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01c638b33420e"/>
          <a:srcRect xmlns:a="http://schemas.openxmlformats.org/drawingml/2006/main" l="1700" t="18230" r="2350" b="17270"/>
          <a:stretch xmlns:a="http://schemas.openxmlformats.org/drawingml/2006/main"/>
        </p:blipFill>
        <p:spPr>
          <a:xfrm xmlns:a="http://schemas.openxmlformats.org/drawingml/2006/main">
            <a:off x="838200" y="3171825"/>
            <a:ext cx="10515600" cy="2362200"/>
          </a:xfrm>
          <a:prstGeom xmlns:a="http://schemas.openxmlformats.org/drawingml/2006/main" prst="rect">
            <a:avLst/>
          </a:prstGeom>
        </p:spPr>
      </p:pic>
      <p:sp>
        <p:nvSpPr>
          <p:cNvPr id="8" name="future-streams">
            <a:extLst xmlns:a="http://schemas.openxmlformats.org/drawingml/2006/main">
              <a:ext uri="{FF2B5EF4-FFF2-40B4-BE49-F238E27FC236}">
                <a16:creationId xmlns:a16="http://schemas.microsoft.com/office/drawing/2014/main" id="{8E96FE26-1133-4F0F-BC59-D613A1C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81325"/>
            <a:ext cx="75723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noFill/>
          </a:ln>
        </p:spPr>
      </p:sp>
      <p:sp>
        <p:nvSpPr>
          <p:cNvPr id="9" name="stream-0">
            <a:extLst xmlns:a="http://schemas.openxmlformats.org/drawingml/2006/main">
              <a:ext uri="{FF2B5EF4-FFF2-40B4-BE49-F238E27FC236}">
                <a16:creationId xmlns:a16="http://schemas.microsoft.com/office/drawing/2014/main" id="{AF9C79E3-93C7-4209-BC5E-BCFF974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0" name="stream-detail-0">
            <a:extLst xmlns:a="http://schemas.openxmlformats.org/drawingml/2006/main">
              <a:ext uri="{FF2B5EF4-FFF2-40B4-BE49-F238E27FC236}">
                <a16:creationId xmlns:a16="http://schemas.microsoft.com/office/drawing/2014/main" id="{5CA14A94-017A-4F83-9409-157A11A4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Comissão contratada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Comparação de taxas</a:t>
            </a:r>
          </a:p>
        </p:txBody>
      </p:sp>
    </p:spTree>
    <p:extLst>
      <p:ext uri="{BB962C8B-B14F-4D97-AF65-F5344CB8AC3E}">
        <p14:creationId xmlns:p14="http://schemas.microsoft.com/office/powerpoint/2010/main" val="4505742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D829E-D50F-4EE4-82A8-CCB1A0DEE7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9d2ceb6e04639">
            <a:extLst>
              <a:ext uri="{96DAC541-7B7A-43D3-8B79-37D633B846F1}">
                <asvg:svgBlip xmlns:asvg="http://schemas.microsoft.com/office/drawing/2016/SVG/main" r:embed="R42bc512aab6248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22131EC7-B566-44F6-B186-A0D54D5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APURAÇÃO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CAC83A1-69BC-4CFE-A79E-D0002304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16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1FA7E634-6D16-4281-9DE5-F48BCB3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Apura as remessas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1CE94845-13DD-4682-8B73-FA4FBFFB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pelo spread realizado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F2F45-FCB1-4FCC-880B-777943C4AF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bf0dda247426f"/>
          <a:srcRect xmlns:a="http://schemas.openxmlformats.org/drawingml/2006/main" l="1700" t="18230" r="2350" b="17270"/>
          <a:stretch xmlns:a="http://schemas.openxmlformats.org/drawingml/2006/main"/>
        </p:blipFill>
        <p:spPr>
          <a:xfrm xmlns:a="http://schemas.openxmlformats.org/drawingml/2006/main">
            <a:off x="838200" y="3171825"/>
            <a:ext cx="10515600" cy="2362200"/>
          </a:xfrm>
          <a:prstGeom xmlns:a="http://schemas.openxmlformats.org/drawingml/2006/main" prst="rect">
            <a:avLst/>
          </a:prstGeom>
        </p:spPr>
      </p:pic>
      <p:sp>
        <p:nvSpPr>
          <p:cNvPr id="8" name="future-streams">
            <a:extLst xmlns:a="http://schemas.openxmlformats.org/drawingml/2006/main">
              <a:ext uri="{FF2B5EF4-FFF2-40B4-BE49-F238E27FC236}">
                <a16:creationId xmlns:a16="http://schemas.microsoft.com/office/drawing/2014/main" id="{C50D0734-7545-4430-9A1B-11C220FC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81325"/>
            <a:ext cx="37242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noFill/>
          </a:ln>
        </p:spPr>
      </p:sp>
      <p:sp>
        <p:nvSpPr>
          <p:cNvPr id="9" name="stream-0">
            <a:extLst xmlns:a="http://schemas.openxmlformats.org/drawingml/2006/main">
              <a:ext uri="{FF2B5EF4-FFF2-40B4-BE49-F238E27FC236}">
                <a16:creationId xmlns:a16="http://schemas.microsoft.com/office/drawing/2014/main" id="{D51AF4CD-89BD-42C6-860E-FC9BA06F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0" name="stream-detail-0">
            <a:extLst xmlns:a="http://schemas.openxmlformats.org/drawingml/2006/main">
              <a:ext uri="{FF2B5EF4-FFF2-40B4-BE49-F238E27FC236}">
                <a16:creationId xmlns:a16="http://schemas.microsoft.com/office/drawing/2014/main" id="{2D134146-66B5-413F-A0B1-1B05432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Comissão contratada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Comparação de taxas</a:t>
            </a:r>
          </a:p>
        </p:txBody>
      </p:sp>
      <p:sp>
        <p:nvSpPr>
          <p:cNvPr id="11" name="stream-1">
            <a:extLst xmlns:a="http://schemas.openxmlformats.org/drawingml/2006/main">
              <a:ext uri="{FF2B5EF4-FFF2-40B4-BE49-F238E27FC236}">
                <a16:creationId xmlns:a16="http://schemas.microsoft.com/office/drawing/2014/main" id="{A528811A-3FD5-42F6-AD9E-AF59396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Remessas</a:t>
            </a:r>
          </a:p>
        </p:txBody>
      </p:sp>
      <p:sp>
        <p:nvSpPr>
          <p:cNvPr id="12" name="stream-detail-1">
            <a:extLst xmlns:a="http://schemas.openxmlformats.org/drawingml/2006/main">
              <a:ext uri="{FF2B5EF4-FFF2-40B4-BE49-F238E27FC236}">
                <a16:creationId xmlns:a16="http://schemas.microsoft.com/office/drawing/2014/main" id="{E3675A2D-93F4-42CD-B0AE-AE3A724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50% do spread elegível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Duplicidades e contestação</a:t>
            </a:r>
          </a:p>
        </p:txBody>
      </p:sp>
    </p:spTree>
    <p:extLst>
      <p:ext uri="{BB962C8B-B14F-4D97-AF65-F5344CB8AC3E}">
        <p14:creationId xmlns:p14="http://schemas.microsoft.com/office/powerpoint/2010/main" val="14173483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2B28A-5FFE-48D7-A3BC-5B7CBD7020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0bebd27ff45f0">
            <a:extLst>
              <a:ext uri="{96DAC541-7B7A-43D3-8B79-37D633B846F1}">
                <asvg:svgBlip xmlns:asvg="http://schemas.microsoft.com/office/drawing/2016/SVG/main" r:embed="R78ca49b3121b4e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3B4B3BD3-85A8-4633-A56F-5B494A8A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APURAÇÃO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31A1B90-0520-439F-A125-07A98DB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17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ADBC7CF9-6EE7-4504-A21C-3E5BA851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Classifica os movimentos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70F7087E-9C0C-4B7F-B31F-D8F2E673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bancários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8FF7B-FE65-4B73-B6B1-9FC16FE8E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04471923f4181"/>
          <a:srcRect xmlns:a="http://schemas.openxmlformats.org/drawingml/2006/main" l="1700" t="18230" r="2350" b="17270"/>
          <a:stretch xmlns:a="http://schemas.openxmlformats.org/drawingml/2006/main"/>
        </p:blipFill>
        <p:spPr>
          <a:xfrm xmlns:a="http://schemas.openxmlformats.org/drawingml/2006/main">
            <a:off x="838200" y="3171825"/>
            <a:ext cx="10515600" cy="2362200"/>
          </a:xfrm>
          <a:prstGeom xmlns:a="http://schemas.openxmlformats.org/drawingml/2006/main" prst="rect">
            <a:avLst/>
          </a:prstGeom>
        </p:spPr>
      </p:pic>
      <p:sp>
        <p:nvSpPr>
          <p:cNvPr id="8" name="stream-0">
            <a:extLst xmlns:a="http://schemas.openxmlformats.org/drawingml/2006/main">
              <a:ext uri="{FF2B5EF4-FFF2-40B4-BE49-F238E27FC236}">
                <a16:creationId xmlns:a16="http://schemas.microsoft.com/office/drawing/2014/main" id="{EEEBEB75-E8D4-4BA1-BE86-7238FC99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9" name="stream-detail-0">
            <a:extLst xmlns:a="http://schemas.openxmlformats.org/drawingml/2006/main">
              <a:ext uri="{FF2B5EF4-FFF2-40B4-BE49-F238E27FC236}">
                <a16:creationId xmlns:a16="http://schemas.microsoft.com/office/drawing/2014/main" id="{8409E15E-D5C1-4E39-A628-E0B9621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Comissão contratada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Comparação de taxas</a:t>
            </a:r>
          </a:p>
        </p:txBody>
      </p:sp>
      <p:sp>
        <p:nvSpPr>
          <p:cNvPr id="10" name="stream-1">
            <a:extLst xmlns:a="http://schemas.openxmlformats.org/drawingml/2006/main">
              <a:ext uri="{FF2B5EF4-FFF2-40B4-BE49-F238E27FC236}">
                <a16:creationId xmlns:a16="http://schemas.microsoft.com/office/drawing/2014/main" id="{B364220B-DC58-479C-BF4A-FF7D5A8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Remessas</a:t>
            </a:r>
          </a:p>
        </p:txBody>
      </p:sp>
      <p:sp>
        <p:nvSpPr>
          <p:cNvPr id="11" name="stream-detail-1">
            <a:extLst xmlns:a="http://schemas.openxmlformats.org/drawingml/2006/main">
              <a:ext uri="{FF2B5EF4-FFF2-40B4-BE49-F238E27FC236}">
                <a16:creationId xmlns:a16="http://schemas.microsoft.com/office/drawing/2014/main" id="{3E9BCEDC-ED6A-4E08-9BCB-2939D64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50% do spread elegível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Duplicidades e contestação</a:t>
            </a:r>
          </a:p>
        </p:txBody>
      </p:sp>
      <p:sp>
        <p:nvSpPr>
          <p:cNvPr id="12" name="stream-2">
            <a:extLst xmlns:a="http://schemas.openxmlformats.org/drawingml/2006/main">
              <a:ext uri="{FF2B5EF4-FFF2-40B4-BE49-F238E27FC236}">
                <a16:creationId xmlns:a16="http://schemas.microsoft.com/office/drawing/2014/main" id="{212AFEB3-B394-4590-BFEF-8B08A3B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638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Bancos</a:t>
            </a:r>
          </a:p>
        </p:txBody>
      </p:sp>
      <p:sp>
        <p:nvSpPr>
          <p:cNvPr id="13" name="stream-detail-2">
            <a:extLst xmlns:a="http://schemas.openxmlformats.org/drawingml/2006/main">
              <a:ext uri="{FF2B5EF4-FFF2-40B4-BE49-F238E27FC236}">
                <a16:creationId xmlns:a16="http://schemas.microsoft.com/office/drawing/2014/main" id="{FFA8EA6F-3960-43E6-AE5B-590B246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60198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Conta proposta</a:t>
            </a:r>
          </a:p>
          <a:p xmlns:a="http://schemas.openxmlformats.org/drawingml/2006/main">
            <a:pPr algn="l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Justificativa e origem</a:t>
            </a:r>
          </a:p>
        </p:txBody>
      </p:sp>
    </p:spTree>
    <p:extLst>
      <p:ext uri="{BB962C8B-B14F-4D97-AF65-F5344CB8AC3E}">
        <p14:creationId xmlns:p14="http://schemas.microsoft.com/office/powerpoint/2010/main" val="10799570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230E1-696F-4BD3-8282-19B46DB0D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f1e81a6264714">
            <a:extLst>
              <a:ext uri="{96DAC541-7B7A-43D3-8B79-37D633B846F1}">
                <asvg:svgBlip xmlns:asvg="http://schemas.microsoft.com/office/drawing/2016/SVG/main" r:embed="R9c1e23e2f0964b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4AAA79C9-95AA-4644-AFDF-5351FC0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APURAÇÃO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53BE0CC-76A7-4A10-89C4-2AA7495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18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9341392D-FD8F-4AD0-8A1B-AC980091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Reúne os resultados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24AC4947-4D8F-4273-A08D-A28A18C2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do fechamento</a:t>
            </a:r>
          </a:p>
        </p:txBody>
      </p:sp>
      <p:sp>
        <p:nvSpPr>
          <p:cNvPr id="7" name="input-0">
            <a:extLst xmlns:a="http://schemas.openxmlformats.org/drawingml/2006/main">
              <a:ext uri="{FF2B5EF4-FFF2-40B4-BE49-F238E27FC236}">
                <a16:creationId xmlns:a16="http://schemas.microsoft.com/office/drawing/2014/main" id="{0CB0B8A3-8BC4-4A87-A12B-680B202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52775"/>
            <a:ext cx="2676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8" name="convergence-0">
            <a:extLst xmlns:a="http://schemas.openxmlformats.org/drawingml/2006/main">
              <a:ext uri="{FF2B5EF4-FFF2-40B4-BE49-F238E27FC236}">
                <a16:creationId xmlns:a16="http://schemas.microsoft.com/office/drawing/2014/main" id="{A74383AA-FDA5-4326-9FBF-285AAD7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1743075" cy="1076325"/>
          </a:xfrm>
          <a:custGeom xmlns:a="http://schemas.openxmlformats.org/drawingml/2006/main">
            <a:pathLst>
              <a:path w="1743075" h="1076325">
                <a:moveTo>
                  <a:pt x="0" y="0"/>
                </a:moveTo>
                <a:cubicBezTo>
                  <a:pt x="871538" y="0"/>
                  <a:pt x="871538" y="1076325"/>
                  <a:pt x="1743075" y="1076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9" name="input-1">
            <a:extLst xmlns:a="http://schemas.openxmlformats.org/drawingml/2006/main">
              <a:ext uri="{FF2B5EF4-FFF2-40B4-BE49-F238E27FC236}">
                <a16:creationId xmlns:a16="http://schemas.microsoft.com/office/drawing/2014/main" id="{D6574592-A3C0-4381-A63A-8C7F9EA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2676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Remessas</a:t>
            </a:r>
          </a:p>
        </p:txBody>
      </p:sp>
      <p:sp>
        <p:nvSpPr>
          <p:cNvPr id="10" name="convergence-1">
            <a:extLst xmlns:a="http://schemas.openxmlformats.org/drawingml/2006/main">
              <a:ext uri="{FF2B5EF4-FFF2-40B4-BE49-F238E27FC236}">
                <a16:creationId xmlns:a16="http://schemas.microsoft.com/office/drawing/2014/main" id="{DFF1D94B-FE97-47D3-964F-3088AD3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743075" cy="38100"/>
          </a:xfrm>
          <a:custGeom xmlns:a="http://schemas.openxmlformats.org/drawingml/2006/main">
            <a:pathLst>
              <a:path w="1743075" h="38100">
                <a:moveTo>
                  <a:pt x="0" y="0"/>
                </a:moveTo>
                <a:cubicBezTo>
                  <a:pt x="871538" y="0"/>
                  <a:pt x="871538" y="38100"/>
                  <a:pt x="1743075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sp>
        <p:nvSpPr>
          <p:cNvPr id="11" name="input-2">
            <a:extLst xmlns:a="http://schemas.openxmlformats.org/drawingml/2006/main">
              <a:ext uri="{FF2B5EF4-FFF2-40B4-BE49-F238E27FC236}">
                <a16:creationId xmlns:a16="http://schemas.microsoft.com/office/drawing/2014/main" id="{998A066F-8F76-43BE-A077-869CCD9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29225"/>
            <a:ext cx="2676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Bancos</a:t>
            </a:r>
          </a:p>
        </p:txBody>
      </p:sp>
      <p:sp>
        <p:nvSpPr>
          <p:cNvPr id="12" name="convergence-2">
            <a:extLst xmlns:a="http://schemas.openxmlformats.org/drawingml/2006/main">
              <a:ext uri="{FF2B5EF4-FFF2-40B4-BE49-F238E27FC236}">
                <a16:creationId xmlns:a16="http://schemas.microsoft.com/office/drawing/2014/main" id="{9CBFECF6-BCF8-44FA-85DB-27FA04F7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1743075" cy="1000125"/>
          </a:xfrm>
          <a:custGeom xmlns:a="http://schemas.openxmlformats.org/drawingml/2006/main">
            <a:pathLst>
              <a:path w="1743075" h="1000125">
                <a:moveTo>
                  <a:pt x="0" y="1000125"/>
                </a:moveTo>
                <a:cubicBezTo>
                  <a:pt x="871538" y="1000125"/>
                  <a:pt x="871538" y="0"/>
                  <a:pt x="17430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DFDA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DDF7-6CA0-47D3-A762-FAD6907EA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4ec6a9a0e46d4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4981575" y="3200400"/>
            <a:ext cx="2381250" cy="2571750"/>
          </a:xfrm>
          <a:prstGeom xmlns:a="http://schemas.openxmlformats.org/drawingml/2006/main" prst="rect">
            <a:avLst/>
          </a:prstGeom>
        </p:spPr>
      </p:pic>
      <p:cxnSp>
        <p:nvCxnSpPr>
          <p:cNvPr id="14" name="dossier-to-output">
            <a:extLst xmlns:a="http://schemas.openxmlformats.org/drawingml/2006/main">
              <a:ext uri="{FF2B5EF4-FFF2-40B4-BE49-F238E27FC236}">
                <a16:creationId xmlns:a16="http://schemas.microsoft.com/office/drawing/2014/main" id="{529B3D18-B62F-4E52-B8A5-434919323E1C}"/>
              </a:ext>
            </a:extLst>
          </p:cNvPr>
          <p:cNvCxnSpPr/>
          <p:nvPr/>
        </p:nvCxnSpPr>
        <p:spPr>
          <a:xfrm xmlns:a="http://schemas.openxmlformats.org/drawingml/2006/main">
            <a:off x="7439025" y="44577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  <a:tailEnd type="triangle" w="sm" len="sm"/>
          </a:ln>
        </p:spPr>
      </p:cxnSp>
      <p:sp>
        <p:nvSpPr>
          <p:cNvPr id="15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0D9ADA6C-E2CA-4556-A5A0-5CBD0E3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34766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Comissões</a:t>
            </a:r>
          </a:p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Divergências</a:t>
            </a:r>
          </a:p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Notas a emitir</a:t>
            </a:r>
          </a:p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Lançamentos classificados</a:t>
            </a:r>
          </a:p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Pendências</a:t>
            </a:r>
          </a:p>
          <a:p xmlns:a="http://schemas.openxmlformats.org/drawingml/2006/main">
            <a:pPr algn="l">
              <a:defRPr sz="20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Rastro</a:t>
            </a:r>
          </a:p>
        </p:txBody>
      </p:sp>
      <p:sp>
        <p:nvSpPr>
          <p:cNvPr id="16" name="invoice-state">
            <a:extLst xmlns:a="http://schemas.openxmlformats.org/drawingml/2006/main">
              <a:ext uri="{FF2B5EF4-FFF2-40B4-BE49-F238E27FC236}">
                <a16:creationId xmlns:a16="http://schemas.microsoft.com/office/drawing/2014/main" id="{680462CD-5EDC-4114-81DE-8454317D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Notas propostas para revisão</a:t>
            </a:r>
          </a:p>
        </p:txBody>
      </p:sp>
    </p:spTree>
    <p:extLst>
      <p:ext uri="{BB962C8B-B14F-4D97-AF65-F5344CB8AC3E}">
        <p14:creationId xmlns:p14="http://schemas.microsoft.com/office/powerpoint/2010/main" val="1371533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FA6C-8DB1-41CB-ADBF-9FCC45064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5608222694248">
            <a:extLst>
              <a:ext uri="{96DAC541-7B7A-43D3-8B79-37D633B846F1}">
                <asvg:svgBlip xmlns:asvg="http://schemas.microsoft.com/office/drawing/2016/SVG/main" r:embed="R348804f36a0443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E62179E9-3A7E-4996-B47A-BD38A42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EVIDÊNCIA E ORIGEM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8F42D8B-456D-4923-B6DC-CF9965ED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19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6E25E0EE-7759-4A24-873C-CCB37D95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Cada valor aponta</a:t>
            </a:r>
          </a:p>
        </p:txBody>
      </p:sp>
      <p:sp>
        <p:nvSpPr>
          <p:cNvPr id="6" name="headline-second">
            <a:extLst xmlns:a="http://schemas.openxmlformats.org/drawingml/2006/main">
              <a:ext uri="{FF2B5EF4-FFF2-40B4-BE49-F238E27FC236}">
                <a16:creationId xmlns:a16="http://schemas.microsoft.com/office/drawing/2014/main" id="{5E7E2EFD-0251-41C1-B2FF-3EDA469C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para a origem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BFD9E-1019-40B3-B679-67C64F40C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dd1aea1d04b3c"/>
          <a:srcRect xmlns:a="http://schemas.openxmlformats.org/drawingml/2006/main" l="18780" t="2580" r="11530" b="2950"/>
          <a:stretch xmlns:a="http://schemas.openxmlformats.org/drawingml/2006/main"/>
        </p:blipFill>
        <p:spPr>
          <a:xfrm xmlns:a="http://schemas.openxmlformats.org/drawingml/2006/main">
            <a:off x="1085850" y="3343275"/>
            <a:ext cx="1790700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trace-title-0">
            <a:extLst xmlns:a="http://schemas.openxmlformats.org/drawingml/2006/main">
              <a:ext uri="{FF2B5EF4-FFF2-40B4-BE49-F238E27FC236}">
                <a16:creationId xmlns:a16="http://schemas.microsoft.com/office/drawing/2014/main" id="{EE86EC4A-5347-49B1-9841-B50174EB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2247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9" name="trace-detail-0">
            <a:extLst xmlns:a="http://schemas.openxmlformats.org/drawingml/2006/main">
              <a:ext uri="{FF2B5EF4-FFF2-40B4-BE49-F238E27FC236}">
                <a16:creationId xmlns:a16="http://schemas.microsoft.com/office/drawing/2014/main" id="{340DAAA0-B7F4-44E8-BC07-3D65F44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Total apresentado</a:t>
            </a:r>
          </a:p>
        </p:txBody>
      </p:sp>
      <p:cxnSp>
        <p:nvCxnSpPr>
          <p:cNvPr id="10" name="trace-link-0">
            <a:extLst xmlns:a="http://schemas.openxmlformats.org/drawingml/2006/main">
              <a:ext uri="{FF2B5EF4-FFF2-40B4-BE49-F238E27FC236}">
                <a16:creationId xmlns:a16="http://schemas.microsoft.com/office/drawing/2014/main" id="{71EA2B8C-5275-40B9-8442-3044C43E96CA}"/>
              </a:ext>
            </a:extLst>
          </p:cNvPr>
          <p:cNvCxnSpPr/>
          <p:nvPr/>
        </p:nvCxnSpPr>
        <p:spPr>
          <a:xfrm xmlns:a="http://schemas.openxmlformats.org/drawingml/2006/main">
            <a:off x="3048000" y="42195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  <a:tailEnd type="triangle" w="sm" len="sm"/>
          </a:ln>
        </p:spPr>
      </p:cxn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93D89-55B4-4178-808F-1AAA95937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36fcfbc324ecd"/>
          <a:srcRect xmlns:a="http://schemas.openxmlformats.org/drawingml/2006/main" l="14160" t="6260" r="13740" b="3130"/>
          <a:stretch xmlns:a="http://schemas.openxmlformats.org/drawingml/2006/main"/>
        </p:blipFill>
        <p:spPr>
          <a:xfrm xmlns:a="http://schemas.openxmlformats.org/drawingml/2006/main">
            <a:off x="3876675" y="3343275"/>
            <a:ext cx="1790700" cy="1676400"/>
          </a:xfrm>
          <a:prstGeom xmlns:a="http://schemas.openxmlformats.org/drawingml/2006/main" prst="rect">
            <a:avLst/>
          </a:prstGeom>
        </p:spPr>
      </p:pic>
      <p:sp>
        <p:nvSpPr>
          <p:cNvPr id="12" name="trace-title-1">
            <a:extLst xmlns:a="http://schemas.openxmlformats.org/drawingml/2006/main">
              <a:ext uri="{FF2B5EF4-FFF2-40B4-BE49-F238E27FC236}">
                <a16:creationId xmlns:a16="http://schemas.microsoft.com/office/drawing/2014/main" id="{9A8E0CD4-6658-48D7-9F34-896F9CA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53050"/>
            <a:ext cx="2247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Operações</a:t>
            </a:r>
          </a:p>
        </p:txBody>
      </p:sp>
      <p:sp>
        <p:nvSpPr>
          <p:cNvPr id="13" name="trace-detail-1">
            <a:extLst xmlns:a="http://schemas.openxmlformats.org/drawingml/2006/main">
              <a:ext uri="{FF2B5EF4-FFF2-40B4-BE49-F238E27FC236}">
                <a16:creationId xmlns:a16="http://schemas.microsoft.com/office/drawing/2014/main" id="{5D21536B-5FF6-4624-8FB2-E95483DB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819775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Linhas que</a:t>
            </a:r>
          </a:p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compõem o valor</a:t>
            </a:r>
          </a:p>
        </p:txBody>
      </p:sp>
      <p:cxnSp>
        <p:nvCxnSpPr>
          <p:cNvPr id="14" name="trace-link-1">
            <a:extLst xmlns:a="http://schemas.openxmlformats.org/drawingml/2006/main">
              <a:ext uri="{FF2B5EF4-FFF2-40B4-BE49-F238E27FC236}">
                <a16:creationId xmlns:a16="http://schemas.microsoft.com/office/drawing/2014/main" id="{8C945C2F-FC53-4B3D-96D5-D88CBE3003E5}"/>
              </a:ext>
            </a:extLst>
          </p:cNvPr>
          <p:cNvCxnSpPr/>
          <p:nvPr/>
        </p:nvCxnSpPr>
        <p:spPr>
          <a:xfrm xmlns:a="http://schemas.openxmlformats.org/drawingml/2006/main">
            <a:off x="5838825" y="42195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  <a:tailEnd type="triangle" w="sm" len="sm"/>
          </a:ln>
        </p:spPr>
      </p:cxn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22860-4F7A-47B4-A788-2F251A984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d3c731ff741e7"/>
          <a:srcRect xmlns:a="http://schemas.openxmlformats.org/drawingml/2006/main" l="24100" t="8100" r="13540" b="4880"/>
          <a:stretch xmlns:a="http://schemas.openxmlformats.org/drawingml/2006/main"/>
        </p:blipFill>
        <p:spPr>
          <a:xfrm xmlns:a="http://schemas.openxmlformats.org/drawingml/2006/main">
            <a:off x="6667500" y="3343275"/>
            <a:ext cx="1790700" cy="1676400"/>
          </a:xfrm>
          <a:prstGeom xmlns:a="http://schemas.openxmlformats.org/drawingml/2006/main" prst="rect">
            <a:avLst/>
          </a:prstGeom>
        </p:spPr>
      </p:pic>
      <p:sp>
        <p:nvSpPr>
          <p:cNvPr id="16" name="trace-title-2">
            <a:extLst xmlns:a="http://schemas.openxmlformats.org/drawingml/2006/main">
              <a:ext uri="{FF2B5EF4-FFF2-40B4-BE49-F238E27FC236}">
                <a16:creationId xmlns:a16="http://schemas.microsoft.com/office/drawing/2014/main" id="{F324DD18-6093-40CA-ADAC-76F3511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53050"/>
            <a:ext cx="2247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Regra</a:t>
            </a:r>
          </a:p>
        </p:txBody>
      </p:sp>
      <p:sp>
        <p:nvSpPr>
          <p:cNvPr id="17" name="trace-detail-2">
            <a:extLst xmlns:a="http://schemas.openxmlformats.org/drawingml/2006/main">
              <a:ext uri="{FF2B5EF4-FFF2-40B4-BE49-F238E27FC236}">
                <a16:creationId xmlns:a16="http://schemas.microsoft.com/office/drawing/2014/main" id="{AFDF47F4-70D0-4AC0-B21C-7DF2F78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9775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Condição e</a:t>
            </a:r>
          </a:p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vigência aplicadas</a:t>
            </a:r>
          </a:p>
        </p:txBody>
      </p:sp>
      <p:cxnSp>
        <p:nvCxnSpPr>
          <p:cNvPr id="18" name="trace-link-2">
            <a:extLst xmlns:a="http://schemas.openxmlformats.org/drawingml/2006/main">
              <a:ext uri="{FF2B5EF4-FFF2-40B4-BE49-F238E27FC236}">
                <a16:creationId xmlns:a16="http://schemas.microsoft.com/office/drawing/2014/main" id="{966931F4-8C89-4327-903D-DB67B12958FB}"/>
              </a:ext>
            </a:extLst>
          </p:cNvPr>
          <p:cNvCxnSpPr/>
          <p:nvPr/>
        </p:nvCxnSpPr>
        <p:spPr>
          <a:xfrm xmlns:a="http://schemas.openxmlformats.org/drawingml/2006/main">
            <a:off x="8629650" y="42195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  <a:tailEnd type="triangle" w="sm" len="sm"/>
          </a:ln>
        </p:spPr>
      </p:cxn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E2D66-4AB8-42CD-BB71-FA87840D2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f15340a1b4510"/>
          <a:srcRect xmlns:a="http://schemas.openxmlformats.org/drawingml/2006/main" l="13950" t="4050" r="13810" b="5160"/>
          <a:stretch xmlns:a="http://schemas.openxmlformats.org/drawingml/2006/main"/>
        </p:blipFill>
        <p:spPr>
          <a:xfrm xmlns:a="http://schemas.openxmlformats.org/drawingml/2006/main">
            <a:off x="9458325" y="3343275"/>
            <a:ext cx="1790700" cy="1676400"/>
          </a:xfrm>
          <a:prstGeom xmlns:a="http://schemas.openxmlformats.org/drawingml/2006/main" prst="rect">
            <a:avLst/>
          </a:prstGeom>
        </p:spPr>
      </p:pic>
      <p:sp>
        <p:nvSpPr>
          <p:cNvPr id="20" name="trace-title-3">
            <a:extLst xmlns:a="http://schemas.openxmlformats.org/drawingml/2006/main">
              <a:ext uri="{FF2B5EF4-FFF2-40B4-BE49-F238E27FC236}">
                <a16:creationId xmlns:a16="http://schemas.microsoft.com/office/drawing/2014/main" id="{94DF997E-C268-4BEF-908F-404AF97B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353050"/>
            <a:ext cx="2247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Arquivo</a:t>
            </a:r>
          </a:p>
        </p:txBody>
      </p:sp>
      <p:sp>
        <p:nvSpPr>
          <p:cNvPr id="21" name="trace-detail-3">
            <a:extLst xmlns:a="http://schemas.openxmlformats.org/drawingml/2006/main">
              <a:ext uri="{FF2B5EF4-FFF2-40B4-BE49-F238E27FC236}">
                <a16:creationId xmlns:a16="http://schemas.microsoft.com/office/drawing/2014/main" id="{F6E53794-BD16-4A16-9870-1DEFE3F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19775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Referência exata</a:t>
            </a:r>
          </a:p>
          <a:p xmlns:a="http://schemas.openxmlformats.org/drawingml/2006/main">
            <a:pPr algn="ctr">
              <a:defRPr sz="15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da fonte</a:t>
            </a:r>
          </a:p>
        </p:txBody>
      </p:sp>
    </p:spTree>
    <p:extLst>
      <p:ext uri="{BB962C8B-B14F-4D97-AF65-F5344CB8AC3E}">
        <p14:creationId xmlns:p14="http://schemas.microsoft.com/office/powerpoint/2010/main" val="19096634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66138-8CD0-485A-8FE2-66CD5FA4D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0fb44c0da4c84">
            <a:extLst>
              <a:ext uri="{96DAC541-7B7A-43D3-8B79-37D633B846F1}">
                <asvg:svgBlip xmlns:asvg="http://schemas.microsoft.com/office/drawing/2016/SVG/main" r:embed="Rb7b816b999c541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5908"/>
          </a:xfrm>
          <a:prstGeom xmlns:a="http://schemas.openxmlformats.org/drawingml/2006/main" prst="rect">
            <a:avLst/>
          </a:prstGeom>
        </p:spPr>
      </p:pic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ED86E26E-DF3A-4639-A761-93F05952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EVIDÊNCIA E ORIGEM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FD47357-571B-490F-A8EB-EE4E27B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20</a:t>
            </a:r>
          </a:p>
        </p:txBody>
      </p:sp>
      <p:sp>
        <p:nvSpPr>
          <p:cNvPr id="5" name="headline-first">
            <a:extLst xmlns:a="http://schemas.openxmlformats.org/drawingml/2006/main">
              <a:ext uri="{FF2B5EF4-FFF2-40B4-BE49-F238E27FC236}">
                <a16:creationId xmlns:a16="http://schemas.microsoft.com/office/drawing/2014/main" id="{64E60801-9463-46AA-A724-A23AF9C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1000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Rota Global</a:t>
            </a:r>
          </a:p>
        </p:txBody>
      </p:sp>
      <p:sp>
        <p:nvSpPr>
          <p:cNvPr id="6" name="case-status">
            <a:extLst xmlns:a="http://schemas.openxmlformats.org/drawingml/2006/main">
              <a:ext uri="{FF2B5EF4-FFF2-40B4-BE49-F238E27FC236}">
                <a16:creationId xmlns:a16="http://schemas.microsoft.com/office/drawing/2014/main" id="{23D4DC06-7BF6-48EF-9308-3099B8E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Diferença líquida preparada para revisão</a:t>
            </a:r>
          </a:p>
        </p:txBody>
      </p:sp>
      <p:sp>
        <p:nvSpPr>
          <p:cNvPr id="7" name="case-total">
            <a:extLst xmlns:a="http://schemas.openxmlformats.org/drawingml/2006/main">
              <a:ext uri="{FF2B5EF4-FFF2-40B4-BE49-F238E27FC236}">
                <a16:creationId xmlns:a16="http://schemas.microsoft.com/office/drawing/2014/main" id="{9F10668B-2591-4005-AAC7-90A50D7D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191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58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R$ 1.546,28</a:t>
            </a:r>
          </a:p>
        </p:txBody>
      </p:sp>
      <p:sp>
        <p:nvSpPr>
          <p:cNvPr id="8" name="positive-component">
            <a:extLst xmlns:a="http://schemas.openxmlformats.org/drawingml/2006/main">
              <a:ext uri="{FF2B5EF4-FFF2-40B4-BE49-F238E27FC236}">
                <a16:creationId xmlns:a16="http://schemas.microsoft.com/office/drawing/2014/main" id="{BF7E1D2D-EA32-436B-8BB4-C29DA93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+ R$ 1.644,72</a:t>
            </a:r>
          </a:p>
        </p:txBody>
      </p:sp>
      <p:sp>
        <p:nvSpPr>
          <p:cNvPr id="9" name="positive-meaning">
            <a:extLst xmlns:a="http://schemas.openxmlformats.org/drawingml/2006/main">
              <a:ext uri="{FF2B5EF4-FFF2-40B4-BE49-F238E27FC236}">
                <a16:creationId xmlns:a16="http://schemas.microsoft.com/office/drawing/2014/main" id="{FE3030CF-7176-426B-9514-37E8BCD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24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diferenças positivas</a:t>
            </a:r>
          </a:p>
        </p:txBody>
      </p:sp>
      <p:sp>
        <p:nvSpPr>
          <p:cNvPr id="10" name="negative-component">
            <a:extLst xmlns:a="http://schemas.openxmlformats.org/drawingml/2006/main">
              <a:ext uri="{FF2B5EF4-FFF2-40B4-BE49-F238E27FC236}">
                <a16:creationId xmlns:a16="http://schemas.microsoft.com/office/drawing/2014/main" id="{5B0569E2-1152-4115-9AE3-4BE7770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− R$ 98,44</a:t>
            </a:r>
          </a:p>
        </p:txBody>
      </p:sp>
      <p:sp>
        <p:nvSpPr>
          <p:cNvPr id="11" name="negative-meaning">
            <a:extLst xmlns:a="http://schemas.openxmlformats.org/drawingml/2006/main">
              <a:ext uri="{FF2B5EF4-FFF2-40B4-BE49-F238E27FC236}">
                <a16:creationId xmlns:a16="http://schemas.microsoft.com/office/drawing/2014/main" id="{94AE70C2-49E3-4E4C-ADA7-C6ACC82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2768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abatimentos por estornos</a:t>
            </a:r>
          </a:p>
        </p:txBody>
      </p:sp>
      <p:sp>
        <p:nvSpPr>
          <p:cNvPr id="12" name="operation">
            <a:extLst xmlns:a="http://schemas.openxmlformats.org/drawingml/2006/main">
              <a:ext uri="{FF2B5EF4-FFF2-40B4-BE49-F238E27FC236}">
                <a16:creationId xmlns:a16="http://schemas.microsoft.com/office/drawing/2014/main" id="{BF860D85-D357-4294-88FB-9C58F0E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3847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Operação TX88423647</a:t>
            </a:r>
          </a:p>
        </p:txBody>
      </p:sp>
      <p:sp>
        <p:nvSpPr>
          <p:cNvPr id="13" name="contract-rate">
            <a:extLst xmlns:a="http://schemas.openxmlformats.org/drawingml/2006/main">
              <a:ext uri="{FF2B5EF4-FFF2-40B4-BE49-F238E27FC236}">
                <a16:creationId xmlns:a16="http://schemas.microsoft.com/office/drawing/2014/main" id="{8CCEF0DB-AA0A-4CE6-9959-A78DEFB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3,59%</a:t>
            </a:r>
          </a:p>
        </p:txBody>
      </p:sp>
      <p:sp>
        <p:nvSpPr>
          <p:cNvPr id="14" name="contract-caption">
            <a:extLst xmlns:a="http://schemas.openxmlformats.org/drawingml/2006/main">
              <a:ext uri="{FF2B5EF4-FFF2-40B4-BE49-F238E27FC236}">
                <a16:creationId xmlns:a16="http://schemas.microsoft.com/office/drawing/2014/main" id="{19C7FDCC-0DDC-4C92-A385-4703A0C9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contratados</a:t>
            </a:r>
          </a:p>
        </p:txBody>
      </p:sp>
      <p:sp>
        <p:nvSpPr>
          <p:cNvPr id="15" name="applied-rate">
            <a:extLst xmlns:a="http://schemas.openxmlformats.org/drawingml/2006/main">
              <a:ext uri="{FF2B5EF4-FFF2-40B4-BE49-F238E27FC236}">
                <a16:creationId xmlns:a16="http://schemas.microsoft.com/office/drawing/2014/main" id="{1B58B7D4-C648-43B4-A484-7BFDE48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767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4,09%</a:t>
            </a:r>
          </a:p>
        </p:txBody>
      </p:sp>
      <p:sp>
        <p:nvSpPr>
          <p:cNvPr id="16" name="applied-caption">
            <a:extLst xmlns:a="http://schemas.openxmlformats.org/drawingml/2006/main">
              <a:ext uri="{FF2B5EF4-FFF2-40B4-BE49-F238E27FC236}">
                <a16:creationId xmlns:a16="http://schemas.microsoft.com/office/drawing/2014/main" id="{3489E64F-5982-4BCC-90D0-F656061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2912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aplicados</a:t>
            </a:r>
          </a:p>
        </p:txBody>
      </p:sp>
      <p:sp>
        <p:nvSpPr>
          <p:cNvPr id="17" name="line-difference">
            <a:extLst xmlns:a="http://schemas.openxmlformats.org/drawingml/2006/main">
              <a:ext uri="{FF2B5EF4-FFF2-40B4-BE49-F238E27FC236}">
                <a16:creationId xmlns:a16="http://schemas.microsoft.com/office/drawing/2014/main" id="{98FCA867-0A12-498E-9294-506E1D34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911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R$ 66,28</a:t>
            </a:r>
          </a:p>
        </p:txBody>
      </p:sp>
      <p:sp>
        <p:nvSpPr>
          <p:cNvPr id="18" name="line-meaning">
            <a:extLst xmlns:a="http://schemas.openxmlformats.org/drawingml/2006/main">
              <a:ext uri="{FF2B5EF4-FFF2-40B4-BE49-F238E27FC236}">
                <a16:creationId xmlns:a16="http://schemas.microsoft.com/office/drawing/2014/main" id="{2A790E10-EA12-4C66-8CC7-646B5796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81650"/>
            <a:ext cx="3905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de diferença nesta linha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F879EE09-C070-492E-9455-1627E86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04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Orbe, linha 749. Taxas vigentes da Rota Global.</a:t>
            </a:r>
          </a:p>
        </p:txBody>
      </p:sp>
    </p:spTree>
    <p:extLst>
      <p:ext uri="{BB962C8B-B14F-4D97-AF65-F5344CB8AC3E}">
        <p14:creationId xmlns:p14="http://schemas.microsoft.com/office/powerpoint/2010/main" val="7737003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061BA-D548-455D-B761-A6AEC8212E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4e3fe64d94ff9">
            <a:extLst>
              <a:ext uri="{96DAC541-7B7A-43D3-8B79-37D633B846F1}">
                <asvg:svgBlip xmlns:asvg="http://schemas.microsoft.com/office/drawing/2016/SVG/main" r:embed="R6a1ae89384624a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rchitecture-section">
            <a:extLst xmlns:a="http://schemas.openxmlformats.org/drawingml/2006/main">
              <a:ext uri="{FF2B5EF4-FFF2-40B4-BE49-F238E27FC236}">
                <a16:creationId xmlns:a16="http://schemas.microsoft.com/office/drawing/2014/main" id="{5410A5B2-B832-48A6-B36C-C7B9C93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311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ARQUITETURA AGÊNTICA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5EB8A0C-7D25-4163-97CB-09389931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21</a:t>
            </a:r>
          </a:p>
        </p:txBody>
      </p:sp>
      <p:sp>
        <p:nvSpPr>
          <p:cNvPr id="5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01AE8B62-9EEE-48E3-80ED-3B02013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5429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Arquitetura agêntica.</a:t>
            </a:r>
          </a:p>
        </p:txBody>
      </p:sp>
      <p:sp>
        <p:nvSpPr>
          <p:cNvPr id="6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51EF51F1-C5D0-4411-ADD3-C08AF22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5429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A apuração é a base.</a:t>
            </a:r>
          </a:p>
        </p:txBody>
      </p:sp>
      <p:sp>
        <p:nvSpPr>
          <p:cNvPr id="7" name="foundation-explanation">
            <a:extLst xmlns:a="http://schemas.openxmlformats.org/drawingml/2006/main">
              <a:ext uri="{FF2B5EF4-FFF2-40B4-BE49-F238E27FC236}">
                <a16:creationId xmlns:a16="http://schemas.microsoft.com/office/drawing/2014/main" id="{BEC6A421-B36D-4D16-A53C-F398498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Fontes preservadas e regras vigentes</a:t>
            </a:r>
          </a:p>
          <a:p xmlns:a="http://schemas.openxmlformats.org/drawingml/2006/main">
            <a:pPr algn="l">
              <a:defRPr sz="20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formam a base de cada caso.</a:t>
            </a:r>
          </a:p>
        </p:txBody>
      </p:sp>
      <p:sp>
        <p:nvSpPr>
          <p:cNvPr id="8" name="foundation-scope">
            <a:extLst xmlns:a="http://schemas.openxmlformats.org/drawingml/2006/main">
              <a:ext uri="{FF2B5EF4-FFF2-40B4-BE49-F238E27FC236}">
                <a16:creationId xmlns:a16="http://schemas.microsoft.com/office/drawing/2014/main" id="{5ECC79B4-F3B4-4FA0-AA94-A759CE0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 cálculo determina os valores.</a:t>
            </a:r>
          </a:p>
          <a:p xmlns:a="http://schemas.openxmlformats.org/drawingml/2006/main">
            <a: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Os agentes investigam as pendências.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24DC9-D230-469B-812C-B75362FC0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583637bb84448"/>
          <a:srcRect xmlns:a="http://schemas.openxmlformats.org/drawingml/2006/main" l="13000" t="7000" r="10000" b="3000"/>
          <a:stretch xmlns:a="http://schemas.openxmlformats.org/drawingml/2006/main"/>
        </p:blipFill>
        <p:spPr>
          <a:xfrm xmlns:a="http://schemas.openxmlformats.org/drawingml/2006/main">
            <a:off x="7162800" y="1609725"/>
            <a:ext cx="4343400" cy="4381500"/>
          </a:xfrm>
          <a:prstGeom xmlns:a="http://schemas.openxmlformats.org/drawingml/2006/main" prst="rect">
            <a:avLst/>
          </a:prstGeom>
        </p:spPr>
      </p:pic>
      <p:sp>
        <p:nvSpPr>
          <p:cNvPr id="10" name="layer-label-Apuração">
            <a:extLst xmlns:a="http://schemas.openxmlformats.org/drawingml/2006/main">
              <a:ext uri="{FF2B5EF4-FFF2-40B4-BE49-F238E27FC236}">
                <a16:creationId xmlns:a16="http://schemas.microsoft.com/office/drawing/2014/main" id="{9347138C-2EB6-4692-A06C-D781D8B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14625"/>
            <a:ext cx="1362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Apuração</a:t>
            </a:r>
          </a:p>
        </p:txBody>
      </p:sp>
      <p:cxnSp>
        <p:nvCxnSpPr>
          <p:cNvPr id="11" name="layer-link-Apuração">
            <a:extLst xmlns:a="http://schemas.openxmlformats.org/drawingml/2006/main">
              <a:ext uri="{FF2B5EF4-FFF2-40B4-BE49-F238E27FC236}">
                <a16:creationId xmlns:a16="http://schemas.microsoft.com/office/drawing/2014/main" id="{3AB9C1EA-B3A6-40F3-BE5A-0F630B7588D3}"/>
              </a:ext>
            </a:extLst>
          </p:cNvPr>
          <p:cNvCxnSpPr/>
          <p:nvPr/>
        </p:nvCxnSpPr>
        <p:spPr>
          <a:xfrm xmlns:a="http://schemas.openxmlformats.org/drawingml/2006/main">
            <a:off x="7115175" y="2924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12" name="layer-anchor-Apuração">
            <a:extLst xmlns:a="http://schemas.openxmlformats.org/drawingml/2006/main">
              <a:ext uri="{FF2B5EF4-FFF2-40B4-BE49-F238E27FC236}">
                <a16:creationId xmlns:a16="http://schemas.microsoft.com/office/drawing/2014/main" id="{67A39D4E-205C-45FE-82CF-9C0CC6CA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975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sp>
        <p:nvSpPr>
          <p:cNvPr id="13" name="layer-label-Regras">
            <a:extLst xmlns:a="http://schemas.openxmlformats.org/drawingml/2006/main">
              <a:ext uri="{FF2B5EF4-FFF2-40B4-BE49-F238E27FC236}">
                <a16:creationId xmlns:a16="http://schemas.microsoft.com/office/drawing/2014/main" id="{EFA9EAB5-E785-4F6E-A6CB-BB3C50F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95725"/>
            <a:ext cx="1362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cxnSp>
        <p:nvCxnSpPr>
          <p:cNvPr id="14" name="layer-link-Regras">
            <a:extLst xmlns:a="http://schemas.openxmlformats.org/drawingml/2006/main">
              <a:ext uri="{FF2B5EF4-FFF2-40B4-BE49-F238E27FC236}">
                <a16:creationId xmlns:a16="http://schemas.microsoft.com/office/drawing/2014/main" id="{FBEDE1D7-B717-448C-85E1-CF81ED670DFB}"/>
              </a:ext>
            </a:extLst>
          </p:cNvPr>
          <p:cNvCxnSpPr/>
          <p:nvPr/>
        </p:nvCxnSpPr>
        <p:spPr>
          <a:xfrm xmlns:a="http://schemas.openxmlformats.org/drawingml/2006/main">
            <a:off x="7115175" y="41052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15" name="layer-anchor-Regras">
            <a:extLst xmlns:a="http://schemas.openxmlformats.org/drawingml/2006/main">
              <a:ext uri="{FF2B5EF4-FFF2-40B4-BE49-F238E27FC236}">
                <a16:creationId xmlns:a16="http://schemas.microsoft.com/office/drawing/2014/main" id="{012A7AA5-1138-4F73-8BDA-2CC852CC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786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sp>
        <p:nvSpPr>
          <p:cNvPr id="16" name="layer-label-Fontes">
            <a:extLst xmlns:a="http://schemas.openxmlformats.org/drawingml/2006/main">
              <a:ext uri="{FF2B5EF4-FFF2-40B4-BE49-F238E27FC236}">
                <a16:creationId xmlns:a16="http://schemas.microsoft.com/office/drawing/2014/main" id="{0AF075C4-2C14-43BF-BBBE-549D4C5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43475"/>
            <a:ext cx="1362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Fontes</a:t>
            </a:r>
          </a:p>
        </p:txBody>
      </p:sp>
      <p:cxnSp>
        <p:nvCxnSpPr>
          <p:cNvPr id="17" name="layer-link-Fontes">
            <a:extLst xmlns:a="http://schemas.openxmlformats.org/drawingml/2006/main">
              <a:ext uri="{FF2B5EF4-FFF2-40B4-BE49-F238E27FC236}">
                <a16:creationId xmlns:a16="http://schemas.microsoft.com/office/drawing/2014/main" id="{FF228E10-156A-48D5-BA9B-F096DE0D38FC}"/>
              </a:ext>
            </a:extLst>
          </p:cNvPr>
          <p:cNvCxnSpPr/>
          <p:nvPr/>
        </p:nvCxnSpPr>
        <p:spPr>
          <a:xfrm xmlns:a="http://schemas.openxmlformats.org/drawingml/2006/main">
            <a:off x="7115175" y="51530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7DFDA"/>
            </a:solidFill>
            <a:prstDash val="solid"/>
          </a:ln>
        </p:spPr>
      </p:cxnSp>
      <p:sp>
        <p:nvSpPr>
          <p:cNvPr id="18" name="layer-anchor-Fontes">
            <a:extLst xmlns:a="http://schemas.openxmlformats.org/drawingml/2006/main">
              <a:ext uri="{FF2B5EF4-FFF2-40B4-BE49-F238E27FC236}">
                <a16:creationId xmlns:a16="http://schemas.microsoft.com/office/drawing/2014/main" id="{DD3F6182-B491-4AB1-B765-A002308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1263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9272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7630C-121B-47D8-86FC-6A62284ED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1dbe2b811486c">
            <a:extLst>
              <a:ext uri="{96DAC541-7B7A-43D3-8B79-37D633B846F1}">
                <asvg:svgBlip xmlns:asvg="http://schemas.microsoft.com/office/drawing/2016/SVG/main" r:embed="Rdf8e743fb90d46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rchitecture-section">
            <a:extLst xmlns:a="http://schemas.openxmlformats.org/drawingml/2006/main">
              <a:ext uri="{FF2B5EF4-FFF2-40B4-BE49-F238E27FC236}">
                <a16:creationId xmlns:a16="http://schemas.microsoft.com/office/drawing/2014/main" id="{F47157B3-DCA5-4B24-BC0F-803F66E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311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ARQUITETURA AGÊNTICA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466B11D-A082-4BF0-9832-18DF541D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22</a:t>
            </a:r>
          </a:p>
        </p:txBody>
      </p:sp>
      <p:sp>
        <p:nvSpPr>
          <p:cNvPr id="5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F86FA679-5F76-45B8-866B-B0EAD793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 resultado ganha</a:t>
            </a:r>
          </a:p>
        </p:txBody>
      </p:sp>
      <p:sp>
        <p:nvSpPr>
          <p:cNvPr id="6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D8AA79DD-F9DC-42D4-8C6D-249F70B1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um caso com origem.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1549C-2C10-4909-B9BD-A1E438091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1b413be3c42e6"/>
          <a:srcRect xmlns:a="http://schemas.openxmlformats.org/drawingml/2006/main" l="3500" t="35500" r="3500" b="19500"/>
          <a:stretch xmlns:a="http://schemas.openxmlformats.org/drawingml/2006/main"/>
        </p:blipFill>
        <p:spPr>
          <a:xfrm xmlns:a="http://schemas.openxmlformats.org/drawingml/2006/main">
            <a:off x="704850" y="3514725"/>
            <a:ext cx="10782300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active-0">
            <a:extLst xmlns:a="http://schemas.openxmlformats.org/drawingml/2006/main">
              <a:ext uri="{FF2B5EF4-FFF2-40B4-BE49-F238E27FC236}">
                <a16:creationId xmlns:a16="http://schemas.microsoft.com/office/drawing/2014/main" id="{D5221831-C717-492C-BC7C-387A33D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cxnSp>
        <p:nvCxnSpPr>
          <p:cNvPr id="9" name="active-link-0">
            <a:extLst xmlns:a="http://schemas.openxmlformats.org/drawingml/2006/main">
              <a:ext uri="{FF2B5EF4-FFF2-40B4-BE49-F238E27FC236}">
                <a16:creationId xmlns:a16="http://schemas.microsoft.com/office/drawing/2014/main" id="{8B3E1B42-3366-4812-86E2-37DE711AA773}"/>
              </a:ext>
            </a:extLst>
          </p:cNvPr>
          <p:cNvCxnSpPr/>
          <p:nvPr/>
        </p:nvCxnSpPr>
        <p:spPr>
          <a:xfrm xmlns:a="http://schemas.openxmlformats.org/drawingml/2006/main">
            <a:off x="1752600" y="50768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</a:ln>
        </p:spPr>
      </p:cxnSp>
      <p:sp>
        <p:nvSpPr>
          <p:cNvPr id="10" name="station-0">
            <a:extLst xmlns:a="http://schemas.openxmlformats.org/drawingml/2006/main">
              <a:ext uri="{FF2B5EF4-FFF2-40B4-BE49-F238E27FC236}">
                <a16:creationId xmlns:a16="http://schemas.microsoft.com/office/drawing/2014/main" id="{88884836-1F71-4EF4-A338-8A30B92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654"/>
                </a:solidFill>
                <a:latin typeface="Arial"/>
                <a:ea typeface="Arial"/>
                <a:cs typeface="Arial"/>
              </a:rPr>
              <a:t>Apuração</a:t>
            </a:r>
          </a:p>
        </p:txBody>
      </p:sp>
      <p:sp>
        <p:nvSpPr>
          <p:cNvPr id="11" name="station-detail-0">
            <a:extLst xmlns:a="http://schemas.openxmlformats.org/drawingml/2006/main">
              <a:ext uri="{FF2B5EF4-FFF2-40B4-BE49-F238E27FC236}">
                <a16:creationId xmlns:a16="http://schemas.microsoft.com/office/drawing/2014/main" id="{6CC422E3-9A13-47B4-A8A0-417028A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Valor e rastro</a:t>
            </a:r>
          </a:p>
        </p:txBody>
      </p:sp>
      <p:sp>
        <p:nvSpPr>
          <p:cNvPr id="12" name="station-1">
            <a:extLst xmlns:a="http://schemas.openxmlformats.org/drawingml/2006/main">
              <a:ext uri="{FF2B5EF4-FFF2-40B4-BE49-F238E27FC236}">
                <a16:creationId xmlns:a16="http://schemas.microsoft.com/office/drawing/2014/main" id="{C12224DD-36BC-4CE5-B409-85C3CE2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Investigador</a:t>
            </a:r>
          </a:p>
        </p:txBody>
      </p:sp>
      <p:sp>
        <p:nvSpPr>
          <p:cNvPr id="13" name="station-detail-1">
            <a:extLst xmlns:a="http://schemas.openxmlformats.org/drawingml/2006/main">
              <a:ext uri="{FF2B5EF4-FFF2-40B4-BE49-F238E27FC236}">
                <a16:creationId xmlns:a16="http://schemas.microsoft.com/office/drawing/2014/main" id="{34C481FE-DC2A-446E-9148-9C91605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Consulta às fontes</a:t>
            </a:r>
          </a:p>
        </p:txBody>
      </p:sp>
      <p:sp>
        <p:nvSpPr>
          <p:cNvPr id="14" name="station-2">
            <a:extLst xmlns:a="http://schemas.openxmlformats.org/drawingml/2006/main">
              <a:ext uri="{FF2B5EF4-FFF2-40B4-BE49-F238E27FC236}">
                <a16:creationId xmlns:a16="http://schemas.microsoft.com/office/drawing/2014/main" id="{A8E3103D-4230-4309-962A-98992F3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Crítico</a:t>
            </a:r>
          </a:p>
        </p:txBody>
      </p:sp>
      <p:sp>
        <p:nvSpPr>
          <p:cNvPr id="15" name="station-detail-2">
            <a:extLst xmlns:a="http://schemas.openxmlformats.org/drawingml/2006/main">
              <a:ext uri="{FF2B5EF4-FFF2-40B4-BE49-F238E27FC236}">
                <a16:creationId xmlns:a16="http://schemas.microsoft.com/office/drawing/2014/main" id="{71D6125A-3E31-48D2-AF37-D16DB3C8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Confronto das evidências</a:t>
            </a:r>
          </a:p>
        </p:txBody>
      </p:sp>
      <p:sp>
        <p:nvSpPr>
          <p:cNvPr id="16" name="station-3">
            <a:extLst xmlns:a="http://schemas.openxmlformats.org/drawingml/2006/main">
              <a:ext uri="{FF2B5EF4-FFF2-40B4-BE49-F238E27FC236}">
                <a16:creationId xmlns:a16="http://schemas.microsoft.com/office/drawing/2014/main" id="{65B88BB6-1660-47A3-98BA-69E3381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17" name="station-detail-3">
            <a:extLst xmlns:a="http://schemas.openxmlformats.org/drawingml/2006/main">
              <a:ext uri="{FF2B5EF4-FFF2-40B4-BE49-F238E27FC236}">
                <a16:creationId xmlns:a16="http://schemas.microsoft.com/office/drawing/2014/main" id="{82CE517F-C41F-4E5F-AD7C-75333BE2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Helena, no caso Rota</a:t>
            </a:r>
          </a:p>
        </p:txBody>
      </p:sp>
      <p:sp>
        <p:nvSpPr>
          <p:cNvPr id="18" name="case-value">
            <a:extLst xmlns:a="http://schemas.openxmlformats.org/drawingml/2006/main">
              <a:ext uri="{FF2B5EF4-FFF2-40B4-BE49-F238E27FC236}">
                <a16:creationId xmlns:a16="http://schemas.microsoft.com/office/drawing/2014/main" id="{E1AA2994-9353-49AF-A1EE-C7E25962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23975"/>
            <a:ext cx="323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R$ 1.546,28</a:t>
            </a:r>
          </a:p>
        </p:txBody>
      </p:sp>
      <p:sp>
        <p:nvSpPr>
          <p:cNvPr id="19" name="case-qualifier">
            <a:extLst xmlns:a="http://schemas.openxmlformats.org/drawingml/2006/main">
              <a:ext uri="{FF2B5EF4-FFF2-40B4-BE49-F238E27FC236}">
                <a16:creationId xmlns:a16="http://schemas.microsoft.com/office/drawing/2014/main" id="{6B284608-0952-4256-BEFD-11DEEDB4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23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Rota Global</a:t>
            </a:r>
          </a:p>
          <a:p xmlns:a="http://schemas.openxmlformats.org/drawingml/2006/main">
            <a:pPr algn="l">
              <a:defRPr sz="172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Diferença líquida para revisão</a:t>
            </a:r>
          </a:p>
        </p:txBody>
      </p:sp>
      <p:sp>
        <p:nvSpPr>
          <p:cNvPr id="20" name="case-input">
            <a:extLst xmlns:a="http://schemas.openxmlformats.org/drawingml/2006/main">
              <a:ext uri="{FF2B5EF4-FFF2-40B4-BE49-F238E27FC236}">
                <a16:creationId xmlns:a16="http://schemas.microsoft.com/office/drawing/2014/main" id="{36A73106-A2FB-4DFF-8CCD-EDD682E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676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Valor, composição e referências</a:t>
            </a:r>
          </a:p>
        </p:txBody>
      </p:sp>
    </p:spTree>
    <p:extLst>
      <p:ext uri="{BB962C8B-B14F-4D97-AF65-F5344CB8AC3E}">
        <p14:creationId xmlns:p14="http://schemas.microsoft.com/office/powerpoint/2010/main" val="11881748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24C1-CA23-4DD0-8D7F-AD30507CF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76b9ca1e5436b">
            <a:extLst>
              <a:ext uri="{96DAC541-7B7A-43D3-8B79-37D633B846F1}">
                <asvg:svgBlip xmlns:asvg="http://schemas.microsoft.com/office/drawing/2016/SVG/main" r:embed="R3ddb259f77be49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rchitecture-section">
            <a:extLst xmlns:a="http://schemas.openxmlformats.org/drawingml/2006/main">
              <a:ext uri="{FF2B5EF4-FFF2-40B4-BE49-F238E27FC236}">
                <a16:creationId xmlns:a16="http://schemas.microsoft.com/office/drawing/2014/main" id="{C99A3889-ED06-49A6-82EE-53E3E24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311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ARQUITETURA AGÊNTICA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1F39149-1DB9-4CDD-B611-29332F4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23</a:t>
            </a:r>
          </a:p>
        </p:txBody>
      </p:sp>
      <p:sp>
        <p:nvSpPr>
          <p:cNvPr id="5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C965FE63-8D0F-4248-87B5-5450CC7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O investigador busca</a:t>
            </a:r>
          </a:p>
        </p:txBody>
      </p:sp>
      <p:sp>
        <p:nvSpPr>
          <p:cNvPr id="6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E89CBDDE-A12E-4AC2-85FB-E9CC284E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contexto nas fontes.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7E254-4B26-42F5-814A-6ED40E160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3a050d0dd4d7f"/>
          <a:srcRect xmlns:a="http://schemas.openxmlformats.org/drawingml/2006/main" l="3500" t="35500" r="3500" b="19500"/>
          <a:stretch xmlns:a="http://schemas.openxmlformats.org/drawingml/2006/main"/>
        </p:blipFill>
        <p:spPr>
          <a:xfrm xmlns:a="http://schemas.openxmlformats.org/drawingml/2006/main">
            <a:off x="704850" y="3514725"/>
            <a:ext cx="10782300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station-0">
            <a:extLst xmlns:a="http://schemas.openxmlformats.org/drawingml/2006/main">
              <a:ext uri="{FF2B5EF4-FFF2-40B4-BE49-F238E27FC236}">
                <a16:creationId xmlns:a16="http://schemas.microsoft.com/office/drawing/2014/main" id="{07F6ACF2-D9B9-4BD4-A84E-A275968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Apuração</a:t>
            </a:r>
          </a:p>
        </p:txBody>
      </p:sp>
      <p:sp>
        <p:nvSpPr>
          <p:cNvPr id="9" name="station-detail-0">
            <a:extLst xmlns:a="http://schemas.openxmlformats.org/drawingml/2006/main">
              <a:ext uri="{FF2B5EF4-FFF2-40B4-BE49-F238E27FC236}">
                <a16:creationId xmlns:a16="http://schemas.microsoft.com/office/drawing/2014/main" id="{E1BDD047-EDD5-4887-B8FD-E96E385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Valor e rastro</a:t>
            </a:r>
          </a:p>
        </p:txBody>
      </p:sp>
      <p:sp>
        <p:nvSpPr>
          <p:cNvPr id="10" name="active-1">
            <a:extLst xmlns:a="http://schemas.openxmlformats.org/drawingml/2006/main">
              <a:ext uri="{FF2B5EF4-FFF2-40B4-BE49-F238E27FC236}">
                <a16:creationId xmlns:a16="http://schemas.microsoft.com/office/drawing/2014/main" id="{BB2D0718-EFDC-403E-B749-E20AB402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cxnSp>
        <p:nvCxnSpPr>
          <p:cNvPr id="11" name="active-link-1">
            <a:extLst xmlns:a="http://schemas.openxmlformats.org/drawingml/2006/main">
              <a:ext uri="{FF2B5EF4-FFF2-40B4-BE49-F238E27FC236}">
                <a16:creationId xmlns:a16="http://schemas.microsoft.com/office/drawing/2014/main" id="{3B0D4B63-CC65-4848-A345-0BFFA089F696}"/>
              </a:ext>
            </a:extLst>
          </p:cNvPr>
          <p:cNvCxnSpPr/>
          <p:nvPr/>
        </p:nvCxnSpPr>
        <p:spPr>
          <a:xfrm xmlns:a="http://schemas.openxmlformats.org/drawingml/2006/main">
            <a:off x="4638675" y="50768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</a:ln>
        </p:spPr>
      </p:cxnSp>
      <p:sp>
        <p:nvSpPr>
          <p:cNvPr id="12" name="station-1">
            <a:extLst xmlns:a="http://schemas.openxmlformats.org/drawingml/2006/main">
              <a:ext uri="{FF2B5EF4-FFF2-40B4-BE49-F238E27FC236}">
                <a16:creationId xmlns:a16="http://schemas.microsoft.com/office/drawing/2014/main" id="{E6034D55-1949-43C6-9055-1CCBB6C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654"/>
                </a:solidFill>
                <a:latin typeface="Arial"/>
                <a:ea typeface="Arial"/>
                <a:cs typeface="Arial"/>
              </a:rPr>
              <a:t>Investigador</a:t>
            </a:r>
          </a:p>
        </p:txBody>
      </p:sp>
      <p:sp>
        <p:nvSpPr>
          <p:cNvPr id="13" name="station-detail-1">
            <a:extLst xmlns:a="http://schemas.openxmlformats.org/drawingml/2006/main">
              <a:ext uri="{FF2B5EF4-FFF2-40B4-BE49-F238E27FC236}">
                <a16:creationId xmlns:a16="http://schemas.microsoft.com/office/drawing/2014/main" id="{F10F675B-6FCE-4950-9DC3-688C79F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Consulta às fontes</a:t>
            </a:r>
          </a:p>
        </p:txBody>
      </p:sp>
      <p:sp>
        <p:nvSpPr>
          <p:cNvPr id="14" name="station-2">
            <a:extLst xmlns:a="http://schemas.openxmlformats.org/drawingml/2006/main">
              <a:ext uri="{FF2B5EF4-FFF2-40B4-BE49-F238E27FC236}">
                <a16:creationId xmlns:a16="http://schemas.microsoft.com/office/drawing/2014/main" id="{88EEED4F-35FD-4903-8BCC-4676BC2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Crítico</a:t>
            </a:r>
          </a:p>
        </p:txBody>
      </p:sp>
      <p:sp>
        <p:nvSpPr>
          <p:cNvPr id="15" name="station-detail-2">
            <a:extLst xmlns:a="http://schemas.openxmlformats.org/drawingml/2006/main">
              <a:ext uri="{FF2B5EF4-FFF2-40B4-BE49-F238E27FC236}">
                <a16:creationId xmlns:a16="http://schemas.microsoft.com/office/drawing/2014/main" id="{4344B509-B07B-477F-8E1B-DC610B12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Confronto das evidências</a:t>
            </a:r>
          </a:p>
        </p:txBody>
      </p:sp>
      <p:sp>
        <p:nvSpPr>
          <p:cNvPr id="16" name="station-3">
            <a:extLst xmlns:a="http://schemas.openxmlformats.org/drawingml/2006/main">
              <a:ext uri="{FF2B5EF4-FFF2-40B4-BE49-F238E27FC236}">
                <a16:creationId xmlns:a16="http://schemas.microsoft.com/office/drawing/2014/main" id="{7608A2AD-21F1-493A-96B0-181B1177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17" name="station-detail-3">
            <a:extLst xmlns:a="http://schemas.openxmlformats.org/drawingml/2006/main">
              <a:ext uri="{FF2B5EF4-FFF2-40B4-BE49-F238E27FC236}">
                <a16:creationId xmlns:a16="http://schemas.microsoft.com/office/drawing/2014/main" id="{2122EC3B-BC29-4640-ABB7-F05E675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Helena, no caso Rota</a:t>
            </a:r>
          </a:p>
        </p:txBody>
      </p:sp>
      <p:sp>
        <p:nvSpPr>
          <p:cNvPr id="18" name="focus-note-title">
            <a:extLst xmlns:a="http://schemas.openxmlformats.org/drawingml/2006/main">
              <a:ext uri="{FF2B5EF4-FFF2-40B4-BE49-F238E27FC236}">
                <a16:creationId xmlns:a16="http://schemas.microsoft.com/office/drawing/2014/main" id="{A7C46C75-5C12-49FB-AB34-7BAB94C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239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4 ferramentas de leitura</a:t>
            </a:r>
          </a:p>
        </p:txBody>
      </p:sp>
      <p:sp>
        <p:nvSpPr>
          <p:cNvPr id="19" name="focus-note-detail">
            <a:extLst xmlns:a="http://schemas.openxmlformats.org/drawingml/2006/main">
              <a:ext uri="{FF2B5EF4-FFF2-40B4-BE49-F238E27FC236}">
                <a16:creationId xmlns:a16="http://schemas.microsoft.com/office/drawing/2014/main" id="{20D25D87-784A-48FC-AA86-C229438F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431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Regras, referências,</a:t>
            </a:r>
          </a:p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fontes e pendências.</a:t>
            </a:r>
          </a:p>
        </p:txBody>
      </p:sp>
      <p:sp>
        <p:nvSpPr>
          <p:cNvPr id="20" name="source-node">
            <a:extLst xmlns:a="http://schemas.openxmlformats.org/drawingml/2006/main">
              <a:ext uri="{FF2B5EF4-FFF2-40B4-BE49-F238E27FC236}">
                <a16:creationId xmlns:a16="http://schemas.microsoft.com/office/drawing/2014/main" id="{280E296A-DE82-491A-A7C0-E34354D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Fontes cadastradas</a:t>
            </a:r>
          </a:p>
        </p:txBody>
      </p:sp>
      <p:cxnSp>
        <p:nvCxnSpPr>
          <p:cNvPr id="21" name="source-tool-link">
            <a:extLst xmlns:a="http://schemas.openxmlformats.org/drawingml/2006/main">
              <a:ext uri="{FF2B5EF4-FFF2-40B4-BE49-F238E27FC236}">
                <a16:creationId xmlns:a16="http://schemas.microsoft.com/office/drawing/2014/main" id="{9D9064AC-0768-470C-A58F-5BEB1869DB14}"/>
              </a:ext>
            </a:extLst>
          </p:cNvPr>
          <p:cNvCxnSpPr/>
          <p:nvPr/>
        </p:nvCxnSpPr>
        <p:spPr>
          <a:xfrm xmlns:a="http://schemas.openxmlformats.org/drawingml/2006/main">
            <a:off x="4638675" y="33718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E6654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2" name="source-query-label">
            <a:extLst xmlns:a="http://schemas.openxmlformats.org/drawingml/2006/main">
              <a:ext uri="{FF2B5EF4-FFF2-40B4-BE49-F238E27FC236}">
                <a16:creationId xmlns:a16="http://schemas.microsoft.com/office/drawing/2014/main" id="{3B9D4371-9D6B-449A-B98E-4E159D8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23" name="source-evidence-label">
            <a:extLst xmlns:a="http://schemas.openxmlformats.org/drawingml/2006/main">
              <a:ext uri="{FF2B5EF4-FFF2-40B4-BE49-F238E27FC236}">
                <a16:creationId xmlns:a16="http://schemas.microsoft.com/office/drawing/2014/main" id="{119E0746-FFF5-460C-8B4A-B1C5FD1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766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</p:spTree>
    <p:extLst>
      <p:ext uri="{BB962C8B-B14F-4D97-AF65-F5344CB8AC3E}">
        <p14:creationId xmlns:p14="http://schemas.microsoft.com/office/powerpoint/2010/main" val="6901350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622F7-A2A4-45CE-89C4-4F28D7AC3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e0327d97c4d23">
            <a:extLst>
              <a:ext uri="{96DAC541-7B7A-43D3-8B79-37D633B846F1}">
                <asvg:svgBlip xmlns:asvg="http://schemas.microsoft.com/office/drawing/2016/SVG/main" r:embed="R2c0fbd9906fc47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rchitecture-section">
            <a:extLst xmlns:a="http://schemas.openxmlformats.org/drawingml/2006/main">
              <a:ext uri="{FF2B5EF4-FFF2-40B4-BE49-F238E27FC236}">
                <a16:creationId xmlns:a16="http://schemas.microsoft.com/office/drawing/2014/main" id="{59862123-4963-474A-9E89-27DEBCB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311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ARQUITETURA AGÊNTICA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1A0ECF0-5D27-4126-86B8-C2D6C6B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24</a:t>
            </a:r>
          </a:p>
        </p:txBody>
      </p:sp>
      <p:sp>
        <p:nvSpPr>
          <p:cNvPr id="5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3AF184B4-88D9-4E19-A564-F9E51BD9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52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Uma segunda leitura</a:t>
            </a:r>
          </a:p>
        </p:txBody>
      </p:sp>
      <p:sp>
        <p:nvSpPr>
          <p:cNvPr id="6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107E2356-11CA-4CC2-9E63-139304ED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524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confronta a interpretação.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51D50-59C9-49A9-836D-EF9EF352F3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3e766cb0b4621"/>
          <a:srcRect xmlns:a="http://schemas.openxmlformats.org/drawingml/2006/main" l="3500" t="35500" r="3500" b="19500"/>
          <a:stretch xmlns:a="http://schemas.openxmlformats.org/drawingml/2006/main"/>
        </p:blipFill>
        <p:spPr>
          <a:xfrm xmlns:a="http://schemas.openxmlformats.org/drawingml/2006/main">
            <a:off x="704850" y="3514725"/>
            <a:ext cx="10782300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station-0">
            <a:extLst xmlns:a="http://schemas.openxmlformats.org/drawingml/2006/main">
              <a:ext uri="{FF2B5EF4-FFF2-40B4-BE49-F238E27FC236}">
                <a16:creationId xmlns:a16="http://schemas.microsoft.com/office/drawing/2014/main" id="{CE9D00A2-253B-46EC-8AA5-582DC25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Apuração</a:t>
            </a:r>
          </a:p>
        </p:txBody>
      </p:sp>
      <p:sp>
        <p:nvSpPr>
          <p:cNvPr id="9" name="station-detail-0">
            <a:extLst xmlns:a="http://schemas.openxmlformats.org/drawingml/2006/main">
              <a:ext uri="{FF2B5EF4-FFF2-40B4-BE49-F238E27FC236}">
                <a16:creationId xmlns:a16="http://schemas.microsoft.com/office/drawing/2014/main" id="{17541163-7A9E-494A-AE0A-E7BBC041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Valor e rastro</a:t>
            </a:r>
          </a:p>
        </p:txBody>
      </p:sp>
      <p:sp>
        <p:nvSpPr>
          <p:cNvPr id="10" name="station-1">
            <a:extLst xmlns:a="http://schemas.openxmlformats.org/drawingml/2006/main">
              <a:ext uri="{FF2B5EF4-FFF2-40B4-BE49-F238E27FC236}">
                <a16:creationId xmlns:a16="http://schemas.microsoft.com/office/drawing/2014/main" id="{7838A72E-3273-4FF0-9BA4-44B58BC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Investigador</a:t>
            </a:r>
          </a:p>
        </p:txBody>
      </p:sp>
      <p:sp>
        <p:nvSpPr>
          <p:cNvPr id="11" name="station-detail-1">
            <a:extLst xmlns:a="http://schemas.openxmlformats.org/drawingml/2006/main">
              <a:ext uri="{FF2B5EF4-FFF2-40B4-BE49-F238E27FC236}">
                <a16:creationId xmlns:a16="http://schemas.microsoft.com/office/drawing/2014/main" id="{AFB0605F-A79F-4226-94BA-4D92E484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Consulta às fontes</a:t>
            </a:r>
          </a:p>
        </p:txBody>
      </p:sp>
      <p:sp>
        <p:nvSpPr>
          <p:cNvPr id="12" name="active-2">
            <a:extLst xmlns:a="http://schemas.openxmlformats.org/drawingml/2006/main">
              <a:ext uri="{FF2B5EF4-FFF2-40B4-BE49-F238E27FC236}">
                <a16:creationId xmlns:a16="http://schemas.microsoft.com/office/drawing/2014/main" id="{D7A40416-D333-4254-A2DA-E6411F1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cxnSp>
        <p:nvCxnSpPr>
          <p:cNvPr id="13" name="active-link-2">
            <a:extLst xmlns:a="http://schemas.openxmlformats.org/drawingml/2006/main">
              <a:ext uri="{FF2B5EF4-FFF2-40B4-BE49-F238E27FC236}">
                <a16:creationId xmlns:a16="http://schemas.microsoft.com/office/drawing/2014/main" id="{1C0A7D77-30E4-4D38-8261-E8544159A826}"/>
              </a:ext>
            </a:extLst>
          </p:cNvPr>
          <p:cNvCxnSpPr/>
          <p:nvPr/>
        </p:nvCxnSpPr>
        <p:spPr>
          <a:xfrm xmlns:a="http://schemas.openxmlformats.org/drawingml/2006/main">
            <a:off x="7524750" y="50768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</a:ln>
        </p:spPr>
      </p:cxnSp>
      <p:sp>
        <p:nvSpPr>
          <p:cNvPr id="14" name="station-2">
            <a:extLst xmlns:a="http://schemas.openxmlformats.org/drawingml/2006/main">
              <a:ext uri="{FF2B5EF4-FFF2-40B4-BE49-F238E27FC236}">
                <a16:creationId xmlns:a16="http://schemas.microsoft.com/office/drawing/2014/main" id="{D661524B-81DB-49E3-9C56-9FCAB7A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654"/>
                </a:solidFill>
                <a:latin typeface="Arial"/>
                <a:ea typeface="Arial"/>
                <a:cs typeface="Arial"/>
              </a:rPr>
              <a:t>Crítico</a:t>
            </a:r>
          </a:p>
        </p:txBody>
      </p:sp>
      <p:sp>
        <p:nvSpPr>
          <p:cNvPr id="15" name="station-detail-2">
            <a:extLst xmlns:a="http://schemas.openxmlformats.org/drawingml/2006/main">
              <a:ext uri="{FF2B5EF4-FFF2-40B4-BE49-F238E27FC236}">
                <a16:creationId xmlns:a16="http://schemas.microsoft.com/office/drawing/2014/main" id="{CA557067-890D-4911-931D-CD78E47B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Confronto das evidências</a:t>
            </a:r>
          </a:p>
        </p:txBody>
      </p:sp>
      <p:sp>
        <p:nvSpPr>
          <p:cNvPr id="16" name="station-3">
            <a:extLst xmlns:a="http://schemas.openxmlformats.org/drawingml/2006/main">
              <a:ext uri="{FF2B5EF4-FFF2-40B4-BE49-F238E27FC236}">
                <a16:creationId xmlns:a16="http://schemas.microsoft.com/office/drawing/2014/main" id="{A43A22FF-49F8-4358-A55C-9C0EA04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17" name="station-detail-3">
            <a:extLst xmlns:a="http://schemas.openxmlformats.org/drawingml/2006/main">
              <a:ext uri="{FF2B5EF4-FFF2-40B4-BE49-F238E27FC236}">
                <a16:creationId xmlns:a16="http://schemas.microsoft.com/office/drawing/2014/main" id="{DDBFFF2F-A34C-4953-A7FA-58D8117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Helena, no caso Rota</a:t>
            </a:r>
          </a:p>
        </p:txBody>
      </p:sp>
      <p:sp>
        <p:nvSpPr>
          <p:cNvPr id="18" name="critic-input">
            <a:extLst xmlns:a="http://schemas.openxmlformats.org/drawingml/2006/main">
              <a:ext uri="{FF2B5EF4-FFF2-40B4-BE49-F238E27FC236}">
                <a16:creationId xmlns:a16="http://schemas.microsoft.com/office/drawing/2014/main" id="{78C433DA-BEFD-46EE-B597-8FDABD9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24175"/>
            <a:ext cx="356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Mesmo caso, interpretação</a:t>
            </a:r>
          </a:p>
          <a:p xmlns:a="http://schemas.openxmlformats.org/drawingml/2006/main">
            <a:pPr algn="ctr">
              <a:defRPr sz="1725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e evidências recuperadas</a:t>
            </a:r>
          </a:p>
        </p:txBody>
      </p:sp>
      <p:cxnSp>
        <p:nvCxnSpPr>
          <p:cNvPr id="19" name="critic-input-link">
            <a:extLst xmlns:a="http://schemas.openxmlformats.org/drawingml/2006/main">
              <a:ext uri="{FF2B5EF4-FFF2-40B4-BE49-F238E27FC236}">
                <a16:creationId xmlns:a16="http://schemas.microsoft.com/office/drawing/2014/main" id="{AE267F57-6C93-4EA6-A4C2-2AF0C49032C5}"/>
              </a:ext>
            </a:extLst>
          </p:cNvPr>
          <p:cNvCxnSpPr/>
          <p:nvPr/>
        </p:nvCxnSpPr>
        <p:spPr>
          <a:xfrm xmlns:a="http://schemas.openxmlformats.org/drawingml/2006/main">
            <a:off x="7524750" y="36385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  <a:tailEnd type="triangle" w="sm" len="sm"/>
          </a:ln>
        </p:spPr>
      </p:cxnSp>
      <p:sp>
        <p:nvSpPr>
          <p:cNvPr id="20" name="critic-boundary">
            <a:extLst xmlns:a="http://schemas.openxmlformats.org/drawingml/2006/main">
              <a:ext uri="{FF2B5EF4-FFF2-40B4-BE49-F238E27FC236}">
                <a16:creationId xmlns:a16="http://schemas.microsoft.com/office/drawing/2014/main" id="{E140724A-D00B-4D3F-8168-4D48D25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 crítico examina o material recebido.</a:t>
            </a:r>
          </a:p>
        </p:txBody>
      </p:sp>
    </p:spTree>
    <p:extLst>
      <p:ext uri="{BB962C8B-B14F-4D97-AF65-F5344CB8AC3E}">
        <p14:creationId xmlns:p14="http://schemas.microsoft.com/office/powerpoint/2010/main" val="5651782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16A2F-B82A-48C3-8926-1776D847E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7b981976748c4">
            <a:extLst>
              <a:ext uri="{96DAC541-7B7A-43D3-8B79-37D633B846F1}">
                <asvg:svgBlip xmlns:asvg="http://schemas.microsoft.com/office/drawing/2016/SVG/main" r:embed="R1cc7a785656640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85775"/>
            <a:ext cx="1000125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rchitecture-section">
            <a:extLst xmlns:a="http://schemas.openxmlformats.org/drawingml/2006/main">
              <a:ext uri="{FF2B5EF4-FFF2-40B4-BE49-F238E27FC236}">
                <a16:creationId xmlns:a16="http://schemas.microsoft.com/office/drawing/2014/main" id="{5D11A4F1-7A4A-4C07-A18B-9D0F40BE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3114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ARQUITETURA AGÊNTICA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FDA6F8A-DDE6-46FF-A26E-A11D80EB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defPPr>
            <a:lvl1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1pPr>
            <a:lvl2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2pPr>
            <a:lvl3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3pPr>
            <a:lvl4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4pPr>
            <a:lvl5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5pPr>
            <a:lvl6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6pPr>
            <a:lvl7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7pPr>
            <a:lvl8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8pPr>
            <a:lvl9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586964"/>
                </a:solidFill>
                <a:latin typeface="Liberation Mono"/>
                <a:ea typeface="Liberation Mono"/>
                <a:cs typeface="Liberation Mono"/>
              </a:rPr>
              <a:t>25</a:t>
            </a:r>
          </a:p>
        </p:txBody>
      </p:sp>
      <p:sp>
        <p:nvSpPr>
          <p:cNvPr id="5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78E825DB-44A7-4190-963A-78AF421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682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32B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32B2A"/>
                </a:solidFill>
                <a:latin typeface="Arial"/>
                <a:ea typeface="Arial"/>
                <a:cs typeface="Arial"/>
              </a:rPr>
              <a:t>A decisão continua</a:t>
            </a:r>
          </a:p>
        </p:txBody>
      </p:sp>
      <p:sp>
        <p:nvSpPr>
          <p:cNvPr id="6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97D0BD55-A72E-4044-B9E6-B45D968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704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com o financeiro.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26A77-1A56-42BC-9297-90003743E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6187bd9e64764"/>
          <a:srcRect xmlns:a="http://schemas.openxmlformats.org/drawingml/2006/main" l="3500" t="35500" r="3500" b="19500"/>
          <a:stretch xmlns:a="http://schemas.openxmlformats.org/drawingml/2006/main"/>
        </p:blipFill>
        <p:spPr>
          <a:xfrm xmlns:a="http://schemas.openxmlformats.org/drawingml/2006/main">
            <a:off x="704850" y="3514725"/>
            <a:ext cx="10782300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station-0">
            <a:extLst xmlns:a="http://schemas.openxmlformats.org/drawingml/2006/main">
              <a:ext uri="{FF2B5EF4-FFF2-40B4-BE49-F238E27FC236}">
                <a16:creationId xmlns:a16="http://schemas.microsoft.com/office/drawing/2014/main" id="{7BB53229-A806-42C8-839A-F1C5A27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Apuração</a:t>
            </a:r>
          </a:p>
        </p:txBody>
      </p:sp>
      <p:sp>
        <p:nvSpPr>
          <p:cNvPr id="9" name="station-detail-0">
            <a:extLst xmlns:a="http://schemas.openxmlformats.org/drawingml/2006/main">
              <a:ext uri="{FF2B5EF4-FFF2-40B4-BE49-F238E27FC236}">
                <a16:creationId xmlns:a16="http://schemas.microsoft.com/office/drawing/2014/main" id="{7922012A-01F5-471F-BED6-ABCCB014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Valor e rastro</a:t>
            </a:r>
          </a:p>
        </p:txBody>
      </p:sp>
      <p:sp>
        <p:nvSpPr>
          <p:cNvPr id="10" name="station-1">
            <a:extLst xmlns:a="http://schemas.openxmlformats.org/drawingml/2006/main">
              <a:ext uri="{FF2B5EF4-FFF2-40B4-BE49-F238E27FC236}">
                <a16:creationId xmlns:a16="http://schemas.microsoft.com/office/drawing/2014/main" id="{40271BAE-F590-4934-873F-0C535F4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Investigador</a:t>
            </a:r>
          </a:p>
        </p:txBody>
      </p:sp>
      <p:sp>
        <p:nvSpPr>
          <p:cNvPr id="11" name="station-detail-1">
            <a:extLst xmlns:a="http://schemas.openxmlformats.org/drawingml/2006/main">
              <a:ext uri="{FF2B5EF4-FFF2-40B4-BE49-F238E27FC236}">
                <a16:creationId xmlns:a16="http://schemas.microsoft.com/office/drawing/2014/main" id="{F8EA30CD-BF25-4E40-BC50-8697883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Consulta às fontes</a:t>
            </a:r>
          </a:p>
        </p:txBody>
      </p:sp>
      <p:sp>
        <p:nvSpPr>
          <p:cNvPr id="12" name="station-2">
            <a:extLst xmlns:a="http://schemas.openxmlformats.org/drawingml/2006/main">
              <a:ext uri="{FF2B5EF4-FFF2-40B4-BE49-F238E27FC236}">
                <a16:creationId xmlns:a16="http://schemas.microsoft.com/office/drawing/2014/main" id="{B350DBEA-AADA-458F-8FF8-00C868CF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Crítico</a:t>
            </a:r>
          </a:p>
        </p:txBody>
      </p:sp>
      <p:sp>
        <p:nvSpPr>
          <p:cNvPr id="13" name="station-detail-2">
            <a:extLst xmlns:a="http://schemas.openxmlformats.org/drawingml/2006/main">
              <a:ext uri="{FF2B5EF4-FFF2-40B4-BE49-F238E27FC236}">
                <a16:creationId xmlns:a16="http://schemas.microsoft.com/office/drawing/2014/main" id="{44300E3D-FBFC-449D-B6C1-9961365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C99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992"/>
                </a:solidFill>
                <a:latin typeface="Arial"/>
                <a:ea typeface="Arial"/>
                <a:cs typeface="Arial"/>
              </a:rPr>
              <a:t>Confronto das evidências</a:t>
            </a:r>
          </a:p>
        </p:txBody>
      </p:sp>
      <p:sp>
        <p:nvSpPr>
          <p:cNvPr id="14" name="active-3">
            <a:extLst xmlns:a="http://schemas.openxmlformats.org/drawingml/2006/main">
              <a:ext uri="{FF2B5EF4-FFF2-40B4-BE49-F238E27FC236}">
                <a16:creationId xmlns:a16="http://schemas.microsoft.com/office/drawing/2014/main" id="{CEE9ECBB-FF89-4438-9253-E2908E9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654"/>
          </a:solidFill>
          <a:ln xmlns:a="http://schemas.openxmlformats.org/drawingml/2006/main" w="0">
            <a:noFill/>
          </a:ln>
        </p:spPr>
      </p:sp>
      <p:cxnSp>
        <p:nvCxnSpPr>
          <p:cNvPr id="15" name="active-link-3">
            <a:extLst xmlns:a="http://schemas.openxmlformats.org/drawingml/2006/main">
              <a:ext uri="{FF2B5EF4-FFF2-40B4-BE49-F238E27FC236}">
                <a16:creationId xmlns:a16="http://schemas.microsoft.com/office/drawing/2014/main" id="{80D33632-C19D-4285-9885-033A70E2716B}"/>
              </a:ext>
            </a:extLst>
          </p:cNvPr>
          <p:cNvCxnSpPr/>
          <p:nvPr/>
        </p:nvCxnSpPr>
        <p:spPr>
          <a:xfrm xmlns:a="http://schemas.openxmlformats.org/drawingml/2006/main">
            <a:off x="10410825" y="50768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</a:ln>
        </p:spPr>
      </p:cxnSp>
      <p:sp>
        <p:nvSpPr>
          <p:cNvPr id="16" name="station-3">
            <a:extLst xmlns:a="http://schemas.openxmlformats.org/drawingml/2006/main">
              <a:ext uri="{FF2B5EF4-FFF2-40B4-BE49-F238E27FC236}">
                <a16:creationId xmlns:a16="http://schemas.microsoft.com/office/drawing/2014/main" id="{457F243D-1E93-4714-88AF-73123E9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816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654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17" name="station-detail-3">
            <a:extLst xmlns:a="http://schemas.openxmlformats.org/drawingml/2006/main">
              <a:ext uri="{FF2B5EF4-FFF2-40B4-BE49-F238E27FC236}">
                <a16:creationId xmlns:a16="http://schemas.microsoft.com/office/drawing/2014/main" id="{D54BA210-AC34-4B54-AF33-A4567485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981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Helena, no caso Rota</a:t>
            </a:r>
          </a:p>
        </p:txBody>
      </p:sp>
      <p:sp>
        <p:nvSpPr>
          <p:cNvPr id="18" name="focus-note-title">
            <a:extLst xmlns:a="http://schemas.openxmlformats.org/drawingml/2006/main">
              <a:ext uri="{FF2B5EF4-FFF2-40B4-BE49-F238E27FC236}">
                <a16:creationId xmlns:a16="http://schemas.microsoft.com/office/drawing/2014/main" id="{1FF0BBB8-F3F6-4929-AF7F-27A24B3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23975"/>
            <a:ext cx="2990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Helena</a:t>
            </a:r>
          </a:p>
        </p:txBody>
      </p:sp>
      <p:sp>
        <p:nvSpPr>
          <p:cNvPr id="19" name="focus-note-detail">
            <a:extLst xmlns:a="http://schemas.openxmlformats.org/drawingml/2006/main">
              <a:ext uri="{FF2B5EF4-FFF2-40B4-BE49-F238E27FC236}">
                <a16:creationId xmlns:a16="http://schemas.microsoft.com/office/drawing/2014/main" id="{BEA2C5C9-3739-4E68-9F3B-6920A53D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Responsável pelo caso Rota.</a:t>
            </a:r>
          </a:p>
          <a:p xmlns:a="http://schemas.openxmlformats.org/drawingml/2006/main">
            <a:pPr algn="l">
              <a:defRPr sz="1800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Parecer experimental.</a:t>
            </a:r>
          </a:p>
        </p:txBody>
      </p:sp>
      <p:sp>
        <p:nvSpPr>
          <p:cNvPr id="20" name="human-handoff">
            <a:extLst xmlns:a="http://schemas.openxmlformats.org/drawingml/2006/main">
              <a:ext uri="{FF2B5EF4-FFF2-40B4-BE49-F238E27FC236}">
                <a16:creationId xmlns:a16="http://schemas.microsoft.com/office/drawing/2014/main" id="{3A872671-C84C-4C9B-A7A7-6CB7EF2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E665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E6654"/>
                </a:solidFill>
                <a:latin typeface="Arial"/>
                <a:ea typeface="Arial"/>
                <a:cs typeface="Arial"/>
              </a:rPr>
              <a:t>Caso e parecer</a:t>
            </a:r>
          </a:p>
        </p:txBody>
      </p:sp>
      <p:cxnSp>
        <p:nvCxnSpPr>
          <p:cNvPr id="21" name="human-handoff-link">
            <a:extLst xmlns:a="http://schemas.openxmlformats.org/drawingml/2006/main">
              <a:ext uri="{FF2B5EF4-FFF2-40B4-BE49-F238E27FC236}">
                <a16:creationId xmlns:a16="http://schemas.microsoft.com/office/drawing/2014/main" id="{314ABA26-7E20-4A09-83C9-1662FE88AA06}"/>
              </a:ext>
            </a:extLst>
          </p:cNvPr>
          <p:cNvCxnSpPr/>
          <p:nvPr/>
        </p:nvCxnSpPr>
        <p:spPr>
          <a:xfrm xmlns:a="http://schemas.openxmlformats.org/drawingml/2006/main">
            <a:off x="10410825" y="34861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E6654"/>
            </a:solidFill>
            <a:prstDash val="solid"/>
            <a:tailEnd type="triangle" w="sm" len="sm"/>
          </a:ln>
        </p:spPr>
      </p:cxnSp>
      <p:sp>
        <p:nvSpPr>
          <p:cNvPr id="22" name="human-boundary">
            <a:extLst xmlns:a="http://schemas.openxmlformats.org/drawingml/2006/main">
              <a:ext uri="{FF2B5EF4-FFF2-40B4-BE49-F238E27FC236}">
                <a16:creationId xmlns:a16="http://schemas.microsoft.com/office/drawing/2014/main" id="{3BDCA282-7314-4877-B246-CB2D31A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14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69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964"/>
                </a:solidFill>
                <a:latin typeface="Arial"/>
                <a:ea typeface="Arial"/>
                <a:cs typeface="Arial"/>
              </a:rPr>
              <a:t>Os valores permanecem vinculados à apuração.</a:t>
            </a:r>
          </a:p>
        </p:txBody>
      </p:sp>
    </p:spTree>
    <p:extLst>
      <p:ext uri="{BB962C8B-B14F-4D97-AF65-F5344CB8AC3E}">
        <p14:creationId xmlns:p14="http://schemas.microsoft.com/office/powerpoint/2010/main" val="311332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2026-10-17T21:19:44.7660000Z</dcterms:created>
  <dcterms:modified xsi:type="dcterms:W3CDTF">2026-10-17T21:19:44.7660000Z</dcterms:modified>
</coreProperties>
</file>