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435aa795174e21" /><Relationship Type="http://schemas.openxmlformats.org/officeDocument/2006/relationships/extended-properties" Target="/docProps/app.xml" Id="Rd7ef5a69fecb4a91" /><Relationship Type="http://schemas.openxmlformats.org/officeDocument/2006/relationships/officeDocument" Target="/ppt/presentation.xml" Id="R0cadcc215e9947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2699b53abd4f79"/>
  </p:sldMasterIdLst>
  <p:notesMasterIdLst>
    <p:notesMasterId xmlns:r="http://schemas.openxmlformats.org/officeDocument/2006/relationships" r:id="Re1fcf4b3806642a5"/>
  </p:notesMasterIdLst>
  <p:sldIdLst>
    <p:sldId xmlns:r="http://schemas.openxmlformats.org/officeDocument/2006/relationships" id="256" r:id="Rd4ee377eb7de4d63"/>
    <p:sldId xmlns:r="http://schemas.openxmlformats.org/officeDocument/2006/relationships" id="257" r:id="R367f7273ce754f5e"/>
    <p:sldId xmlns:r="http://schemas.openxmlformats.org/officeDocument/2006/relationships" id="258" r:id="R006d5c0978cf4b56"/>
    <p:sldId xmlns:r="http://schemas.openxmlformats.org/officeDocument/2006/relationships" id="259" r:id="Re8f6e20c775c4834"/>
    <p:sldId xmlns:r="http://schemas.openxmlformats.org/officeDocument/2006/relationships" id="260" r:id="Re592dbdab73349d6"/>
    <p:sldId xmlns:r="http://schemas.openxmlformats.org/officeDocument/2006/relationships" id="261" r:id="R5c43c6a694894ca3"/>
    <p:sldId xmlns:r="http://schemas.openxmlformats.org/officeDocument/2006/relationships" id="262" r:id="R49c712c96346412f"/>
    <p:sldId xmlns:r="http://schemas.openxmlformats.org/officeDocument/2006/relationships" id="263" r:id="Rdfbd5e80fc8f4c71"/>
    <p:sldId xmlns:r="http://schemas.openxmlformats.org/officeDocument/2006/relationships" id="264" r:id="Re961537d13c94f60"/>
    <p:sldId xmlns:r="http://schemas.openxmlformats.org/officeDocument/2006/relationships" id="265" r:id="R4a4b19917cb54758"/>
    <p:sldId xmlns:r="http://schemas.openxmlformats.org/officeDocument/2006/relationships" id="266" r:id="R2f09c6aa75c64acc"/>
    <p:sldId xmlns:r="http://schemas.openxmlformats.org/officeDocument/2006/relationships" id="267" r:id="R376aca6d2cc1403e"/>
    <p:sldId xmlns:r="http://schemas.openxmlformats.org/officeDocument/2006/relationships" id="268" r:id="R527f443870a84a53"/>
    <p:sldId xmlns:r="http://schemas.openxmlformats.org/officeDocument/2006/relationships" id="269" r:id="Rd572c54031e84c47"/>
    <p:sldId xmlns:r="http://schemas.openxmlformats.org/officeDocument/2006/relationships" id="270" r:id="Rc60e7a0b89bc4344"/>
    <p:sldId xmlns:r="http://schemas.openxmlformats.org/officeDocument/2006/relationships" id="271" r:id="R1ea8be7ec3584364"/>
    <p:sldId xmlns:r="http://schemas.openxmlformats.org/officeDocument/2006/relationships" id="272" r:id="R829f1f92a8ab420f"/>
    <p:sldId xmlns:r="http://schemas.openxmlformats.org/officeDocument/2006/relationships" id="273" r:id="Rf6220327d37c4ff8"/>
    <p:sldId xmlns:r="http://schemas.openxmlformats.org/officeDocument/2006/relationships" id="274" r:id="Rfdf100f25dc44499"/>
    <p:sldId xmlns:r="http://schemas.openxmlformats.org/officeDocument/2006/relationships" id="275" r:id="R13d506bdac1249a1"/>
    <p:sldId xmlns:r="http://schemas.openxmlformats.org/officeDocument/2006/relationships" id="276" r:id="R58c298f58fed458e"/>
    <p:sldId xmlns:r="http://schemas.openxmlformats.org/officeDocument/2006/relationships" id="277" r:id="Rc5f7ee82c5ff4c6c"/>
    <p:sldId xmlns:r="http://schemas.openxmlformats.org/officeDocument/2006/relationships" id="278" r:id="R998f1d78a249464f"/>
    <p:sldId xmlns:r="http://schemas.openxmlformats.org/officeDocument/2006/relationships" id="279" r:id="Rf755c4bdbe994ab5"/>
    <p:sldId xmlns:r="http://schemas.openxmlformats.org/officeDocument/2006/relationships" id="280" r:id="R59620a2d5c854bc4"/>
    <p:sldId xmlns:r="http://schemas.openxmlformats.org/officeDocument/2006/relationships" id="281" r:id="R2d04ab692b0747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3b396850c849dc" /><Relationship Type="http://schemas.openxmlformats.org/officeDocument/2006/relationships/slideMaster" Target="/ppt/slideMasters/slideMaster1.xml" Id="Ra32699b53abd4f79" /><Relationship Type="http://schemas.openxmlformats.org/officeDocument/2006/relationships/notesMaster" Target="/ppt/notesMasters/notesMaster1.xml" Id="Re1fcf4b3806642a5" /><Relationship Type="http://schemas.openxmlformats.org/officeDocument/2006/relationships/presProps" Target="/ppt/presProps.xml" Id="Rc5a2787ac624447b" /><Relationship Type="http://schemas.openxmlformats.org/officeDocument/2006/relationships/tableStyles" Target="/ppt/tableStyles.xml" Id="R5c200e12bad74685" /><Relationship Type="http://schemas.openxmlformats.org/officeDocument/2006/relationships/slide" Target="/ppt/slides/slide1.xml" Id="Rd4ee377eb7de4d63" /><Relationship Type="http://schemas.openxmlformats.org/officeDocument/2006/relationships/slide" Target="/ppt/slides/slide2.xml" Id="R367f7273ce754f5e" /><Relationship Type="http://schemas.openxmlformats.org/officeDocument/2006/relationships/slide" Target="/ppt/slides/slide3.xml" Id="R006d5c0978cf4b56" /><Relationship Type="http://schemas.openxmlformats.org/officeDocument/2006/relationships/slide" Target="/ppt/slides/slide4.xml" Id="Re8f6e20c775c4834" /><Relationship Type="http://schemas.openxmlformats.org/officeDocument/2006/relationships/slide" Target="/ppt/slides/slide5.xml" Id="Re592dbdab73349d6" /><Relationship Type="http://schemas.openxmlformats.org/officeDocument/2006/relationships/slide" Target="/ppt/slides/slide6.xml" Id="R5c43c6a694894ca3" /><Relationship Type="http://schemas.openxmlformats.org/officeDocument/2006/relationships/slide" Target="/ppt/slides/slide7.xml" Id="R49c712c96346412f" /><Relationship Type="http://schemas.openxmlformats.org/officeDocument/2006/relationships/slide" Target="/ppt/slides/slide8.xml" Id="Rdfbd5e80fc8f4c71" /><Relationship Type="http://schemas.openxmlformats.org/officeDocument/2006/relationships/slide" Target="/ppt/slides/slide9.xml" Id="Re961537d13c94f60" /><Relationship Type="http://schemas.openxmlformats.org/officeDocument/2006/relationships/slide" Target="/ppt/slides/slide10.xml" Id="R4a4b19917cb54758" /><Relationship Type="http://schemas.openxmlformats.org/officeDocument/2006/relationships/slide" Target="/ppt/slides/slide11.xml" Id="R2f09c6aa75c64acc" /><Relationship Type="http://schemas.openxmlformats.org/officeDocument/2006/relationships/slide" Target="/ppt/slides/slide12.xml" Id="R376aca6d2cc1403e" /><Relationship Type="http://schemas.openxmlformats.org/officeDocument/2006/relationships/slide" Target="/ppt/slides/slide13.xml" Id="R527f443870a84a53" /><Relationship Type="http://schemas.openxmlformats.org/officeDocument/2006/relationships/slide" Target="/ppt/slides/slide14.xml" Id="Rd572c54031e84c47" /><Relationship Type="http://schemas.openxmlformats.org/officeDocument/2006/relationships/slide" Target="/ppt/slides/slide15.xml" Id="Rc60e7a0b89bc4344" /><Relationship Type="http://schemas.openxmlformats.org/officeDocument/2006/relationships/slide" Target="/ppt/slides/slide16.xml" Id="R1ea8be7ec3584364" /><Relationship Type="http://schemas.openxmlformats.org/officeDocument/2006/relationships/slide" Target="/ppt/slides/slide17.xml" Id="R829f1f92a8ab420f" /><Relationship Type="http://schemas.openxmlformats.org/officeDocument/2006/relationships/slide" Target="/ppt/slides/slide18.xml" Id="Rf6220327d37c4ff8" /><Relationship Type="http://schemas.openxmlformats.org/officeDocument/2006/relationships/slide" Target="/ppt/slides/slide19.xml" Id="Rfdf100f25dc44499" /><Relationship Type="http://schemas.openxmlformats.org/officeDocument/2006/relationships/slide" Target="/ppt/slides/slide20.xml" Id="R13d506bdac1249a1" /><Relationship Type="http://schemas.openxmlformats.org/officeDocument/2006/relationships/slide" Target="/ppt/slides/slide21.xml" Id="R58c298f58fed458e" /><Relationship Type="http://schemas.openxmlformats.org/officeDocument/2006/relationships/slide" Target="/ppt/slides/slide22.xml" Id="Rc5f7ee82c5ff4c6c" /><Relationship Type="http://schemas.openxmlformats.org/officeDocument/2006/relationships/slide" Target="/ppt/slides/slide23.xml" Id="R998f1d78a249464f" /><Relationship Type="http://schemas.openxmlformats.org/officeDocument/2006/relationships/slide" Target="/ppt/slides/slide24.xml" Id="Rf755c4bdbe994ab5" /><Relationship Type="http://schemas.openxmlformats.org/officeDocument/2006/relationships/slide" Target="/ppt/slides/slide25.xml" Id="R59620a2d5c854bc4" /><Relationship Type="http://schemas.openxmlformats.org/officeDocument/2006/relationships/slide" Target="/ppt/slides/slide26.xml" Id="R2d04ab692b0747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7b52b6fc624a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2d74d2bee949ab" /><Relationship Type="http://schemas.openxmlformats.org/officeDocument/2006/relationships/notesMaster" Target="/ppt/notesMasters/notesMaster1.xml" Id="R3827ffabfbef43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1eca8033f9453c" /><Relationship Type="http://schemas.openxmlformats.org/officeDocument/2006/relationships/notesMaster" Target="/ppt/notesMasters/notesMaster1.xml" Id="R49badf94b08042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a6a2689cfb4b0a" /><Relationship Type="http://schemas.openxmlformats.org/officeDocument/2006/relationships/notesMaster" Target="/ppt/notesMasters/notesMaster1.xml" Id="Rcde70bf5dcdf4f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88bf32c0ef4267" /><Relationship Type="http://schemas.openxmlformats.org/officeDocument/2006/relationships/notesMaster" Target="/ppt/notesMasters/notesMaster1.xml" Id="Rbccf747e177a4a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32aee3769c4eb4" /><Relationship Type="http://schemas.openxmlformats.org/officeDocument/2006/relationships/notesMaster" Target="/ppt/notesMasters/notesMaster1.xml" Id="R4479d54d2e9040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c28289226d4e33" /><Relationship Type="http://schemas.openxmlformats.org/officeDocument/2006/relationships/notesMaster" Target="/ppt/notesMasters/notesMaster1.xml" Id="R9ac820cc795040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0472d3dd9f4684" /><Relationship Type="http://schemas.openxmlformats.org/officeDocument/2006/relationships/notesMaster" Target="/ppt/notesMasters/notesMaster1.xml" Id="R88e7de49fb9c40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d3b6ceca7e4fb1" /><Relationship Type="http://schemas.openxmlformats.org/officeDocument/2006/relationships/notesMaster" Target="/ppt/notesMasters/notesMaster1.xml" Id="Rfa40884fe4694b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6f0a4ba56a40d1" /><Relationship Type="http://schemas.openxmlformats.org/officeDocument/2006/relationships/notesMaster" Target="/ppt/notesMasters/notesMaster1.xml" Id="Raef2bf8827064c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2a25f763db4b57" /><Relationship Type="http://schemas.openxmlformats.org/officeDocument/2006/relationships/notesMaster" Target="/ppt/notesMasters/notesMaster1.xml" Id="R5d298b47b94347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9233c759b84c96" /><Relationship Type="http://schemas.openxmlformats.org/officeDocument/2006/relationships/notesMaster" Target="/ppt/notesMasters/notesMaster1.xml" Id="R8a063edb62b24f2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fb276ea84048bc" /><Relationship Type="http://schemas.openxmlformats.org/officeDocument/2006/relationships/notesMaster" Target="/ppt/notesMasters/notesMaster1.xml" Id="Rb377615456df40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6ffeaff03d4edd" /><Relationship Type="http://schemas.openxmlformats.org/officeDocument/2006/relationships/notesMaster" Target="/ppt/notesMasters/notesMaster1.xml" Id="Rf483aefbe10842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df2cdc213a4324" /><Relationship Type="http://schemas.openxmlformats.org/officeDocument/2006/relationships/notesMaster" Target="/ppt/notesMasters/notesMaster1.xml" Id="Rdd873cd1c65f4e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69e02758144ba4" /><Relationship Type="http://schemas.openxmlformats.org/officeDocument/2006/relationships/notesMaster" Target="/ppt/notesMasters/notesMaster1.xml" Id="R9b9f350693f946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6fbbc4b573e4b9a" /><Relationship Type="http://schemas.openxmlformats.org/officeDocument/2006/relationships/notesMaster" Target="/ppt/notesMasters/notesMaster1.xml" Id="Ra836aa65950046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9cc27bbbaed4c32" /><Relationship Type="http://schemas.openxmlformats.org/officeDocument/2006/relationships/notesMaster" Target="/ppt/notesMasters/notesMaster1.xml" Id="R5f0907ddfdc649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2a3c796ad64fa6" /><Relationship Type="http://schemas.openxmlformats.org/officeDocument/2006/relationships/notesMaster" Target="/ppt/notesMasters/notesMaster1.xml" Id="Rc912ceb39bf044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bfe37cfabf94f5d" /><Relationship Type="http://schemas.openxmlformats.org/officeDocument/2006/relationships/notesMaster" Target="/ppt/notesMasters/notesMaster1.xml" Id="R7e125ab9191142c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401a269a4a54185" /><Relationship Type="http://schemas.openxmlformats.org/officeDocument/2006/relationships/notesMaster" Target="/ppt/notesMasters/notesMaster1.xml" Id="Rfe6f82db387744a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b04034eb5b47b0" /><Relationship Type="http://schemas.openxmlformats.org/officeDocument/2006/relationships/notesMaster" Target="/ppt/notesMasters/notesMaster1.xml" Id="R0d5ad8436949490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29eb38b14794735" /><Relationship Type="http://schemas.openxmlformats.org/officeDocument/2006/relationships/notesMaster" Target="/ppt/notesMasters/notesMaster1.xml" Id="R8738312176b243e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8516ff5ed704037" /><Relationship Type="http://schemas.openxmlformats.org/officeDocument/2006/relationships/notesMaster" Target="/ppt/notesMasters/notesMaster1.xml" Id="Rb2ef387c508742c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635c11b18c246c9" /><Relationship Type="http://schemas.openxmlformats.org/officeDocument/2006/relationships/notesMaster" Target="/ppt/notesMasters/notesMaster1.xml" Id="Re908564f220342a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3282a8cd0594b42" /><Relationship Type="http://schemas.openxmlformats.org/officeDocument/2006/relationships/notesMaster" Target="/ppt/notesMasters/notesMaster1.xml" Id="Ra9f67ee632294a9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6387c3301e64f04" /><Relationship Type="http://schemas.openxmlformats.org/officeDocument/2006/relationships/notesMaster" Target="/ppt/notesMasters/notesMaster1.xml" Id="R9f87258b9d1544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Lastro. Fechamento financeiro da Tarvo.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Essa é a Tarvo.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Hoje, o financeiro dela se apoia em três frentes que não se conectam.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 um lado, uma planilha com as taxas e condições de cada lojista.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outro, relatórios dos parceiros e extratos bancários mostrando o que foi cobrado e movimentado.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E, entre essas duas pontas, a Helena, que guarda o contexto dos acordos e das exceções que os arquivos não explicam.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fim do mês, o time precisa juntar essas três frentes para descobrir quanto pode faturar...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...o que precisa corrigir...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...e quais valores continuam pendentes.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Esse trabalho leva oito dias úteis, abre espaço para cobranças incorretas e deixa o fechamento dependente de quem conhece as regras.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Para juntar essas informações, a gente precisa saber qual regra vale para cada operação.</a:t>
            </a:r>
          </a:p>
          <a:p xmlns:a="http://schemas.openxmlformats.org/drawingml/2006/main">
            <a:r>
              <a:t>• Uma taxa depende do contrato e da data. Um estorno precisa respeitar a venda original.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Foi esse processo que a gente organizou no Lastro.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Lastro é um gerenciador inteligente do fechamento financeiro da Tarvo.</a:t>
            </a:r>
          </a:p>
          <a:p xmlns:a="http://schemas.openxmlformats.org/drawingml/2006/main">
            <a:r>
              <a:t>• Ele reúne os arquivos e as regras da operação, apura as comissões, confere as cobranças e organiza as pendências para revisão do financeiro.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https://github.com/DavidDeodato/Hackathon_barte/blob/b43e80e521646cc46b09e8f2c920fb035c20644d/src/tarvo/finance/engine.py e https://github.com/DavidDeodato/Hackathon_barte/blob/b43e80e521646cc46b09e8f2c920fb035c20644d/src/tarvo/agents/case_review.py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 analista começa pelos arquivos que o financeiro já recebe.</a:t>
            </a:r>
          </a:p>
          <a:p xmlns:a="http://schemas.openxmlformats.org/drawingml/2006/main">
            <a:r>
              <a:t>• O Lastro lê o relatório da Orbe e seus ajustes, o anexo do e-mail da Ponte, a planilha de taxas e os extratos dos dois bancos, junto com o plano de contas.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Depois, ele relaciona os identificadores da operação ao lojista e à condição comercial válida naquela data.</a:t>
            </a:r>
          </a:p>
          <a:p xmlns:a="http://schemas.openxmlformats.org/drawingml/2006/main">
            <a:r>
              <a:t>• As orientações do financeiro ficam registradas com suas fontes. O que ainda depende de confirmação continua como hipótese ou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No checkout, ele calcula a comissão pela condição contratada e compara com a taxa que foi aplicada.</a:t>
            </a:r>
          </a:p>
          <a:p xmlns:a="http://schemas.openxmlformats.org/drawingml/2006/main">
            <a:r>
              <a:t>• Estornos e reversões entram com o tratamento da operação original. A soma é feita a partir dos valores de cada linha.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Nas remessas, ele calcula os 50% de participação da Tarvo sobre o spread realizado elegível.</a:t>
            </a:r>
          </a:p>
          <a:p xmlns:a="http://schemas.openxmlformats.org/drawingml/2006/main">
            <a:r>
              <a:t>• Também verifica duplicidades e diferenças em relação ao contrato. Os spreads negativos contestados ficam fora da comissão e seguem como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Nos extratos, ele propõe a classificação de cada movimento no plano de contas.</a:t>
            </a:r>
          </a:p>
          <a:p xmlns:a="http://schemas.openxmlformats.org/drawingml/2006/main">
            <a:r>
              <a:t>• Um recebimento pode baixar uma comissão de agosto. Uma transferência pode continuar em trânsito no fim de setembro. O tratamento depende da natureza do movimento.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As três frentes alimentam as entregas pedidas no desafio.</a:t>
            </a:r>
          </a:p>
          <a:p xmlns:a="http://schemas.openxmlformats.org/drawingml/2006/main">
            <a:r>
              <a:t>• São seis arquivos: comissões, divergências, notas a emitir, lançamentos classificados, pendências e rastro.</a:t>
            </a:r>
          </a:p>
          <a:p xmlns:a="http://schemas.openxmlformats.org/drawingml/2006/main">
            <a:r>
              <a:t>• As notas ficam preparadas para revisão. A emissão fiscal continua fora desse fluxo.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Ao abrir um valor, a analista encontra as operações que formam aquele total, a regra aplicada e a referência da fonte.</a:t>
            </a:r>
          </a:p>
          <a:p xmlns:a="http://schemas.openxmlformats.org/drawingml/2006/main">
            <a:r>
              <a:t>• A soma dessas contribuições precisa conferir com o resultado apresentado.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Vamos abrir a Rota Global para conferir esse caminho.</a:t>
            </a:r>
          </a:p>
          <a:p xmlns:a="http://schemas.openxmlformats.org/drawingml/2006/main">
            <a:r>
              <a:t>• O líquido preparado para revisão é de R$ 1.546,28. Uma das operações contribui com R$ 66,28: taxa contratada de 3,59%, aplicada de 4,09%, com origem na linha 749 da Orbe.</a:t>
            </a:r>
          </a:p>
          <a:p xmlns:a="http://schemas.openxmlformats.org/drawingml/2006/main">
            <a:r>
              <a:t>• O valor está preparado para revisão da Helena e eventual contestação à Orbe. Isso não comprova envio nem recuperação.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https://github.com/DavidDeodato/Hackathon_barte/blob/b43e80e521646cc46b09e8f2c920fb035c20644d/saida/rota_packet.json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Exemplo nativo de apuração, não captura de uma execução da interface. Pacote atualizado close-2068e24a102ebea3, estado prepared_for_review. Operação: 01_orbe_relatorio_comissoes_set2026.csv#TX88423647@L749. Contrato: 02_tabela_taxas_contratadas.xlsx#Taxas vigentes!A10:L10. Não houve novo recálculo independente nesta etapa de produção dos slides.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Até aqui, vimos como o Lastro apura os valores e mostra suas origens.</a:t>
            </a:r>
          </a:p>
          <a:p xmlns:a="http://schemas.openxmlformats.org/drawingml/2006/main">
            <a:r>
              <a:t>• Agora vamos entrar na arquitetura agêntica: como esses resultados viram um caso para investigação e revisão.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 partir da apuração, o sistema monta um pacote do caso.</a:t>
            </a:r>
          </a:p>
          <a:p xmlns:a="http://schemas.openxmlformats.org/drawingml/2006/main">
            <a:r>
              <a:t>• Ele reúne valor, composição, natureza da ação, fontes, responsável e o que falta para encerrar a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investigador recebe esse pacote e usa ferramentas para localizar as regras e as referências que ajudam a interpretar o caso.</a:t>
            </a:r>
          </a:p>
          <a:p xmlns:a="http://schemas.openxmlformats.org/drawingml/2006/main">
            <a:r>
              <a:t>• Ele pode buscar regras, consultar uma referência, ler uma fonte cadastrada e verificar pendências. A interpretação vem acompanhada das evidências consultadas.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Depois, outro papel examina a interpretação: o crítico.</a:t>
            </a:r>
          </a:p>
          <a:p xmlns:a="http://schemas.openxmlformats.org/drawingml/2006/main">
            <a:r>
              <a:t>• Ele recebe o mesmo pacote, a conclusão do investigador e as evidências recuperadas. Procura contradições, generalizações e decisões sem sustentação suficiente.</a:t>
            </a:r>
          </a:p>
          <a:p xmlns:a="http://schemas.openxmlformats.org/drawingml/2006/main">
            <a:r>
              <a:t>• Nesta implementação, o crítico examina esse material recebido. Ele não faz uma nova busca de ferramentas.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resultado dessa investigação volta para a analista com as fontes, as observações e o que ainda precisa de confirmação.</a:t>
            </a:r>
          </a:p>
          <a:p xmlns:a="http://schemas.openxmlformats.org/drawingml/2006/main">
            <a:r>
              <a:t>• Os valores continuam vinculados à apuração. Helena e o Comercial mantêm as decisões que lhes cabem.</a:t>
            </a:r>
          </a:p>
          <a:p xmlns:a="http://schemas.openxmlformats.org/drawingml/2006/main">
            <a:r>
              <a:t>• O parecer é experimental e ainda precisa ser conferido. A conclusão do modelo não aprova, envia ou movimenta recursos.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3c1ddac8546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aa877eb754411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5437924a094e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ed92e42e045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bf92845c244b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88f1896e348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A098EC-4316-4EC5-BA0B-A0CB8044E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D3EEA7-1387-4789-905E-247541E14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80090E-6EDF-4D91-BD3D-11F80A7794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0EFE98-F102-4721-80D4-044672668C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7723E3-CBF7-4347-B1B6-337422AA07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D7D576-B581-463C-9167-29E4912996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5D19EFF-E9B0-4334-8370-DFA32073E8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7594A4B-DFF4-4DA5-8CC9-1824874CF3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A11DC9-5626-40C1-B825-231573D22E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BB01604-6EB7-4E4A-9D3E-68A9B54399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cdc618156842d1" /><Relationship Type="http://schemas.openxmlformats.org/officeDocument/2006/relationships/slideLayout" Target="/ppt/slideLayouts/slideLayout1.xml" Id="Re4a0515e51a444c1" /><Relationship Type="http://schemas.openxmlformats.org/officeDocument/2006/relationships/slideLayout" Target="/ppt/slideLayouts/slideLayout2.xml" Id="R18365a347a634233" /><Relationship Type="http://schemas.openxmlformats.org/officeDocument/2006/relationships/slideLayout" Target="/ppt/slideLayouts/slideLayout3.xml" Id="R2bb0231dfbcc458e" /><Relationship Type="http://schemas.openxmlformats.org/officeDocument/2006/relationships/slideLayout" Target="/ppt/slideLayouts/slideLayout4.xml" Id="Re36e9c87270f498b" /><Relationship Type="http://schemas.openxmlformats.org/officeDocument/2006/relationships/slideLayout" Target="/ppt/slideLayouts/slideLayout5.xml" Id="R26afa64af8ea426b" /><Relationship Type="http://schemas.openxmlformats.org/officeDocument/2006/relationships/slideLayout" Target="/ppt/slideLayouts/slideLayout6.xml" Id="Rdb673166b5764f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0515e51a444c1"/>
    <p:sldLayoutId xmlns:r="http://schemas.openxmlformats.org/officeDocument/2006/relationships" id="2147483650" r:id="R18365a347a634233"/>
    <p:sldLayoutId xmlns:r="http://schemas.openxmlformats.org/officeDocument/2006/relationships" id="2147483651" r:id="R2bb0231dfbcc458e"/>
    <p:sldLayoutId xmlns:r="http://schemas.openxmlformats.org/officeDocument/2006/relationships" id="2147483652" r:id="Re36e9c87270f498b"/>
    <p:sldLayoutId xmlns:r="http://schemas.openxmlformats.org/officeDocument/2006/relationships" id="2147483653" r:id="R26afa64af8ea426b"/>
    <p:sldLayoutId xmlns:r="http://schemas.openxmlformats.org/officeDocument/2006/relationships" id="2147483654" r:id="Rdb673166b5764f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976514fe604113" /><Relationship Type="http://schemas.openxmlformats.org/officeDocument/2006/relationships/image" Target="/ppt/media/image.png" Id="Rcecd1f74d8964c5d" /><Relationship Type="http://schemas.openxmlformats.org/officeDocument/2006/relationships/image" Target="/ppt/media/image.svg" Id="R8c52a42b8dcc4adc" /><Relationship Type="http://schemas.openxmlformats.org/officeDocument/2006/relationships/image" Target="/ppt/media/image2.png" Id="Rde060db9a6924c40" /><Relationship Type="http://schemas.openxmlformats.org/officeDocument/2006/relationships/notesSlide" Target="/ppt/notesSlides/notesSlide1.xml" Id="Rfec8add327254a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af26f9eacb4e56" /><Relationship Type="http://schemas.openxmlformats.org/officeDocument/2006/relationships/image" Target="/ppt/media/image3.png" Id="R9aae27739e944433" /><Relationship Type="http://schemas.openxmlformats.org/officeDocument/2006/relationships/image" Target="/ppt/media/image2.svg" Id="R2117af3ec30547b6" /><Relationship Type="http://schemas.openxmlformats.org/officeDocument/2006/relationships/image" Target="/ppt/media/image4.png" Id="R400bd694cd98463a" /><Relationship Type="http://schemas.openxmlformats.org/officeDocument/2006/relationships/notesSlide" Target="/ppt/notesSlides/notesSlide2.xml" Id="R1f99d2b3a5a044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b3f3aa6f074a7f" /><Relationship Type="http://schemas.openxmlformats.org/officeDocument/2006/relationships/image" Target="/ppt/media/image5.png" Id="R9065a40749074289" /><Relationship Type="http://schemas.openxmlformats.org/officeDocument/2006/relationships/image" Target="/ppt/media/image3.svg" Id="R57b6261d0aca4c97" /><Relationship Type="http://schemas.openxmlformats.org/officeDocument/2006/relationships/notesSlide" Target="/ppt/notesSlides/notesSlide3.xml" Id="Rd85b572e89c949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804890d44c4b76" /><Relationship Type="http://schemas.openxmlformats.org/officeDocument/2006/relationships/image" Target="/ppt/media/image6.png" Id="Rfd61ed4802c54a18" /><Relationship Type="http://schemas.openxmlformats.org/officeDocument/2006/relationships/image" Target="/ppt/media/image4.svg" Id="R3a5631563a90497c" /><Relationship Type="http://schemas.openxmlformats.org/officeDocument/2006/relationships/image" Target="/ppt/media/image7.png" Id="Rfd067432aa3d4f89" /><Relationship Type="http://schemas.openxmlformats.org/officeDocument/2006/relationships/notesSlide" Target="/ppt/notesSlides/notesSlide4.xml" Id="R482d4d8262b742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21c7c67bee458b" /><Relationship Type="http://schemas.openxmlformats.org/officeDocument/2006/relationships/image" Target="/ppt/media/image8.png" Id="Rf7ff7692591444e0" /><Relationship Type="http://schemas.openxmlformats.org/officeDocument/2006/relationships/image" Target="/ppt/media/image5.svg" Id="R3e8a1fb716664a42" /><Relationship Type="http://schemas.openxmlformats.org/officeDocument/2006/relationships/image" Target="/ppt/media/image9.png" Id="R7d11adf9f33a49a6" /><Relationship Type="http://schemas.openxmlformats.org/officeDocument/2006/relationships/image" Target="/ppt/media/image10.png" Id="R43b5c0bec1fe4b7a" /><Relationship Type="http://schemas.openxmlformats.org/officeDocument/2006/relationships/notesSlide" Target="/ppt/notesSlides/notesSlide5.xml" Id="R1764625ffe7c4c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e3cf82f92b47e8" /><Relationship Type="http://schemas.openxmlformats.org/officeDocument/2006/relationships/image" Target="/ppt/media/image11.png" Id="Rac10109440344d77" /><Relationship Type="http://schemas.openxmlformats.org/officeDocument/2006/relationships/image" Target="/ppt/media/image6.svg" Id="R86528bf9ca45443c" /><Relationship Type="http://schemas.openxmlformats.org/officeDocument/2006/relationships/image" Target="/ppt/media/image12.png" Id="Rf9460611c9fc4b36" /><Relationship Type="http://schemas.openxmlformats.org/officeDocument/2006/relationships/image" Target="/ppt/media/image13.png" Id="R12185476f8c547ef" /><Relationship Type="http://schemas.openxmlformats.org/officeDocument/2006/relationships/image" Target="/ppt/media/image14.png" Id="R87894bea60bd4d16" /><Relationship Type="http://schemas.openxmlformats.org/officeDocument/2006/relationships/notesSlide" Target="/ppt/notesSlides/notesSlide6.xml" Id="R5b11c2c935d048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ba26ef200b4d0f" /><Relationship Type="http://schemas.openxmlformats.org/officeDocument/2006/relationships/image" Target="/ppt/media/image15.png" Id="Redc5db538cfd4cc4" /><Relationship Type="http://schemas.openxmlformats.org/officeDocument/2006/relationships/image" Target="/ppt/media/image7.svg" Id="R754f5dde145f4856" /><Relationship Type="http://schemas.openxmlformats.org/officeDocument/2006/relationships/image" Target="/ppt/media/image16.png" Id="Rc3f3d24654ef433c" /><Relationship Type="http://schemas.openxmlformats.org/officeDocument/2006/relationships/image" Target="/ppt/media/image17.png" Id="R2978db2442664e8f" /><Relationship Type="http://schemas.openxmlformats.org/officeDocument/2006/relationships/image" Target="/ppt/media/image18.png" Id="R676647e7e3474db0" /><Relationship Type="http://schemas.openxmlformats.org/officeDocument/2006/relationships/notesSlide" Target="/ppt/notesSlides/notesSlide7.xml" Id="Recb262f60ac340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51af7c8ee94469" /><Relationship Type="http://schemas.openxmlformats.org/officeDocument/2006/relationships/image" Target="/ppt/media/image19.png" Id="R734e8857023346af" /><Relationship Type="http://schemas.openxmlformats.org/officeDocument/2006/relationships/image" Target="/ppt/media/image8.svg" Id="R3f2a535134534db0" /><Relationship Type="http://schemas.openxmlformats.org/officeDocument/2006/relationships/image" Target="/ppt/media/image20.png" Id="R914edbef86d54082" /><Relationship Type="http://schemas.openxmlformats.org/officeDocument/2006/relationships/image" Target="/ppt/media/image21.png" Id="R3760c7f5c30a45c1" /><Relationship Type="http://schemas.openxmlformats.org/officeDocument/2006/relationships/image" Target="/ppt/media/image22.png" Id="R46cbecb1a51b4dd9" /><Relationship Type="http://schemas.openxmlformats.org/officeDocument/2006/relationships/notesSlide" Target="/ppt/notesSlides/notesSlide8.xml" Id="R9c88723c8ed24c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ac03b84ae842e2" /><Relationship Type="http://schemas.openxmlformats.org/officeDocument/2006/relationships/image" Target="/ppt/media/image23.png" Id="R386fff0080b84f74" /><Relationship Type="http://schemas.openxmlformats.org/officeDocument/2006/relationships/image" Target="/ppt/media/image9.svg" Id="R2a344dc5f336421b" /><Relationship Type="http://schemas.openxmlformats.org/officeDocument/2006/relationships/image" Target="/ppt/media/image24.png" Id="R8d6f1e09217e47e2" /><Relationship Type="http://schemas.openxmlformats.org/officeDocument/2006/relationships/image" Target="/ppt/media/image25.png" Id="Rdf3221899a354169" /><Relationship Type="http://schemas.openxmlformats.org/officeDocument/2006/relationships/image" Target="/ppt/media/image26.png" Id="R4999eea33bae481d" /><Relationship Type="http://schemas.openxmlformats.org/officeDocument/2006/relationships/notesSlide" Target="/ppt/notesSlides/notesSlide9.xml" Id="R0efe0c2be1cb44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e5c7b9225f4375" /><Relationship Type="http://schemas.openxmlformats.org/officeDocument/2006/relationships/image" Target="/ppt/media/image27.png" Id="R420fd71faffc4b8d" /><Relationship Type="http://schemas.openxmlformats.org/officeDocument/2006/relationships/image" Target="/ppt/media/image10.svg" Id="R35ea2a4c1f874a4c" /><Relationship Type="http://schemas.openxmlformats.org/officeDocument/2006/relationships/notesSlide" Target="/ppt/notesSlides/notesSlide10.xml" Id="R4d1eb14956a343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de8de9d3cd4288" /><Relationship Type="http://schemas.openxmlformats.org/officeDocument/2006/relationships/image" Target="/ppt/media/image28.png" Id="Rc82ee732f2514546" /><Relationship Type="http://schemas.openxmlformats.org/officeDocument/2006/relationships/image" Target="/ppt/media/image11.svg" Id="Re7a9d668af36451b" /><Relationship Type="http://schemas.openxmlformats.org/officeDocument/2006/relationships/image" Target="/ppt/media/image29.png" Id="R8aa6afc841064517" /><Relationship Type="http://schemas.openxmlformats.org/officeDocument/2006/relationships/notesSlide" Target="/ppt/notesSlides/notesSlide11.xml" Id="Rf512f1a7538f48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3cd4c1c8f34c45" /><Relationship Type="http://schemas.openxmlformats.org/officeDocument/2006/relationships/image" Target="/ppt/media/image30.png" Id="Raab5ae61658b43a6" /><Relationship Type="http://schemas.openxmlformats.org/officeDocument/2006/relationships/image" Target="/ppt/media/image12.svg" Id="Rd679c03c49de4649" /><Relationship Type="http://schemas.openxmlformats.org/officeDocument/2006/relationships/image" Target="/ppt/media/image31.png" Id="R80b225a583e44d82" /><Relationship Type="http://schemas.openxmlformats.org/officeDocument/2006/relationships/notesSlide" Target="/ppt/notesSlides/notesSlide12.xml" Id="R06d9c6a90d2540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ea47550373491d" /><Relationship Type="http://schemas.openxmlformats.org/officeDocument/2006/relationships/image" Target="/ppt/media/image32.png" Id="Rbec7f874fa5f4bb4" /><Relationship Type="http://schemas.openxmlformats.org/officeDocument/2006/relationships/image" Target="/ppt/media/image13.svg" Id="Rdda97de5c1c74f9d" /><Relationship Type="http://schemas.openxmlformats.org/officeDocument/2006/relationships/image" Target="/ppt/media/image33.png" Id="R6f7c520d39c444cb" /><Relationship Type="http://schemas.openxmlformats.org/officeDocument/2006/relationships/notesSlide" Target="/ppt/notesSlides/notesSlide13.xml" Id="R2244fc62603e45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89540b4f924043" /><Relationship Type="http://schemas.openxmlformats.org/officeDocument/2006/relationships/image" Target="/ppt/media/image34.png" Id="Red1d88fd212b402b" /><Relationship Type="http://schemas.openxmlformats.org/officeDocument/2006/relationships/image" Target="/ppt/media/image14.svg" Id="R7888ae8d7d684a85" /><Relationship Type="http://schemas.openxmlformats.org/officeDocument/2006/relationships/image" Target="/ppt/media/image35.png" Id="Rf00c62d5d9eb4204" /><Relationship Type="http://schemas.openxmlformats.org/officeDocument/2006/relationships/notesSlide" Target="/ppt/notesSlides/notesSlide14.xml" Id="R935977cb0bb641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d4ccd09d864b1d" /><Relationship Type="http://schemas.openxmlformats.org/officeDocument/2006/relationships/image" Target="/ppt/media/image36.png" Id="R99c3fc9dc2684c05" /><Relationship Type="http://schemas.openxmlformats.org/officeDocument/2006/relationships/image" Target="/ppt/media/image15.svg" Id="R7050c38ebbd94e49" /><Relationship Type="http://schemas.openxmlformats.org/officeDocument/2006/relationships/image" Target="/ppt/media/image37.png" Id="R532a3d4376b44f1c" /><Relationship Type="http://schemas.openxmlformats.org/officeDocument/2006/relationships/notesSlide" Target="/ppt/notesSlides/notesSlide15.xml" Id="R5f901db6cfea4bb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ff5c35ce5143ad" /><Relationship Type="http://schemas.openxmlformats.org/officeDocument/2006/relationships/image" Target="/ppt/media/image38.png" Id="R355cfd22a0f64a8e" /><Relationship Type="http://schemas.openxmlformats.org/officeDocument/2006/relationships/image" Target="/ppt/media/image16.svg" Id="Rc3b85ababb184218" /><Relationship Type="http://schemas.openxmlformats.org/officeDocument/2006/relationships/image" Target="/ppt/media/image39.png" Id="R3d5b2852ca514e0f" /><Relationship Type="http://schemas.openxmlformats.org/officeDocument/2006/relationships/notesSlide" Target="/ppt/notesSlides/notesSlide16.xml" Id="Ra087c02b784842a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a14d1566c44d31" /><Relationship Type="http://schemas.openxmlformats.org/officeDocument/2006/relationships/image" Target="/ppt/media/image40.png" Id="R0dd8cdf05f574adf" /><Relationship Type="http://schemas.openxmlformats.org/officeDocument/2006/relationships/image" Target="/ppt/media/image17.svg" Id="R15e6164a622a419d" /><Relationship Type="http://schemas.openxmlformats.org/officeDocument/2006/relationships/image" Target="/ppt/media/image41.png" Id="R708c67b6d988490b" /><Relationship Type="http://schemas.openxmlformats.org/officeDocument/2006/relationships/notesSlide" Target="/ppt/notesSlides/notesSlide17.xml" Id="R964f6f859be64c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c713ce974f48dd" /><Relationship Type="http://schemas.openxmlformats.org/officeDocument/2006/relationships/image" Target="/ppt/media/image42.png" Id="Rd094fa83931b435c" /><Relationship Type="http://schemas.openxmlformats.org/officeDocument/2006/relationships/image" Target="/ppt/media/image18.svg" Id="R97509a0fcb05459b" /><Relationship Type="http://schemas.openxmlformats.org/officeDocument/2006/relationships/image" Target="/ppt/media/image43.png" Id="Rf6aebf775eb1498c" /><Relationship Type="http://schemas.openxmlformats.org/officeDocument/2006/relationships/notesSlide" Target="/ppt/notesSlides/notesSlide18.xml" Id="Rc1c893737efe45a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2ea6b95e7b4cfc" /><Relationship Type="http://schemas.openxmlformats.org/officeDocument/2006/relationships/image" Target="/ppt/media/image44.png" Id="R574b393b8ffe479a" /><Relationship Type="http://schemas.openxmlformats.org/officeDocument/2006/relationships/image" Target="/ppt/media/image19.svg" Id="R4e6cdbe2f6bf44d0" /><Relationship Type="http://schemas.openxmlformats.org/officeDocument/2006/relationships/image" Target="/ppt/media/image45.png" Id="R3c05bed0db5f47b3" /><Relationship Type="http://schemas.openxmlformats.org/officeDocument/2006/relationships/notesSlide" Target="/ppt/notesSlides/notesSlide19.xml" Id="Rfe3c155b5f7b43d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0bfbb4c4bf4d68" /><Relationship Type="http://schemas.openxmlformats.org/officeDocument/2006/relationships/image" Target="/ppt/media/image46.png" Id="Ra7853a885047424a" /><Relationship Type="http://schemas.openxmlformats.org/officeDocument/2006/relationships/image" Target="/ppt/media/image20.svg" Id="Rc32e105d3f85408b" /><Relationship Type="http://schemas.openxmlformats.org/officeDocument/2006/relationships/image" Target="/ppt/media/image47.png" Id="R448770bbae404fdb" /><Relationship Type="http://schemas.openxmlformats.org/officeDocument/2006/relationships/image" Target="/ppt/media/image48.png" Id="R01980cd6987c4ef1" /><Relationship Type="http://schemas.openxmlformats.org/officeDocument/2006/relationships/image" Target="/ppt/media/image49.png" Id="R7a8e5f2e5298496d" /><Relationship Type="http://schemas.openxmlformats.org/officeDocument/2006/relationships/image" Target="/ppt/media/image50.png" Id="Rb2cd162d70cd440a" /><Relationship Type="http://schemas.openxmlformats.org/officeDocument/2006/relationships/notesSlide" Target="/ppt/notesSlides/notesSlide20.xml" Id="R3e3b2c1e728843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99682ea3b64b7c" /><Relationship Type="http://schemas.openxmlformats.org/officeDocument/2006/relationships/image" Target="/ppt/media/image51.png" Id="Rf96960898def40cf" /><Relationship Type="http://schemas.openxmlformats.org/officeDocument/2006/relationships/image" Target="/ppt/media/image21.svg" Id="R4f8abf04c64242b2" /><Relationship Type="http://schemas.openxmlformats.org/officeDocument/2006/relationships/notesSlide" Target="/ppt/notesSlides/notesSlide21.xml" Id="R58cc5009b232436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baf5aad0e44dc2" /><Relationship Type="http://schemas.openxmlformats.org/officeDocument/2006/relationships/image" Target="/ppt/media/image52.png" Id="R46683da4440b4063" /><Relationship Type="http://schemas.openxmlformats.org/officeDocument/2006/relationships/image" Target="/ppt/media/image22.svg" Id="R045c431e5de04845" /><Relationship Type="http://schemas.openxmlformats.org/officeDocument/2006/relationships/image" Target="/ppt/media/image53.png" Id="Rff90d7bb59fd4550" /><Relationship Type="http://schemas.openxmlformats.org/officeDocument/2006/relationships/notesSlide" Target="/ppt/notesSlides/notesSlide22.xml" Id="R8fa29b188a19444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109adbc9e24e7a" /><Relationship Type="http://schemas.openxmlformats.org/officeDocument/2006/relationships/image" Target="/ppt/media/image54.png" Id="Re3296a074e024e8f" /><Relationship Type="http://schemas.openxmlformats.org/officeDocument/2006/relationships/image" Target="/ppt/media/image23.svg" Id="R2f19760ce4e54cb0" /><Relationship Type="http://schemas.openxmlformats.org/officeDocument/2006/relationships/image" Target="/ppt/media/image55.png" Id="R03cd917665a142ae" /><Relationship Type="http://schemas.openxmlformats.org/officeDocument/2006/relationships/notesSlide" Target="/ppt/notesSlides/notesSlide23.xml" Id="R74c27f108b8d406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c16c28cc0e4548" /><Relationship Type="http://schemas.openxmlformats.org/officeDocument/2006/relationships/image" Target="/ppt/media/image56.png" Id="R40cb4c558b5a4c40" /><Relationship Type="http://schemas.openxmlformats.org/officeDocument/2006/relationships/image" Target="/ppt/media/image24.svg" Id="R3223a4b2f6854137" /><Relationship Type="http://schemas.openxmlformats.org/officeDocument/2006/relationships/image" Target="/ppt/media/image57.png" Id="R6fdd030c5bf142fc" /><Relationship Type="http://schemas.openxmlformats.org/officeDocument/2006/relationships/notesSlide" Target="/ppt/notesSlides/notesSlide24.xml" Id="Rf2348eb4a17c4de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e657c9de44868" /><Relationship Type="http://schemas.openxmlformats.org/officeDocument/2006/relationships/image" Target="/ppt/media/image58.png" Id="Rb46c76f770a74ae1" /><Relationship Type="http://schemas.openxmlformats.org/officeDocument/2006/relationships/image" Target="/ppt/media/image25.svg" Id="Rc3851a30f5a54168" /><Relationship Type="http://schemas.openxmlformats.org/officeDocument/2006/relationships/image" Target="/ppt/media/image59.png" Id="Rdd0aa90ed13940d7" /><Relationship Type="http://schemas.openxmlformats.org/officeDocument/2006/relationships/notesSlide" Target="/ppt/notesSlides/notesSlide25.xml" Id="R18b21c71abba43b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ae689562b403c" /><Relationship Type="http://schemas.openxmlformats.org/officeDocument/2006/relationships/image" Target="/ppt/media/image60.png" Id="R9786b62d063641ed" /><Relationship Type="http://schemas.openxmlformats.org/officeDocument/2006/relationships/image" Target="/ppt/media/image26.svg" Id="Rf4e08b3b86134b9a" /><Relationship Type="http://schemas.openxmlformats.org/officeDocument/2006/relationships/image" Target="/ppt/media/image61.png" Id="Rdaea2eb6123447a4" /><Relationship Type="http://schemas.openxmlformats.org/officeDocument/2006/relationships/notesSlide" Target="/ppt/notesSlides/notesSlide26.xml" Id="R69e30009484b40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2C640-DBD6-4B0F-AB27-71577D262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d1f74d8964c5d">
            <a:extLst>
              <a:ext uri="{96DAC541-7B7A-43D3-8B79-37D633B846F1}">
                <asvg:svgBlip xmlns:asvg="http://schemas.microsoft.com/office/drawing/2016/SVG/main" r:embed="R8c52a42b8dcc4a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2247900"/>
            <a:ext cx="4438650" cy="913840"/>
          </a:xfrm>
          <a:prstGeom xmlns:a="http://schemas.openxmlformats.org/drawingml/2006/main" prst="rect">
            <a:avLst/>
          </a:prstGeom>
        </p:spPr>
      </p:pic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418864D-7738-43D0-8328-1562EF9C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5429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Fechamento financeiro</a:t>
            </a:r>
          </a:p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da Tarvo</a:t>
            </a:r>
          </a:p>
        </p:txBody>
      </p:sp>
      <p:sp>
        <p:nvSpPr>
          <p:cNvPr id="4" name="cover-period">
            <a:extLst xmlns:a="http://schemas.openxmlformats.org/drawingml/2006/main">
              <a:ext uri="{FF2B5EF4-FFF2-40B4-BE49-F238E27FC236}">
                <a16:creationId xmlns:a16="http://schemas.microsoft.com/office/drawing/2014/main" id="{E4F01C92-8BDF-44AF-A689-520128A7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5048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 de 2026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86841-3EBF-40D8-8D63-8EA5F2A817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60db9a6924c40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239000" y="1724025"/>
            <a:ext cx="3914775" cy="3981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766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5E622-1A55-4B60-9152-419D5C0519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e27739e944433">
            <a:extLst>
              <a:ext uri="{96DAC541-7B7A-43D3-8B79-37D633B846F1}">
                <asvg:svgBlip xmlns:asvg="http://schemas.microsoft.com/office/drawing/2016/SVG/main" r:embed="R2117af3ec30547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9D64B76-0BFE-4AD5-BBC5-C2BBB1C3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01946E5-A547-4A35-8A52-90026CC9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01</a:t>
            </a:r>
          </a:p>
        </p:txBody>
      </p:sp>
      <p:sp>
        <p:nvSpPr>
          <p:cNvPr id="5" name="client-introduction">
            <a:extLst xmlns:a="http://schemas.openxmlformats.org/drawingml/2006/main">
              <a:ext uri="{FF2B5EF4-FFF2-40B4-BE49-F238E27FC236}">
                <a16:creationId xmlns:a16="http://schemas.microsoft.com/office/drawing/2014/main" id="{FE47C1C0-AFD7-440A-BA16-FBA0F90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Essa é a</a:t>
            </a:r>
          </a:p>
        </p:txBody>
      </p:sp>
      <p:sp>
        <p:nvSpPr>
          <p:cNvPr id="6" name="tarvo-identification">
            <a:extLst xmlns:a="http://schemas.openxmlformats.org/drawingml/2006/main">
              <a:ext uri="{FF2B5EF4-FFF2-40B4-BE49-F238E27FC236}">
                <a16:creationId xmlns:a16="http://schemas.microsoft.com/office/drawing/2014/main" id="{389A5FB7-E138-4647-A6D7-B629805B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38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6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Tarvo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3CA4E-DE35-4A5F-AA77-29E1E85678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d694cd98463a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429500" y="2333625"/>
            <a:ext cx="3381375" cy="3400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14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F28C4-9C5B-4CAA-9265-0DBAC3D0E2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5a40749074289">
            <a:extLst>
              <a:ext uri="{96DAC541-7B7A-43D3-8B79-37D633B846F1}">
                <asvg:svgBlip xmlns:asvg="http://schemas.microsoft.com/office/drawing/2016/SVG/main" r:embed="R57b6261d0aca4c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CF49E9E3-C803-4BE5-9F09-3F9504C5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2435D20-6668-4166-9A0C-16BB4145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02</a:t>
            </a:r>
          </a:p>
        </p:txBody>
      </p:sp>
      <p:sp>
        <p:nvSpPr>
          <p:cNvPr id="5" name="client-introduction">
            <a:extLst xmlns:a="http://schemas.openxmlformats.org/drawingml/2006/main">
              <a:ext uri="{FF2B5EF4-FFF2-40B4-BE49-F238E27FC236}">
                <a16:creationId xmlns:a16="http://schemas.microsoft.com/office/drawing/2014/main" id="{A1F176F3-E115-4916-A132-5781DAB0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Essa é a</a:t>
            </a:r>
          </a:p>
        </p:txBody>
      </p:sp>
      <p:sp>
        <p:nvSpPr>
          <p:cNvPr id="6" name="tarvo-identification">
            <a:extLst xmlns:a="http://schemas.openxmlformats.org/drawingml/2006/main">
              <a:ext uri="{FF2B5EF4-FFF2-40B4-BE49-F238E27FC236}">
                <a16:creationId xmlns:a16="http://schemas.microsoft.com/office/drawing/2014/main" id="{C5495B1D-E4E6-4AA9-A0ED-ABD861D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38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6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Tarvo</a:t>
            </a:r>
          </a:p>
        </p:txBody>
      </p:sp>
      <p:sp>
        <p:nvSpPr>
          <p:cNvPr id="7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2615F98B-6A67-4314-9AB0-85E43F5A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5381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3 frentes que</a:t>
            </a:r>
          </a:p>
          <a:p xmlns:a="http://schemas.openxmlformats.org/drawingml/2006/main">
            <a: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não se conectam</a:t>
            </a:r>
          </a:p>
        </p:txBody>
      </p:sp>
      <p:sp>
        <p:nvSpPr>
          <p:cNvPr id="8" name="front-1">
            <a:extLst xmlns:a="http://schemas.openxmlformats.org/drawingml/2006/main">
              <a:ext uri="{FF2B5EF4-FFF2-40B4-BE49-F238E27FC236}">
                <a16:creationId xmlns:a16="http://schemas.microsoft.com/office/drawing/2014/main" id="{97182692-5227-4C32-AF0C-77659034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9" name="front-2">
            <a:extLst xmlns:a="http://schemas.openxmlformats.org/drawingml/2006/main">
              <a:ext uri="{FF2B5EF4-FFF2-40B4-BE49-F238E27FC236}">
                <a16:creationId xmlns:a16="http://schemas.microsoft.com/office/drawing/2014/main" id="{961B6CF5-8B1C-4A8D-BB77-1DCECF54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10" name="front-3">
            <a:extLst xmlns:a="http://schemas.openxmlformats.org/drawingml/2006/main">
              <a:ext uri="{FF2B5EF4-FFF2-40B4-BE49-F238E27FC236}">
                <a16:creationId xmlns:a16="http://schemas.microsoft.com/office/drawing/2014/main" id="{829F5D2E-24C5-48E5-858D-FD4F42A9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</p:spTree>
    <p:extLst>
      <p:ext uri="{BB962C8B-B14F-4D97-AF65-F5344CB8AC3E}">
        <p14:creationId xmlns:p14="http://schemas.microsoft.com/office/powerpoint/2010/main" val="591737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6F456-6A22-4324-9D24-86E11D2F9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1ed4802c54a18">
            <a:extLst>
              <a:ext uri="{96DAC541-7B7A-43D3-8B79-37D633B846F1}">
                <asvg:svgBlip xmlns:asvg="http://schemas.microsoft.com/office/drawing/2016/SVG/main" r:embed="R3a5631563a9049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AE2AF74-0545-4155-B652-55BA494F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50B2155-BDFF-4F76-87F0-94CFE7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03</a:t>
            </a:r>
          </a:p>
        </p:txBody>
      </p:sp>
      <p:sp>
        <p:nvSpPr>
          <p:cNvPr id="5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5556FAB7-3C9B-49F2-BB86-BA5971AF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5524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Planilha</a:t>
            </a: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 com</a:t>
            </a:r>
          </a:p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taxas e condições</a:t>
            </a:r>
          </a:p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</a:t>
            </a: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cada lojista</a:t>
            </a:r>
          </a:p>
        </p:txBody>
      </p:sp>
      <p:sp>
        <p:nvSpPr>
          <p:cNvPr id="6" name="front-1">
            <a:extLst xmlns:a="http://schemas.openxmlformats.org/drawingml/2006/main">
              <a:ext uri="{FF2B5EF4-FFF2-40B4-BE49-F238E27FC236}">
                <a16:creationId xmlns:a16="http://schemas.microsoft.com/office/drawing/2014/main" id="{A2786648-634E-4D12-8D8A-4A5CD48D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ront-2">
            <a:extLst xmlns:a="http://schemas.openxmlformats.org/drawingml/2006/main">
              <a:ext uri="{FF2B5EF4-FFF2-40B4-BE49-F238E27FC236}">
                <a16:creationId xmlns:a16="http://schemas.microsoft.com/office/drawing/2014/main" id="{C03519FB-0DA1-4A2A-B895-90AFB62D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8" name="front-3">
            <a:extLst xmlns:a="http://schemas.openxmlformats.org/drawingml/2006/main">
              <a:ext uri="{FF2B5EF4-FFF2-40B4-BE49-F238E27FC236}">
                <a16:creationId xmlns:a16="http://schemas.microsoft.com/office/drawing/2014/main" id="{7918BD93-7254-4A1C-B32D-12F0FC45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A71BF-D531-48F7-8D97-37BA52CE4C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67432aa3d4f89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0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3A8E9841-3C72-4BAB-AC76-C70C41F8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</p:spTree>
    <p:extLst>
      <p:ext uri="{BB962C8B-B14F-4D97-AF65-F5344CB8AC3E}">
        <p14:creationId xmlns:p14="http://schemas.microsoft.com/office/powerpoint/2010/main" val="260596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5962F-30B7-4ADD-858D-E36BD5BB7F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f7692591444e0">
            <a:extLst>
              <a:ext uri="{96DAC541-7B7A-43D3-8B79-37D633B846F1}">
                <asvg:svgBlip xmlns:asvg="http://schemas.microsoft.com/office/drawing/2016/SVG/main" r:embed="R3e8a1fb716664a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8BAD06DA-5616-4638-93B1-608AA63A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F06CFBE-4441-4514-9866-1C9F7BC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04</a:t>
            </a:r>
          </a:p>
        </p:txBody>
      </p:sp>
      <p:sp>
        <p:nvSpPr>
          <p:cNvPr id="5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D8419AB6-50B9-492E-B4B4-539E88A8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que foi </a:t>
            </a: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cobrado</a:t>
            </a: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" name="front-1">
            <a:extLst xmlns:a="http://schemas.openxmlformats.org/drawingml/2006/main">
              <a:ext uri="{FF2B5EF4-FFF2-40B4-BE49-F238E27FC236}">
                <a16:creationId xmlns:a16="http://schemas.microsoft.com/office/drawing/2014/main" id="{3F25F0EE-00FF-44E1-83AC-63C401AB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ront-2">
            <a:extLst xmlns:a="http://schemas.openxmlformats.org/drawingml/2006/main">
              <a:ext uri="{FF2B5EF4-FFF2-40B4-BE49-F238E27FC236}">
                <a16:creationId xmlns:a16="http://schemas.microsoft.com/office/drawing/2014/main" id="{F4F97300-9B8F-4C99-B544-1A309589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front-3">
            <a:extLst xmlns:a="http://schemas.openxmlformats.org/drawingml/2006/main">
              <a:ext uri="{FF2B5EF4-FFF2-40B4-BE49-F238E27FC236}">
                <a16:creationId xmlns:a16="http://schemas.microsoft.com/office/drawing/2014/main" id="{7D8B64AA-F73B-4A9C-A4B6-C40CD8C7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E160-D25B-4504-9FFF-E8A564C8CC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1adf9f33a49a6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0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4928568F-D609-4319-8473-7B5A3DBD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E3548-B084-4BDF-89BD-042D9EC05C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5c0bec1fe4b7a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52500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2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CD8C1156-C97B-4E71-A154-ACDAC93C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 e extratos</a:t>
            </a:r>
          </a:p>
        </p:txBody>
      </p:sp>
    </p:spTree>
    <p:extLst>
      <p:ext uri="{BB962C8B-B14F-4D97-AF65-F5344CB8AC3E}">
        <p14:creationId xmlns:p14="http://schemas.microsoft.com/office/powerpoint/2010/main" val="19216754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A9BA1-2A6E-422D-9FA6-A2004F0498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10109440344d77">
            <a:extLst>
              <a:ext uri="{96DAC541-7B7A-43D3-8B79-37D633B846F1}">
                <asvg:svgBlip xmlns:asvg="http://schemas.microsoft.com/office/drawing/2016/SVG/main" r:embed="R86528bf9ca4544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2356818-A091-4833-8170-35F2BC50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4BE158D-2FB2-4051-AAC3-FD2E06DF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05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2E545FD0-94B2-45D6-A809-551A517F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5524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Entre pontas,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902DFD99-7E3E-4B63-B22B-11222F8C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5524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uma única pessoa</a:t>
            </a:r>
          </a:p>
        </p:txBody>
      </p:sp>
      <p:cxnSp>
        <p:nvCxnSpPr>
          <p:cNvPr id="7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8FADD6C8-3066-4D03-9570-196F450DAD8C}"/>
              </a:ext>
            </a:extLst>
          </p:cNvPr>
          <p:cNvCxnSpPr/>
          <p:nvPr/>
        </p:nvCxnSpPr>
        <p:spPr>
          <a:xfrm xmlns:a="http://schemas.openxmlformats.org/drawingml/2006/main">
            <a:off x="7524750" y="3333750"/>
            <a:ext cx="29527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8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601AAE0A-5813-454F-9590-B478C7D1F816}"/>
              </a:ext>
            </a:extLst>
          </p:cNvPr>
          <p:cNvCxnSpPr/>
          <p:nvPr/>
        </p:nvCxnSpPr>
        <p:spPr>
          <a:xfrm xmlns:a="http://schemas.openxmlformats.org/drawingml/2006/main">
            <a:off x="7524750" y="3333750"/>
            <a:ext cx="1476375" cy="24860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9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AD13E28B-6583-4BE6-A81F-AE78DBD8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33750"/>
            <a:ext cx="1476375" cy="2486025"/>
          </a:xfrm>
          <a:custGeom xmlns:a="http://schemas.openxmlformats.org/drawingml/2006/main">
            <a:pathLst>
              <a:path w="1476375" h="2486025">
                <a:moveTo>
                  <a:pt x="1476375" y="0"/>
                </a:moveTo>
                <a:lnTo>
                  <a:pt x="0" y="24860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10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4F390745-6893-402B-AEA2-B22E84CC201B}"/>
              </a:ext>
            </a:extLst>
          </p:cNvPr>
          <p:cNvCxnSpPr/>
          <p:nvPr/>
        </p:nvCxnSpPr>
        <p:spPr>
          <a:xfrm xmlns:a="http://schemas.openxmlformats.org/drawingml/2006/main">
            <a:off x="9001125" y="4638675"/>
            <a:ext cx="0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1" name="front-1">
            <a:extLst xmlns:a="http://schemas.openxmlformats.org/drawingml/2006/main">
              <a:ext uri="{FF2B5EF4-FFF2-40B4-BE49-F238E27FC236}">
                <a16:creationId xmlns:a16="http://schemas.microsoft.com/office/drawing/2014/main" id="{3964F83B-55EC-4A72-A366-7682A4E1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front-2">
            <a:extLst xmlns:a="http://schemas.openxmlformats.org/drawingml/2006/main">
              <a:ext uri="{FF2B5EF4-FFF2-40B4-BE49-F238E27FC236}">
                <a16:creationId xmlns:a16="http://schemas.microsoft.com/office/drawing/2014/main" id="{8593DF72-17CD-4ED4-90A8-7DB6F748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front-3">
            <a:extLst xmlns:a="http://schemas.openxmlformats.org/drawingml/2006/main">
              <a:ext uri="{FF2B5EF4-FFF2-40B4-BE49-F238E27FC236}">
                <a16:creationId xmlns:a16="http://schemas.microsoft.com/office/drawing/2014/main" id="{3AE09AF3-FEA1-40B2-AA8F-F5F89556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9D9BE-FFC1-4F8F-B367-D318F85F48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60611c9fc4b36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5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9DBA9DE2-8352-41E4-9FF0-74981F03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DEA59-3154-433F-ABC9-95D5AEDDE6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85476f8c547ef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52500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7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104083A5-72B0-415A-A78F-630056D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 e extratos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8BAA4-A946-4548-929E-2D687D7E70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894bea60bd4d16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8096250" y="4676775"/>
            <a:ext cx="1809750" cy="990600"/>
          </a:xfrm>
          <a:prstGeom xmlns:a="http://schemas.openxmlformats.org/drawingml/2006/main" prst="rect">
            <a:avLst/>
          </a:prstGeom>
        </p:spPr>
      </p:pic>
      <p:sp>
        <p:nvSpPr>
          <p:cNvPr id="19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4D60EB85-12C7-4500-8101-2DBAEDF9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1341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 e exceções</a:t>
            </a:r>
          </a:p>
        </p:txBody>
      </p:sp>
      <p:sp>
        <p:nvSpPr>
          <p:cNvPr id="20" name="helena">
            <a:extLst xmlns:a="http://schemas.openxmlformats.org/drawingml/2006/main">
              <a:ext uri="{FF2B5EF4-FFF2-40B4-BE49-F238E27FC236}">
                <a16:creationId xmlns:a16="http://schemas.microsoft.com/office/drawing/2014/main" id="{70769FE3-5277-4927-AF83-569AF2C4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4812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</p:spTree>
    <p:extLst>
      <p:ext uri="{BB962C8B-B14F-4D97-AF65-F5344CB8AC3E}">
        <p14:creationId xmlns:p14="http://schemas.microsoft.com/office/powerpoint/2010/main" val="1463438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3B3BB-4611-4503-8358-91CABC96D3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5db538cfd4cc4">
            <a:extLst>
              <a:ext uri="{96DAC541-7B7A-43D3-8B79-37D633B846F1}">
                <asvg:svgBlip xmlns:asvg="http://schemas.microsoft.com/office/drawing/2016/SVG/main" r:embed="R754f5dde145f48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76AF1440-9C4A-499B-A931-4BD2C5EE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C7B604-1B48-4AE1-AFC9-A5534A1D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06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57C1D119-C798-4315-9D9A-9A99C45C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96C55AE0-5916-4BC6-9334-CC0489156AE5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9CE6D645-D0CB-4A98-A3FA-D749C43A24B1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4ADFD4D4-A986-4CD0-8580-326867CD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A74EA2FB-8CB2-4B03-9B1D-048ACEB58AF2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E7ABA07E-667C-4402-B059-64E69D90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567438BE-70F8-4F58-913D-00492AF7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763C813C-180B-4F9F-9710-5752909E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28D4C-DBB7-453A-9F3C-E544EFCB6E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3d24654ef433c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5F31588D-D075-4C22-BD9B-F926CDC3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0D801-29A3-49EE-BFC2-FE3F325C07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8db2442664e8f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E47A1103-5B05-48E8-8E13-4217A7A1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250CEE-D08D-4ACD-B8DE-EB3F31D44F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647e7e3474db0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2013B410-EE48-4107-9A61-41AB3079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76A83286-9CBB-4373-B8EE-66EAA918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E8D53F29-C3B7-4001-8256-BEADA62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DD27511B-14C6-4077-87EC-3AA944CD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14700"/>
            <a:ext cx="2257425" cy="1209675"/>
          </a:xfrm>
          <a:custGeom xmlns:a="http://schemas.openxmlformats.org/drawingml/2006/main">
            <a:pathLst>
              <a:path w="2257425" h="1209675">
                <a:moveTo>
                  <a:pt x="0" y="1209675"/>
                </a:moveTo>
                <a:cubicBezTo>
                  <a:pt x="1128713" y="1209675"/>
                  <a:pt x="1128713" y="0"/>
                  <a:pt x="225742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2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4C45C8D8-AF8E-46E7-A509-D4535B4B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32842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16365717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509D9-3668-4B0A-A679-5070BC9E1B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e8857023346af">
            <a:extLst>
              <a:ext uri="{96DAC541-7B7A-43D3-8B79-37D633B846F1}">
                <asvg:svgBlip xmlns:asvg="http://schemas.microsoft.com/office/drawing/2016/SVG/main" r:embed="R3f2a535134534d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56A85F2-04CA-4011-9260-34114E09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C442FA9-4716-44BF-8265-7DAEFE44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07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D0B68078-E47E-4309-8BEA-D8525267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4F35FAFB-955C-4691-8E1B-7C4B1056E194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A2AFDFC3-8C4F-4F98-AC04-99F7B4E366EE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B5FA8F57-3CB7-4151-9768-BB1CC37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59F66B61-1F46-4828-B870-887AFA15E365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DB98CEF8-241E-4454-8251-1E6A6151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DC981F76-FFBB-4105-94DE-EE7D77E2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9004A5A8-C85C-4F5D-ABE1-0EC189EF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6169C-68B9-4AAB-8858-73A32FD35D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edbef86d54082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7D021DF5-0F69-444C-A1C3-C2483E32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22253-F44B-42EE-96C0-9F6FA74C2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0c7f5c30a45c1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60895DF7-C5E0-4943-AD29-429F4C63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33998-F0DC-41B2-ACE5-758D3256C0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cbecb1a51b4dd9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A5DAC81D-BF3B-435C-B2A6-9623E8F7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B5B65710-CBA5-48D7-8F56-7E2314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0338A100-8F47-4A46-B8F1-3E4A7D6D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closing-question-2">
            <a:extLst xmlns:a="http://schemas.openxmlformats.org/drawingml/2006/main">
              <a:ext uri="{FF2B5EF4-FFF2-40B4-BE49-F238E27FC236}">
                <a16:creationId xmlns:a16="http://schemas.microsoft.com/office/drawing/2014/main" id="{0A16409E-0B06-4969-8959-F115DFA8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52900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 que precisa corrigir</a:t>
            </a:r>
          </a:p>
        </p:txBody>
      </p:sp>
      <p:sp>
        <p:nvSpPr>
          <p:cNvPr id="22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7277626C-9A56-4CDE-9D35-7DE1D3C8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391025"/>
            <a:ext cx="2257425" cy="133350"/>
          </a:xfrm>
          <a:custGeom xmlns:a="http://schemas.openxmlformats.org/drawingml/2006/main">
            <a:pathLst>
              <a:path w="2257425" h="133350">
                <a:moveTo>
                  <a:pt x="0" y="133350"/>
                </a:moveTo>
                <a:cubicBezTo>
                  <a:pt x="1128713" y="133350"/>
                  <a:pt x="1128713" y="0"/>
                  <a:pt x="225742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3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0D49A9FD-D8D2-4540-9EB1-B17F9D84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43605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3836055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1C47E-275F-4FC8-8101-42C2CD0A6B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fff0080b84f74">
            <a:extLst>
              <a:ext uri="{96DAC541-7B7A-43D3-8B79-37D633B846F1}">
                <asvg:svgBlip xmlns:asvg="http://schemas.microsoft.com/office/drawing/2016/SVG/main" r:embed="R2a344dc5f33642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37BBA56-05C9-4335-92A4-7D557646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F0DA4CF-F19E-49D0-8005-FDD17417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08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C462FD44-2018-4612-982F-C052A47E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304366E8-C838-4B34-93F3-1F35E81165C4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B5875ACC-D1D0-462F-A7C2-F65C6AFF54A3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A9899C0B-BDE3-474B-A0B7-492BA232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F0E26CDC-7DC9-4566-818D-76DE8ED86706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06C32214-229F-46BA-A723-80A2DE34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A333D073-FD0A-4C23-BB4E-86E99D62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788EC408-E24E-4823-86DA-FAF98FCF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6D6D6-C79D-4904-8B34-686E7298E2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f1e09217e47e2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70BE1704-414D-4BBD-A48A-FF7DC2E3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2FEC3-C540-4A48-98AB-E17A456DF2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3221899a354169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0ED03F6E-272A-416B-A8F8-6C2ABC82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7B5A9-4A22-409A-9E99-5E4C9B4BB1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9eea33bae481d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917846BB-1CFF-4842-AF0F-6F1D9E38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24548C58-F835-4EBB-812A-4A844B96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A96EA099-E109-499B-89E9-A9FCECC3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closing-question-2">
            <a:extLst xmlns:a="http://schemas.openxmlformats.org/drawingml/2006/main">
              <a:ext uri="{FF2B5EF4-FFF2-40B4-BE49-F238E27FC236}">
                <a16:creationId xmlns:a16="http://schemas.microsoft.com/office/drawing/2014/main" id="{54D6B87E-257D-4901-9E26-7E74AB09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52900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que precisa corrigir</a:t>
            </a:r>
          </a:p>
        </p:txBody>
      </p:sp>
      <p:sp>
        <p:nvSpPr>
          <p:cNvPr id="22" name="closing-question-3">
            <a:extLst xmlns:a="http://schemas.openxmlformats.org/drawingml/2006/main">
              <a:ext uri="{FF2B5EF4-FFF2-40B4-BE49-F238E27FC236}">
                <a16:creationId xmlns:a16="http://schemas.microsoft.com/office/drawing/2014/main" id="{E04E0E3E-9EFE-485C-A548-1D5C8528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29225"/>
            <a:ext cx="4686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Quais valores continuam</a:t>
            </a:r>
          </a:p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pendentes</a:t>
            </a:r>
          </a:p>
        </p:txBody>
      </p:sp>
      <p:sp>
        <p:nvSpPr>
          <p:cNvPr id="23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F002E8FC-9CD5-4B13-BE98-17DBE7B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24375"/>
            <a:ext cx="2257425" cy="942975"/>
          </a:xfrm>
          <a:custGeom xmlns:a="http://schemas.openxmlformats.org/drawingml/2006/main">
            <a:pathLst>
              <a:path w="2257425" h="942975">
                <a:moveTo>
                  <a:pt x="0" y="0"/>
                </a:moveTo>
                <a:cubicBezTo>
                  <a:pt x="1128713" y="0"/>
                  <a:pt x="1128713" y="942975"/>
                  <a:pt x="2257425" y="9429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4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FA206AA9-D41E-477E-B556-527506F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543687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20871931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5D713-9C91-4E21-9625-9C3C38251F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fd71faffc4b8d">
            <a:extLst>
              <a:ext uri="{96DAC541-7B7A-43D3-8B79-37D633B846F1}">
                <asvg:svgBlip xmlns:asvg="http://schemas.microsoft.com/office/drawing/2016/SVG/main" r:embed="R35ea2a4c1f874a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5FB54734-6EA2-49E9-8219-D0B7BF10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ACF3BD-C47F-4812-80BD-6423A99E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09</a:t>
            </a:r>
          </a:p>
        </p:txBody>
      </p:sp>
      <p:sp>
        <p:nvSpPr>
          <p:cNvPr id="5" name="days">
            <a:extLst xmlns:a="http://schemas.openxmlformats.org/drawingml/2006/main">
              <a:ext uri="{FF2B5EF4-FFF2-40B4-BE49-F238E27FC236}">
                <a16:creationId xmlns:a16="http://schemas.microsoft.com/office/drawing/2014/main" id="{63D2C49D-78F9-464B-B1F2-C7D53DC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952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30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F27F8058-63E7-479B-AB0E-11086FD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47850"/>
            <a:ext cx="7810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44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dias úteis</a:t>
            </a:r>
          </a:p>
        </p:txBody>
      </p:sp>
      <p:sp>
        <p:nvSpPr>
          <p:cNvPr id="7" name="duration-meaning">
            <a:extLst xmlns:a="http://schemas.openxmlformats.org/drawingml/2006/main">
              <a:ext uri="{FF2B5EF4-FFF2-40B4-BE49-F238E27FC236}">
                <a16:creationId xmlns:a16="http://schemas.microsoft.com/office/drawing/2014/main" id="{BAE70B2D-3F5B-462F-A763-3470D7EF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62250"/>
            <a:ext cx="781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para fechar o mês</a:t>
            </a:r>
          </a:p>
        </p:txBody>
      </p:sp>
      <p:sp>
        <p:nvSpPr>
          <p:cNvPr id="8" name="incorrect-charges">
            <a:extLst xmlns:a="http://schemas.openxmlformats.org/drawingml/2006/main">
              <a:ext uri="{FF2B5EF4-FFF2-40B4-BE49-F238E27FC236}">
                <a16:creationId xmlns:a16="http://schemas.microsoft.com/office/drawing/2014/main" id="{F971C2CE-66D8-4E81-84B2-C415434A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Espaço para</a:t>
            </a:r>
          </a:p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cobranças incorretas</a:t>
            </a:r>
          </a:p>
        </p:txBody>
      </p:sp>
      <p:sp>
        <p:nvSpPr>
          <p:cNvPr id="9" name="tacit-dependency">
            <a:extLst xmlns:a="http://schemas.openxmlformats.org/drawingml/2006/main">
              <a:ext uri="{FF2B5EF4-FFF2-40B4-BE49-F238E27FC236}">
                <a16:creationId xmlns:a16="http://schemas.microsoft.com/office/drawing/2014/main" id="{9415C613-7C3E-41D0-ADF2-F6AD0378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543425"/>
            <a:ext cx="5000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Fechamento dependente</a:t>
            </a:r>
          </a:p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quem conhece as regras</a:t>
            </a:r>
          </a:p>
        </p:txBody>
      </p:sp>
      <p:sp>
        <p:nvSpPr>
          <p:cNvPr id="10" name="baseline">
            <a:extLst xmlns:a="http://schemas.openxmlformats.org/drawingml/2006/main">
              <a:ext uri="{FF2B5EF4-FFF2-40B4-BE49-F238E27FC236}">
                <a16:creationId xmlns:a16="http://schemas.microsoft.com/office/drawing/2014/main" id="{37D16095-5270-49BE-897C-87AB5D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81725"/>
            <a:ext cx="695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Prazo relatado no case</a:t>
            </a:r>
          </a:p>
        </p:txBody>
      </p:sp>
    </p:spTree>
    <p:extLst>
      <p:ext uri="{BB962C8B-B14F-4D97-AF65-F5344CB8AC3E}">
        <p14:creationId xmlns:p14="http://schemas.microsoft.com/office/powerpoint/2010/main" val="1978279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D3F0E-CAAA-44A5-A8FF-677AD933E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ee732f2514546">
            <a:extLst>
              <a:ext uri="{96DAC541-7B7A-43D3-8B79-37D633B846F1}">
                <asvg:svgBlip xmlns:asvg="http://schemas.microsoft.com/office/drawing/2016/SVG/main" r:embed="Re7a9d668af3645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1442F87-7D2D-4C30-9E83-6C9C3822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B1668C4-412E-402C-BBDB-6DF63330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10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D4DD12F6-D414-4FD0-BC5B-0FBDDF2E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6000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Cada operação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6F6B0BDF-0E3D-40D6-861C-A20D9100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6000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precisa da regra certa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BE7FC-DEA7-4E32-A8E9-3B78883134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6afc841064517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7477125" y="2752725"/>
            <a:ext cx="3352800" cy="3105150"/>
          </a:xfrm>
          <a:prstGeom xmlns:a="http://schemas.openxmlformats.org/drawingml/2006/main" prst="rect">
            <a:avLst/>
          </a:prstGeom>
        </p:spPr>
      </p:pic>
      <p:sp>
        <p:nvSpPr>
          <p:cNvPr id="8" name="what-question">
            <a:extLst xmlns:a="http://schemas.openxmlformats.org/drawingml/2006/main">
              <a:ext uri="{FF2B5EF4-FFF2-40B4-BE49-F238E27FC236}">
                <a16:creationId xmlns:a16="http://schemas.microsoft.com/office/drawing/2014/main" id="{B7784CD9-777F-4A55-A42B-05524EC0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09725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que tem?</a:t>
            </a:r>
          </a:p>
        </p:txBody>
      </p:sp>
      <p:sp>
        <p:nvSpPr>
          <p:cNvPr id="9" name="what-context">
            <a:extLst xmlns:a="http://schemas.openxmlformats.org/drawingml/2006/main">
              <a:ext uri="{FF2B5EF4-FFF2-40B4-BE49-F238E27FC236}">
                <a16:creationId xmlns:a16="http://schemas.microsoft.com/office/drawing/2014/main" id="{206AC5A6-42E4-4214-BBFE-76A8E368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2076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 e condição</a:t>
            </a:r>
          </a:p>
        </p:txBody>
      </p:sp>
      <p:sp>
        <p:nvSpPr>
          <p:cNvPr id="10" name="origin-question">
            <a:extLst xmlns:a="http://schemas.openxmlformats.org/drawingml/2006/main">
              <a:ext uri="{FF2B5EF4-FFF2-40B4-BE49-F238E27FC236}">
                <a16:creationId xmlns:a16="http://schemas.microsoft.com/office/drawing/2014/main" id="{C948CF92-7A5B-4B57-87DD-0A2C0EFE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6097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onde veio?</a:t>
            </a:r>
          </a:p>
        </p:txBody>
      </p:sp>
      <p:sp>
        <p:nvSpPr>
          <p:cNvPr id="11" name="origin-context">
            <a:extLst xmlns:a="http://schemas.openxmlformats.org/drawingml/2006/main">
              <a:ext uri="{FF2B5EF4-FFF2-40B4-BE49-F238E27FC236}">
                <a16:creationId xmlns:a16="http://schemas.microsoft.com/office/drawing/2014/main" id="{05C86F3E-8010-43F3-90D9-45A4A08F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114550"/>
            <a:ext cx="2133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 e vigência</a:t>
            </a:r>
          </a:p>
        </p:txBody>
      </p:sp>
      <p:sp>
        <p:nvSpPr>
          <p:cNvPr id="12" name="condition-link">
            <a:extLst xmlns:a="http://schemas.openxmlformats.org/drawingml/2006/main">
              <a:ext uri="{FF2B5EF4-FFF2-40B4-BE49-F238E27FC236}">
                <a16:creationId xmlns:a16="http://schemas.microsoft.com/office/drawing/2014/main" id="{915A47BF-0ECA-4589-948A-30B4B07A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62225"/>
            <a:ext cx="733425" cy="485775"/>
          </a:xfrm>
          <a:custGeom xmlns:a="http://schemas.openxmlformats.org/drawingml/2006/main">
            <a:pathLst>
              <a:path w="733425" h="485775">
                <a:moveTo>
                  <a:pt x="0" y="0"/>
                </a:moveTo>
                <a:cubicBezTo>
                  <a:pt x="366713" y="0"/>
                  <a:pt x="366713" y="485775"/>
                  <a:pt x="733425" y="4857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origin-link">
            <a:extLst xmlns:a="http://schemas.openxmlformats.org/drawingml/2006/main">
              <a:ext uri="{FF2B5EF4-FFF2-40B4-BE49-F238E27FC236}">
                <a16:creationId xmlns:a16="http://schemas.microsoft.com/office/drawing/2014/main" id="{683F7A28-C046-468A-A1A8-79CD23F9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62225"/>
            <a:ext cx="266700" cy="2124075"/>
          </a:xfrm>
          <a:custGeom xmlns:a="http://schemas.openxmlformats.org/drawingml/2006/main">
            <a:pathLst>
              <a:path w="266700" h="2124075">
                <a:moveTo>
                  <a:pt x="266700" y="0"/>
                </a:moveTo>
                <a:cubicBezTo>
                  <a:pt x="133350" y="0"/>
                  <a:pt x="133350" y="2124075"/>
                  <a:pt x="0" y="21240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4" name="origin-anchor">
            <a:extLst xmlns:a="http://schemas.openxmlformats.org/drawingml/2006/main">
              <a:ext uri="{FF2B5EF4-FFF2-40B4-BE49-F238E27FC236}">
                <a16:creationId xmlns:a16="http://schemas.microsoft.com/office/drawing/2014/main" id="{6A1FC7C1-F494-4F0E-B12C-8906CD37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3188" y="4662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  <p:sp>
        <p:nvSpPr>
          <p:cNvPr id="15" name="operation-label">
            <a:extLst xmlns:a="http://schemas.openxmlformats.org/drawingml/2006/main">
              <a:ext uri="{FF2B5EF4-FFF2-40B4-BE49-F238E27FC236}">
                <a16:creationId xmlns:a16="http://schemas.microsoft.com/office/drawing/2014/main" id="{75980DF4-B61F-4F56-9AA8-C6263B74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010275"/>
            <a:ext cx="2781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Operação</a:t>
            </a:r>
          </a:p>
        </p:txBody>
      </p:sp>
    </p:spTree>
    <p:extLst>
      <p:ext uri="{BB962C8B-B14F-4D97-AF65-F5344CB8AC3E}">
        <p14:creationId xmlns:p14="http://schemas.microsoft.com/office/powerpoint/2010/main" val="994583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FE22CBA-8302-48D9-A2FC-D333C3F6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A9221-DA3F-452A-8209-E395318DE3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5ae61658b43a6">
            <a:extLst>
              <a:ext uri="{96DAC541-7B7A-43D3-8B79-37D633B846F1}">
                <asvg:svgBlip xmlns:asvg="http://schemas.microsoft.com/office/drawing/2016/SVG/main" r:embed="Rd679c03c49de46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2343150"/>
            <a:ext cx="4581525" cy="943255"/>
          </a:xfrm>
          <a:prstGeom xmlns:a="http://schemas.openxmlformats.org/drawingml/2006/main" prst="rect">
            <a:avLst/>
          </a:prstGeom>
        </p:spPr>
      </p:pic>
      <p:sp>
        <p:nvSpPr>
          <p:cNvPr id="4" name="solution-entry">
            <a:extLst xmlns:a="http://schemas.openxmlformats.org/drawingml/2006/main">
              <a:ext uri="{FF2B5EF4-FFF2-40B4-BE49-F238E27FC236}">
                <a16:creationId xmlns:a16="http://schemas.microsoft.com/office/drawing/2014/main" id="{FBC038B6-7E26-40FE-84F6-658DD9F8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614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Fechamento financeiro da Tarvo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587B4-C46F-49ED-A607-31B8D16835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b225a583e44d82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572375" y="1866900"/>
            <a:ext cx="3705225" cy="3857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603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371A8-0BB2-40A2-AC8E-F7EC8B5D11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7f874fa5f4bb4">
            <a:extLst>
              <a:ext uri="{96DAC541-7B7A-43D3-8B79-37D633B846F1}">
                <asvg:svgBlip xmlns:asvg="http://schemas.microsoft.com/office/drawing/2016/SVG/main" r:embed="Rdda97de5c1c74f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598A217E-C2C7-4A35-B82F-BB67905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833391C-F937-4270-914B-0E60C4C7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12</a:t>
            </a:r>
          </a:p>
        </p:txBody>
      </p:sp>
      <p:sp>
        <p:nvSpPr>
          <p:cNvPr id="5" name="definition">
            <a:extLst xmlns:a="http://schemas.openxmlformats.org/drawingml/2006/main">
              <a:ext uri="{FF2B5EF4-FFF2-40B4-BE49-F238E27FC236}">
                <a16:creationId xmlns:a16="http://schemas.microsoft.com/office/drawing/2014/main" id="{E745CFE3-1F25-41A3-8C79-3977614A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008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Um </a:t>
            </a: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gerenciador inteligente</a:t>
            </a:r>
          </a:p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do fechamento financeiro</a:t>
            </a:r>
          </a:p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da Tarvo</a:t>
            </a:r>
          </a:p>
        </p:txBody>
      </p:sp>
      <p:sp>
        <p:nvSpPr>
          <p:cNvPr id="6" name="definition-detail">
            <a:extLst xmlns:a="http://schemas.openxmlformats.org/drawingml/2006/main">
              <a:ext uri="{FF2B5EF4-FFF2-40B4-BE49-F238E27FC236}">
                <a16:creationId xmlns:a16="http://schemas.microsoft.com/office/drawing/2014/main" id="{1998CE32-AD88-42F4-8312-5ED8F3E4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52875"/>
            <a:ext cx="692467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Reúne os arquivos e as regras da operação.</a:t>
            </a:r>
          </a:p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Apura comissões, confere cobranças e</a:t>
            </a:r>
          </a:p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organiza as pendências para o financeiro.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FBB58-1FB2-4CF9-A0FF-14D50E32B4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c520d39c444cb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8001000" y="2524125"/>
            <a:ext cx="3305175" cy="3371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6004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AE2E4-A995-4E18-BCE7-24C93DB6A8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d88fd212b402b">
            <a:extLst>
              <a:ext uri="{96DAC541-7B7A-43D3-8B79-37D633B846F1}">
                <asvg:svgBlip xmlns:asvg="http://schemas.microsoft.com/office/drawing/2016/SVG/main" r:embed="R7888ae8d7d684a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1E6709AF-5654-4F67-B039-6BB89467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1060CA9-5093-4A67-97C5-ED42475E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13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4749E851-C282-429B-A932-81C55068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Recebe os arquivos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EC9460FF-9FFF-43EB-8441-9C65096D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como chegam</a:t>
            </a:r>
          </a:p>
        </p:txBody>
      </p:sp>
      <p:sp>
        <p:nvSpPr>
          <p:cNvPr id="7" name="source-0">
            <a:extLst xmlns:a="http://schemas.openxmlformats.org/drawingml/2006/main">
              <a:ext uri="{FF2B5EF4-FFF2-40B4-BE49-F238E27FC236}">
                <a16:creationId xmlns:a16="http://schemas.microsoft.com/office/drawing/2014/main" id="{0BCE8863-CAFB-4670-8727-EBF36509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289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Orbe e ajustes</a:t>
            </a:r>
          </a:p>
        </p:txBody>
      </p:sp>
      <p:sp>
        <p:nvSpPr>
          <p:cNvPr id="8" name="source-format-0">
            <a:extLst xmlns:a="http://schemas.openxmlformats.org/drawingml/2006/main">
              <a:ext uri="{FF2B5EF4-FFF2-40B4-BE49-F238E27FC236}">
                <a16:creationId xmlns:a16="http://schemas.microsoft.com/office/drawing/2014/main" id="{C7E42EFD-EDD1-44F5-AA3A-E982CB2E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00425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CSV</a:t>
            </a:r>
          </a:p>
        </p:txBody>
      </p:sp>
      <p:sp>
        <p:nvSpPr>
          <p:cNvPr id="9" name="source-link-0">
            <a:extLst xmlns:a="http://schemas.openxmlformats.org/drawingml/2006/main">
              <a:ext uri="{FF2B5EF4-FFF2-40B4-BE49-F238E27FC236}">
                <a16:creationId xmlns:a16="http://schemas.microsoft.com/office/drawing/2014/main" id="{A9568321-59A2-4FF9-9C29-5D86F201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86125"/>
            <a:ext cx="2095500" cy="1190625"/>
          </a:xfrm>
          <a:custGeom xmlns:a="http://schemas.openxmlformats.org/drawingml/2006/main">
            <a:pathLst>
              <a:path w="2095500" h="1190625">
                <a:moveTo>
                  <a:pt x="0" y="0"/>
                </a:moveTo>
                <a:cubicBezTo>
                  <a:pt x="1047750" y="0"/>
                  <a:pt x="1047750" y="1190625"/>
                  <a:pt x="2095500" y="11906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0" name="source-1">
            <a:extLst xmlns:a="http://schemas.openxmlformats.org/drawingml/2006/main">
              <a:ext uri="{FF2B5EF4-FFF2-40B4-BE49-F238E27FC236}">
                <a16:creationId xmlns:a16="http://schemas.microsoft.com/office/drawing/2014/main" id="{FB31C564-0ACA-40F3-9EE6-965DA454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004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E-mail da Ponte</a:t>
            </a:r>
          </a:p>
        </p:txBody>
      </p:sp>
      <p:sp>
        <p:nvSpPr>
          <p:cNvPr id="11" name="source-format-1">
            <a:extLst xmlns:a="http://schemas.openxmlformats.org/drawingml/2006/main">
              <a:ext uri="{FF2B5EF4-FFF2-40B4-BE49-F238E27FC236}">
                <a16:creationId xmlns:a16="http://schemas.microsoft.com/office/drawing/2014/main" id="{971AE6E1-36DF-48A5-A194-7CEE5AE7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719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XLSX no anexo</a:t>
            </a:r>
          </a:p>
        </p:txBody>
      </p:sp>
      <p:sp>
        <p:nvSpPr>
          <p:cNvPr id="12" name="source-link-1">
            <a:extLst xmlns:a="http://schemas.openxmlformats.org/drawingml/2006/main">
              <a:ext uri="{FF2B5EF4-FFF2-40B4-BE49-F238E27FC236}">
                <a16:creationId xmlns:a16="http://schemas.microsoft.com/office/drawing/2014/main" id="{C9D32E1C-B708-448C-BA31-C25185C4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57650"/>
            <a:ext cx="2095500" cy="419100"/>
          </a:xfrm>
          <a:custGeom xmlns:a="http://schemas.openxmlformats.org/drawingml/2006/main">
            <a:pathLst>
              <a:path w="2095500" h="419100">
                <a:moveTo>
                  <a:pt x="0" y="0"/>
                </a:moveTo>
                <a:cubicBezTo>
                  <a:pt x="1047750" y="0"/>
                  <a:pt x="1047750" y="419100"/>
                  <a:pt x="2095500" y="419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source-2">
            <a:extLst xmlns:a="http://schemas.openxmlformats.org/drawingml/2006/main">
              <a:ext uri="{FF2B5EF4-FFF2-40B4-BE49-F238E27FC236}">
                <a16:creationId xmlns:a16="http://schemas.microsoft.com/office/drawing/2014/main" id="{389198B1-125B-46A0-81CF-8D81C7E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720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Taxas e plano de contas</a:t>
            </a:r>
          </a:p>
        </p:txBody>
      </p:sp>
      <p:sp>
        <p:nvSpPr>
          <p:cNvPr id="14" name="source-format-2">
            <a:extLst xmlns:a="http://schemas.openxmlformats.org/drawingml/2006/main">
              <a:ext uri="{FF2B5EF4-FFF2-40B4-BE49-F238E27FC236}">
                <a16:creationId xmlns:a16="http://schemas.microsoft.com/office/drawing/2014/main" id="{A83BA620-D76A-4DFE-8CFD-A4485E7A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943475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XLSX / CSV</a:t>
            </a:r>
          </a:p>
        </p:txBody>
      </p:sp>
      <p:sp>
        <p:nvSpPr>
          <p:cNvPr id="15" name="source-link-2">
            <a:extLst xmlns:a="http://schemas.openxmlformats.org/drawingml/2006/main">
              <a:ext uri="{FF2B5EF4-FFF2-40B4-BE49-F238E27FC236}">
                <a16:creationId xmlns:a16="http://schemas.microsoft.com/office/drawing/2014/main" id="{AFDD123E-695F-4B2F-8EA4-83639AE5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76750"/>
            <a:ext cx="2095500" cy="352425"/>
          </a:xfrm>
          <a:custGeom xmlns:a="http://schemas.openxmlformats.org/drawingml/2006/main">
            <a:pathLst>
              <a:path w="2095500" h="352425">
                <a:moveTo>
                  <a:pt x="0" y="352425"/>
                </a:moveTo>
                <a:cubicBezTo>
                  <a:pt x="1047750" y="352425"/>
                  <a:pt x="1047750" y="0"/>
                  <a:pt x="209550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6" name="source-3">
            <a:extLst xmlns:a="http://schemas.openxmlformats.org/drawingml/2006/main">
              <a:ext uri="{FF2B5EF4-FFF2-40B4-BE49-F238E27FC236}">
                <a16:creationId xmlns:a16="http://schemas.microsoft.com/office/drawing/2014/main" id="{679D1094-30EC-4E9E-8EFB-0ABB8B4F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3435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Dois bancos</a:t>
            </a:r>
          </a:p>
        </p:txBody>
      </p:sp>
      <p:sp>
        <p:nvSpPr>
          <p:cNvPr id="17" name="source-format-3">
            <a:extLst xmlns:a="http://schemas.openxmlformats.org/drawingml/2006/main">
              <a:ext uri="{FF2B5EF4-FFF2-40B4-BE49-F238E27FC236}">
                <a16:creationId xmlns:a16="http://schemas.microsoft.com/office/drawing/2014/main" id="{C4850887-8C89-4E20-97E8-329233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71500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CSV / OFX</a:t>
            </a:r>
          </a:p>
        </p:txBody>
      </p:sp>
      <p:sp>
        <p:nvSpPr>
          <p:cNvPr id="18" name="source-link-3">
            <a:extLst xmlns:a="http://schemas.openxmlformats.org/drawingml/2006/main">
              <a:ext uri="{FF2B5EF4-FFF2-40B4-BE49-F238E27FC236}">
                <a16:creationId xmlns:a16="http://schemas.microsoft.com/office/drawing/2014/main" id="{3DD7B62E-3BAB-4350-91EB-4F889E8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76750"/>
            <a:ext cx="2095500" cy="1123950"/>
          </a:xfrm>
          <a:custGeom xmlns:a="http://schemas.openxmlformats.org/drawingml/2006/main">
            <a:pathLst>
              <a:path w="2095500" h="1123950">
                <a:moveTo>
                  <a:pt x="0" y="1123950"/>
                </a:moveTo>
                <a:cubicBezTo>
                  <a:pt x="1047750" y="1123950"/>
                  <a:pt x="1047750" y="0"/>
                  <a:pt x="209550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4534B-7F1E-451C-970F-E14271ABE0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c62d5d9eb4204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677150" y="2867025"/>
            <a:ext cx="3305175" cy="3295650"/>
          </a:xfrm>
          <a:prstGeom xmlns:a="http://schemas.openxmlformats.org/drawingml/2006/main" prst="rect">
            <a:avLst/>
          </a:prstGeom>
        </p:spPr>
      </p:pic>
      <p:sp>
        <p:nvSpPr>
          <p:cNvPr id="20" name="unified-files">
            <a:extLst xmlns:a="http://schemas.openxmlformats.org/drawingml/2006/main">
              <a:ext uri="{FF2B5EF4-FFF2-40B4-BE49-F238E27FC236}">
                <a16:creationId xmlns:a16="http://schemas.microsoft.com/office/drawing/2014/main" id="{C0BCBB0A-69C7-4185-B131-DD290348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61912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Arquivos preservados</a:t>
            </a:r>
          </a:p>
        </p:txBody>
      </p:sp>
    </p:spTree>
    <p:extLst>
      <p:ext uri="{BB962C8B-B14F-4D97-AF65-F5344CB8AC3E}">
        <p14:creationId xmlns:p14="http://schemas.microsoft.com/office/powerpoint/2010/main" val="1555894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E7ECA-FE8F-4547-8504-D15C5481C6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3fc9dc2684c05">
            <a:extLst>
              <a:ext uri="{96DAC541-7B7A-43D3-8B79-37D633B846F1}">
                <asvg:svgBlip xmlns:asvg="http://schemas.microsoft.com/office/drawing/2016/SVG/main" r:embed="R7050c38ebbd94e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9AA1515-904F-451F-9187-EEEEDEDE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4C41F8D-6960-482E-9302-1015AE7E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14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47CD4053-97E9-48E5-AD9C-9F8DB2DE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Liga cada operação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30428FCF-E51F-4153-B851-BC8E1056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à condição aplicável</a:t>
            </a:r>
          </a:p>
        </p:txBody>
      </p:sp>
      <p:sp>
        <p:nvSpPr>
          <p:cNvPr id="7" name="condition-0">
            <a:extLst xmlns:a="http://schemas.openxmlformats.org/drawingml/2006/main">
              <a:ext uri="{FF2B5EF4-FFF2-40B4-BE49-F238E27FC236}">
                <a16:creationId xmlns:a16="http://schemas.microsoft.com/office/drawing/2014/main" id="{411274C7-D069-49D7-B239-112D3D4D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990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Lojista</a:t>
            </a:r>
          </a:p>
        </p:txBody>
      </p:sp>
      <p:sp>
        <p:nvSpPr>
          <p:cNvPr id="8" name="condition-detail-0">
            <a:extLst xmlns:a="http://schemas.openxmlformats.org/drawingml/2006/main">
              <a:ext uri="{FF2B5EF4-FFF2-40B4-BE49-F238E27FC236}">
                <a16:creationId xmlns:a16="http://schemas.microsoft.com/office/drawing/2014/main" id="{53A75E64-FC9F-4C3F-AB9E-4DA5570C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385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Identidade confirmada</a:t>
            </a:r>
          </a:p>
        </p:txBody>
      </p:sp>
      <p:sp>
        <p:nvSpPr>
          <p:cNvPr id="9" name="match-link-0">
            <a:extLst xmlns:a="http://schemas.openxmlformats.org/drawingml/2006/main">
              <a:ext uri="{FF2B5EF4-FFF2-40B4-BE49-F238E27FC236}">
                <a16:creationId xmlns:a16="http://schemas.microsoft.com/office/drawing/2014/main" id="{AD59C9B8-A2FB-48A3-9DA5-C5521449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276600"/>
            <a:ext cx="1809750" cy="1076325"/>
          </a:xfrm>
          <a:custGeom xmlns:a="http://schemas.openxmlformats.org/drawingml/2006/main">
            <a:pathLst>
              <a:path w="1809750" h="1076325">
                <a:moveTo>
                  <a:pt x="0" y="0"/>
                </a:moveTo>
                <a:cubicBezTo>
                  <a:pt x="904875" y="0"/>
                  <a:pt x="904875" y="1076325"/>
                  <a:pt x="1809750" y="10763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0" name="condition-1">
            <a:extLst xmlns:a="http://schemas.openxmlformats.org/drawingml/2006/main">
              <a:ext uri="{FF2B5EF4-FFF2-40B4-BE49-F238E27FC236}">
                <a16:creationId xmlns:a16="http://schemas.microsoft.com/office/drawing/2014/main" id="{28986E16-4A2F-4AB5-B8F1-3FC4C63C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5287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Contrato e vigência</a:t>
            </a:r>
          </a:p>
        </p:txBody>
      </p:sp>
      <p:sp>
        <p:nvSpPr>
          <p:cNvPr id="11" name="condition-detail-1">
            <a:extLst xmlns:a="http://schemas.openxmlformats.org/drawingml/2006/main">
              <a:ext uri="{FF2B5EF4-FFF2-40B4-BE49-F238E27FC236}">
                <a16:creationId xmlns:a16="http://schemas.microsoft.com/office/drawing/2014/main" id="{86635898-AF7A-45D1-A2F8-AC71FE78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Condição válida na data</a:t>
            </a:r>
          </a:p>
        </p:txBody>
      </p:sp>
      <p:sp>
        <p:nvSpPr>
          <p:cNvPr id="12" name="match-link-1">
            <a:extLst xmlns:a="http://schemas.openxmlformats.org/drawingml/2006/main">
              <a:ext uri="{FF2B5EF4-FFF2-40B4-BE49-F238E27FC236}">
                <a16:creationId xmlns:a16="http://schemas.microsoft.com/office/drawing/2014/main" id="{BBAEDAC0-9C69-4A3A-95B6-B933803C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219575"/>
            <a:ext cx="1809750" cy="133350"/>
          </a:xfrm>
          <a:custGeom xmlns:a="http://schemas.openxmlformats.org/drawingml/2006/main">
            <a:pathLst>
              <a:path w="1809750" h="133350">
                <a:moveTo>
                  <a:pt x="0" y="0"/>
                </a:moveTo>
                <a:cubicBezTo>
                  <a:pt x="904875" y="0"/>
                  <a:pt x="904875" y="133350"/>
                  <a:pt x="1809750" y="133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condition-2">
            <a:extLst xmlns:a="http://schemas.openxmlformats.org/drawingml/2006/main">
              <a:ext uri="{FF2B5EF4-FFF2-40B4-BE49-F238E27FC236}">
                <a16:creationId xmlns:a16="http://schemas.microsoft.com/office/drawing/2014/main" id="{08662B1E-C359-4231-8F38-2F8E594D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958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Orientação do financeiro</a:t>
            </a:r>
          </a:p>
        </p:txBody>
      </p:sp>
      <p:sp>
        <p:nvSpPr>
          <p:cNvPr id="14" name="condition-detail-2">
            <a:extLst xmlns:a="http://schemas.openxmlformats.org/drawingml/2006/main">
              <a:ext uri="{FF2B5EF4-FFF2-40B4-BE49-F238E27FC236}">
                <a16:creationId xmlns:a16="http://schemas.microsoft.com/office/drawing/2014/main" id="{89641485-89ED-49EF-8BBE-B075CD3A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244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 e confirmação</a:t>
            </a:r>
          </a:p>
        </p:txBody>
      </p:sp>
      <p:sp>
        <p:nvSpPr>
          <p:cNvPr id="15" name="match-link-2">
            <a:extLst xmlns:a="http://schemas.openxmlformats.org/drawingml/2006/main">
              <a:ext uri="{FF2B5EF4-FFF2-40B4-BE49-F238E27FC236}">
                <a16:creationId xmlns:a16="http://schemas.microsoft.com/office/drawing/2014/main" id="{352EE4C1-3786-49D1-8FC1-AFB090DD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352925"/>
            <a:ext cx="1809750" cy="809625"/>
          </a:xfrm>
          <a:custGeom xmlns:a="http://schemas.openxmlformats.org/drawingml/2006/main">
            <a:pathLst>
              <a:path w="1809750" h="809625">
                <a:moveTo>
                  <a:pt x="0" y="809625"/>
                </a:moveTo>
                <a:cubicBezTo>
                  <a:pt x="904875" y="809625"/>
                  <a:pt x="904875" y="0"/>
                  <a:pt x="180975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4269C-B1D3-406A-A9A5-35E24E1524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a3d4376b44f1c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7810500" y="2762250"/>
            <a:ext cx="3333750" cy="3124200"/>
          </a:xfrm>
          <a:prstGeom xmlns:a="http://schemas.openxmlformats.org/drawingml/2006/main" prst="rect">
            <a:avLst/>
          </a:prstGeom>
        </p:spPr>
      </p:pic>
      <p:sp>
        <p:nvSpPr>
          <p:cNvPr id="17" name="unconfirmed">
            <a:extLst xmlns:a="http://schemas.openxmlformats.org/drawingml/2006/main">
              <a:ext uri="{FF2B5EF4-FFF2-40B4-BE49-F238E27FC236}">
                <a16:creationId xmlns:a16="http://schemas.microsoft.com/office/drawing/2014/main" id="{9C5D1D75-5903-45CA-B58E-42AC964C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Informação sem confirmação permanece pendente.</a:t>
            </a:r>
          </a:p>
        </p:txBody>
      </p:sp>
    </p:spTree>
    <p:extLst>
      <p:ext uri="{BB962C8B-B14F-4D97-AF65-F5344CB8AC3E}">
        <p14:creationId xmlns:p14="http://schemas.microsoft.com/office/powerpoint/2010/main" val="6648174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52833-32EF-46A6-9238-0A63BD2A5E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cfd22a0f64a8e">
            <a:extLst>
              <a:ext uri="{96DAC541-7B7A-43D3-8B79-37D633B846F1}">
                <asvg:svgBlip xmlns:asvg="http://schemas.microsoft.com/office/drawing/2016/SVG/main" r:embed="Rc3b85ababb1842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1CC8917-AE53-491C-910B-443DD449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D62C9F8-4FF3-4F79-BC0E-A6D3E02D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15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29077A4-4751-417B-BD1C-BD4AEC59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Apura o checkout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D8E7E581-531C-4B58-A79F-019802F1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pela condição contratada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45602-436A-4115-9579-4FF5B2B83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b2852ca514e0f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future-streams">
            <a:extLst xmlns:a="http://schemas.openxmlformats.org/drawingml/2006/main">
              <a:ext uri="{FF2B5EF4-FFF2-40B4-BE49-F238E27FC236}">
                <a16:creationId xmlns:a16="http://schemas.microsoft.com/office/drawing/2014/main" id="{8E96FE26-1133-4F0F-BC59-D613A1CD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81325"/>
            <a:ext cx="75723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4"/>
          </a:solidFill>
          <a:ln xmlns:a="http://schemas.openxmlformats.org/drawingml/2006/main" w="0">
            <a:noFill/>
          </a:ln>
        </p:spPr>
      </p:sp>
      <p:sp>
        <p:nvSpPr>
          <p:cNvPr id="9" name="stream-0">
            <a:extLst xmlns:a="http://schemas.openxmlformats.org/drawingml/2006/main">
              <a:ext uri="{FF2B5EF4-FFF2-40B4-BE49-F238E27FC236}">
                <a16:creationId xmlns:a16="http://schemas.microsoft.com/office/drawing/2014/main" id="{AF9C79E3-93C7-4209-BC5E-BCFF9748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10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5CA14A94-017A-4F83-9409-157A11A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</p:spTree>
    <p:extLst>
      <p:ext uri="{BB962C8B-B14F-4D97-AF65-F5344CB8AC3E}">
        <p14:creationId xmlns:p14="http://schemas.microsoft.com/office/powerpoint/2010/main" val="4505742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D829E-D50F-4EE4-82A8-CCB1A0DEE7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8cdf05f574adf">
            <a:extLst>
              <a:ext uri="{96DAC541-7B7A-43D3-8B79-37D633B846F1}">
                <asvg:svgBlip xmlns:asvg="http://schemas.microsoft.com/office/drawing/2016/SVG/main" r:embed="R15e6164a622a41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22131EC7-B566-44F6-B186-A0D54D57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CAC83A1-69BC-4CFE-A79E-D0002304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16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1FA7E634-6D16-4281-9DE5-F48BCB3D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Apura as remessas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1CE94845-13DD-4682-8B73-FA4FBFFB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pelo spread realizado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F2F45-FCB1-4FCC-880B-777943C4AF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c67b6d988490b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future-streams">
            <a:extLst xmlns:a="http://schemas.openxmlformats.org/drawingml/2006/main">
              <a:ext uri="{FF2B5EF4-FFF2-40B4-BE49-F238E27FC236}">
                <a16:creationId xmlns:a16="http://schemas.microsoft.com/office/drawing/2014/main" id="{C50D0734-7545-4430-9A1B-11C220FC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81325"/>
            <a:ext cx="44958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4"/>
          </a:solidFill>
          <a:ln xmlns:a="http://schemas.openxmlformats.org/drawingml/2006/main" w="0">
            <a:noFill/>
          </a:ln>
        </p:spPr>
      </p:sp>
      <p:sp>
        <p:nvSpPr>
          <p:cNvPr id="9" name="stream-0">
            <a:extLst xmlns:a="http://schemas.openxmlformats.org/drawingml/2006/main">
              <a:ext uri="{FF2B5EF4-FFF2-40B4-BE49-F238E27FC236}">
                <a16:creationId xmlns:a16="http://schemas.microsoft.com/office/drawing/2014/main" id="{D51AF4CD-89BD-42C6-860E-FC9BA06F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10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2D134146-66B5-413F-A0B1-1B054326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  <p:sp>
        <p:nvSpPr>
          <p:cNvPr id="11" name="stream-1">
            <a:extLst xmlns:a="http://schemas.openxmlformats.org/drawingml/2006/main">
              <a:ext uri="{FF2B5EF4-FFF2-40B4-BE49-F238E27FC236}">
                <a16:creationId xmlns:a16="http://schemas.microsoft.com/office/drawing/2014/main" id="{A528811A-3FD5-42F6-AD9E-AF59396F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2" name="stream-detail-1">
            <a:extLst xmlns:a="http://schemas.openxmlformats.org/drawingml/2006/main">
              <a:ext uri="{FF2B5EF4-FFF2-40B4-BE49-F238E27FC236}">
                <a16:creationId xmlns:a16="http://schemas.microsoft.com/office/drawing/2014/main" id="{E3675A2D-93F4-42CD-B0AE-AE3A724A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50% do spread elegível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Duplicidades e contestação</a:t>
            </a:r>
          </a:p>
        </p:txBody>
      </p:sp>
    </p:spTree>
    <p:extLst>
      <p:ext uri="{BB962C8B-B14F-4D97-AF65-F5344CB8AC3E}">
        <p14:creationId xmlns:p14="http://schemas.microsoft.com/office/powerpoint/2010/main" val="14173483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2B28A-5FFE-48D7-A3BC-5B7CBD7020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94fa83931b435c">
            <a:extLst>
              <a:ext uri="{96DAC541-7B7A-43D3-8B79-37D633B846F1}">
                <asvg:svgBlip xmlns:asvg="http://schemas.microsoft.com/office/drawing/2016/SVG/main" r:embed="R97509a0fcb0545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B4B3BD3-85A8-4633-A56F-5B494A8A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31A1B90-0520-439F-A125-07A98DB8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17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ADBC7CF9-6EE7-4504-A21C-3E5BA851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Classifica os movimentos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70F7087E-9C0C-4B7F-B31F-D8F2E67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bancários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8FF7B-FE65-4B73-B6B1-9FC16FE8E4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ebf775eb1498c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stream-0">
            <a:extLst xmlns:a="http://schemas.openxmlformats.org/drawingml/2006/main">
              <a:ext uri="{FF2B5EF4-FFF2-40B4-BE49-F238E27FC236}">
                <a16:creationId xmlns:a16="http://schemas.microsoft.com/office/drawing/2014/main" id="{EEEBEB75-E8D4-4BA1-BE86-7238FC9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9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8409E15E-D5C1-4E39-A628-E0B9621B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  <p:sp>
        <p:nvSpPr>
          <p:cNvPr id="10" name="stream-1">
            <a:extLst xmlns:a="http://schemas.openxmlformats.org/drawingml/2006/main">
              <a:ext uri="{FF2B5EF4-FFF2-40B4-BE49-F238E27FC236}">
                <a16:creationId xmlns:a16="http://schemas.microsoft.com/office/drawing/2014/main" id="{B364220B-DC58-479C-BF4A-FF7D5A83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1" name="stream-detail-1">
            <a:extLst xmlns:a="http://schemas.openxmlformats.org/drawingml/2006/main">
              <a:ext uri="{FF2B5EF4-FFF2-40B4-BE49-F238E27FC236}">
                <a16:creationId xmlns:a16="http://schemas.microsoft.com/office/drawing/2014/main" id="{3E9BCEDC-ED6A-4E08-9BCB-2939D647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50% do spread elegível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Duplicidades e contestação</a:t>
            </a:r>
          </a:p>
        </p:txBody>
      </p:sp>
      <p:sp>
        <p:nvSpPr>
          <p:cNvPr id="12" name="stream-2">
            <a:extLst xmlns:a="http://schemas.openxmlformats.org/drawingml/2006/main">
              <a:ext uri="{FF2B5EF4-FFF2-40B4-BE49-F238E27FC236}">
                <a16:creationId xmlns:a16="http://schemas.microsoft.com/office/drawing/2014/main" id="{212AFEB3-B394-4590-BFEF-8B08A3B9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Bancos</a:t>
            </a:r>
          </a:p>
        </p:txBody>
      </p:sp>
      <p:sp>
        <p:nvSpPr>
          <p:cNvPr id="13" name="stream-detail-2">
            <a:extLst xmlns:a="http://schemas.openxmlformats.org/drawingml/2006/main">
              <a:ext uri="{FF2B5EF4-FFF2-40B4-BE49-F238E27FC236}">
                <a16:creationId xmlns:a16="http://schemas.microsoft.com/office/drawing/2014/main" id="{FFA8EA6F-3960-43E6-AE5B-590B2461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Conta proposta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Justificativa e origem</a:t>
            </a:r>
          </a:p>
        </p:txBody>
      </p:sp>
    </p:spTree>
    <p:extLst>
      <p:ext uri="{BB962C8B-B14F-4D97-AF65-F5344CB8AC3E}">
        <p14:creationId xmlns:p14="http://schemas.microsoft.com/office/powerpoint/2010/main" val="10799570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30E1-696F-4BD3-8282-19B46DB0DE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b393b8ffe479a">
            <a:extLst>
              <a:ext uri="{96DAC541-7B7A-43D3-8B79-37D633B846F1}">
                <asvg:svgBlip xmlns:asvg="http://schemas.microsoft.com/office/drawing/2016/SVG/main" r:embed="R4e6cdbe2f6bf44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AAA79C9-95AA-4644-AFDF-5351FC0A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53BE0CC-76A7-4A10-89C4-2AA74952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18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9341392D-FD8F-4AD0-8A1B-AC980091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Reúne os resultados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24AC4947-4D8F-4273-A08D-A28A18C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do fechamento</a:t>
            </a:r>
          </a:p>
        </p:txBody>
      </p:sp>
      <p:sp>
        <p:nvSpPr>
          <p:cNvPr id="7" name="input-0">
            <a:extLst xmlns:a="http://schemas.openxmlformats.org/drawingml/2006/main">
              <a:ext uri="{FF2B5EF4-FFF2-40B4-BE49-F238E27FC236}">
                <a16:creationId xmlns:a16="http://schemas.microsoft.com/office/drawing/2014/main" id="{0CB0B8A3-8BC4-4A87-A12B-680B202B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52775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8" name="convergence-0">
            <a:extLst xmlns:a="http://schemas.openxmlformats.org/drawingml/2006/main">
              <a:ext uri="{FF2B5EF4-FFF2-40B4-BE49-F238E27FC236}">
                <a16:creationId xmlns:a16="http://schemas.microsoft.com/office/drawing/2014/main" id="{A74383AA-FDA5-4326-9FBF-285AAD72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81375"/>
            <a:ext cx="1743075" cy="1076325"/>
          </a:xfrm>
          <a:custGeom xmlns:a="http://schemas.openxmlformats.org/drawingml/2006/main">
            <a:pathLst>
              <a:path w="1743075" h="1076325">
                <a:moveTo>
                  <a:pt x="0" y="0"/>
                </a:moveTo>
                <a:cubicBezTo>
                  <a:pt x="871538" y="0"/>
                  <a:pt x="871538" y="1076325"/>
                  <a:pt x="1743075" y="10763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9" name="input-1">
            <a:extLst xmlns:a="http://schemas.openxmlformats.org/drawingml/2006/main">
              <a:ext uri="{FF2B5EF4-FFF2-40B4-BE49-F238E27FC236}">
                <a16:creationId xmlns:a16="http://schemas.microsoft.com/office/drawing/2014/main" id="{D6574592-A3C0-4381-A63A-8C7F9EAB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191000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0" name="convergence-1">
            <a:extLst xmlns:a="http://schemas.openxmlformats.org/drawingml/2006/main">
              <a:ext uri="{FF2B5EF4-FFF2-40B4-BE49-F238E27FC236}">
                <a16:creationId xmlns:a16="http://schemas.microsoft.com/office/drawing/2014/main" id="{DFF1D94B-FE97-47D3-964F-3088AD34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1743075" cy="38100"/>
          </a:xfrm>
          <a:custGeom xmlns:a="http://schemas.openxmlformats.org/drawingml/2006/main">
            <a:pathLst>
              <a:path w="1743075" h="38100">
                <a:moveTo>
                  <a:pt x="0" y="0"/>
                </a:moveTo>
                <a:cubicBezTo>
                  <a:pt x="871538" y="0"/>
                  <a:pt x="871538" y="38100"/>
                  <a:pt x="1743075" y="38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1" name="input-2">
            <a:extLst xmlns:a="http://schemas.openxmlformats.org/drawingml/2006/main">
              <a:ext uri="{FF2B5EF4-FFF2-40B4-BE49-F238E27FC236}">
                <a16:creationId xmlns:a16="http://schemas.microsoft.com/office/drawing/2014/main" id="{998A066F-8F76-43BE-A077-869CCD9E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29225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Bancos</a:t>
            </a:r>
          </a:p>
        </p:txBody>
      </p:sp>
      <p:sp>
        <p:nvSpPr>
          <p:cNvPr id="12" name="convergence-2">
            <a:extLst xmlns:a="http://schemas.openxmlformats.org/drawingml/2006/main">
              <a:ext uri="{FF2B5EF4-FFF2-40B4-BE49-F238E27FC236}">
                <a16:creationId xmlns:a16="http://schemas.microsoft.com/office/drawing/2014/main" id="{9CBFECF6-BCF8-44FA-85DB-27FA04F7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57700"/>
            <a:ext cx="1743075" cy="1000125"/>
          </a:xfrm>
          <a:custGeom xmlns:a="http://schemas.openxmlformats.org/drawingml/2006/main">
            <a:pathLst>
              <a:path w="1743075" h="1000125">
                <a:moveTo>
                  <a:pt x="0" y="1000125"/>
                </a:moveTo>
                <a:cubicBezTo>
                  <a:pt x="871538" y="1000125"/>
                  <a:pt x="871538" y="0"/>
                  <a:pt x="174307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51DDF7-6CA0-47D3-A762-FAD6907EAA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5bed0db5f47b3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4981575" y="3200400"/>
            <a:ext cx="2381250" cy="2571750"/>
          </a:xfrm>
          <a:prstGeom xmlns:a="http://schemas.openxmlformats.org/drawingml/2006/main" prst="rect">
            <a:avLst/>
          </a:prstGeom>
        </p:spPr>
      </p:pic>
      <p:cxnSp>
        <p:nvCxnSpPr>
          <p:cNvPr id="14" name="dossier-to-output">
            <a:extLst xmlns:a="http://schemas.openxmlformats.org/drawingml/2006/main">
              <a:ext uri="{FF2B5EF4-FFF2-40B4-BE49-F238E27FC236}">
                <a16:creationId xmlns:a16="http://schemas.microsoft.com/office/drawing/2014/main" id="{529B3D18-B62F-4E52-B8A5-434919323E1C}"/>
              </a:ext>
            </a:extLst>
          </p:cNvPr>
          <p:cNvCxnSpPr/>
          <p:nvPr/>
        </p:nvCxnSpPr>
        <p:spPr>
          <a:xfrm xmlns:a="http://schemas.openxmlformats.org/drawingml/2006/main">
            <a:off x="7439025" y="44577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15" name="deliverables">
            <a:extLst xmlns:a="http://schemas.openxmlformats.org/drawingml/2006/main">
              <a:ext uri="{FF2B5EF4-FFF2-40B4-BE49-F238E27FC236}">
                <a16:creationId xmlns:a16="http://schemas.microsoft.com/office/drawing/2014/main" id="{0D9ADA6C-E2CA-4556-A5A0-5CBD0E32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0375"/>
            <a:ext cx="3476625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Comissões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Divergências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Notas a emitir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Lançamentos classificados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Pendências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Rastro</a:t>
            </a:r>
          </a:p>
        </p:txBody>
      </p:sp>
      <p:sp>
        <p:nvSpPr>
          <p:cNvPr id="16" name="invoice-state">
            <a:extLst xmlns:a="http://schemas.openxmlformats.org/drawingml/2006/main">
              <a:ext uri="{FF2B5EF4-FFF2-40B4-BE49-F238E27FC236}">
                <a16:creationId xmlns:a16="http://schemas.microsoft.com/office/drawing/2014/main" id="{680462CD-5EDC-4114-81DE-8454317D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Notas propostas para revisão</a:t>
            </a:r>
          </a:p>
        </p:txBody>
      </p:sp>
    </p:spTree>
    <p:extLst>
      <p:ext uri="{BB962C8B-B14F-4D97-AF65-F5344CB8AC3E}">
        <p14:creationId xmlns:p14="http://schemas.microsoft.com/office/powerpoint/2010/main" val="137153370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EFA6C-8DB1-41CB-ADBF-9FCC45064E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53a885047424a">
            <a:extLst>
              <a:ext uri="{96DAC541-7B7A-43D3-8B79-37D633B846F1}">
                <asvg:svgBlip xmlns:asvg="http://schemas.microsoft.com/office/drawing/2016/SVG/main" r:embed="Rc32e105d3f8540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E62179E9-3A7E-4996-B47A-BD38A422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EVIDÊNCIA E ORIGEM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8F42D8B-456D-4923-B6DC-CF9965ED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19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E25E0EE-7759-4A24-873C-CCB37D95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Cada valor aponta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5E7E2EFD-0251-41C1-B2FF-3EDA469C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para a origem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BFD9E-1019-40B3-B679-67C64F40C1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770bbae404fdb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1085850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8" name="trace-title-0">
            <a:extLst xmlns:a="http://schemas.openxmlformats.org/drawingml/2006/main">
              <a:ext uri="{FF2B5EF4-FFF2-40B4-BE49-F238E27FC236}">
                <a16:creationId xmlns:a16="http://schemas.microsoft.com/office/drawing/2014/main" id="{EE86EC4A-5347-49B1-9841-B50174EB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9" name="trace-detail-0">
            <a:extLst xmlns:a="http://schemas.openxmlformats.org/drawingml/2006/main">
              <a:ext uri="{FF2B5EF4-FFF2-40B4-BE49-F238E27FC236}">
                <a16:creationId xmlns:a16="http://schemas.microsoft.com/office/drawing/2014/main" id="{340DAAA0-B7F4-44E8-BC07-3D65F44E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Total apresentado</a:t>
            </a:r>
          </a:p>
        </p:txBody>
      </p:sp>
      <p:cxnSp>
        <p:nvCxnSpPr>
          <p:cNvPr id="10" name="trace-link-0">
            <a:extLst xmlns:a="http://schemas.openxmlformats.org/drawingml/2006/main">
              <a:ext uri="{FF2B5EF4-FFF2-40B4-BE49-F238E27FC236}">
                <a16:creationId xmlns:a16="http://schemas.microsoft.com/office/drawing/2014/main" id="{71EA2B8C-5275-40B9-8442-3044C43E96CA}"/>
              </a:ext>
            </a:extLst>
          </p:cNvPr>
          <p:cNvCxnSpPr/>
          <p:nvPr/>
        </p:nvCxnSpPr>
        <p:spPr>
          <a:xfrm xmlns:a="http://schemas.openxmlformats.org/drawingml/2006/main">
            <a:off x="3048000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D93D89-55B4-4178-808F-1AAA959378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980cd6987c4ef1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3876675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12" name="trace-title-1">
            <a:extLst xmlns:a="http://schemas.openxmlformats.org/drawingml/2006/main">
              <a:ext uri="{FF2B5EF4-FFF2-40B4-BE49-F238E27FC236}">
                <a16:creationId xmlns:a16="http://schemas.microsoft.com/office/drawing/2014/main" id="{9A8E0CD4-6658-48D7-9F34-896F9CA0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Operações</a:t>
            </a:r>
          </a:p>
        </p:txBody>
      </p:sp>
      <p:sp>
        <p:nvSpPr>
          <p:cNvPr id="13" name="trace-detail-1">
            <a:extLst xmlns:a="http://schemas.openxmlformats.org/drawingml/2006/main">
              <a:ext uri="{FF2B5EF4-FFF2-40B4-BE49-F238E27FC236}">
                <a16:creationId xmlns:a16="http://schemas.microsoft.com/office/drawing/2014/main" id="{5D21536B-5FF6-4624-8FB2-E95483DB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Linhas que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compõem o valor</a:t>
            </a:r>
          </a:p>
        </p:txBody>
      </p:sp>
      <p:cxnSp>
        <p:nvCxnSpPr>
          <p:cNvPr id="14" name="trace-link-1">
            <a:extLst xmlns:a="http://schemas.openxmlformats.org/drawingml/2006/main">
              <a:ext uri="{FF2B5EF4-FFF2-40B4-BE49-F238E27FC236}">
                <a16:creationId xmlns:a16="http://schemas.microsoft.com/office/drawing/2014/main" id="{8C945C2F-FC53-4B3D-96D5-D88CBE3003E5}"/>
              </a:ext>
            </a:extLst>
          </p:cNvPr>
          <p:cNvCxnSpPr/>
          <p:nvPr/>
        </p:nvCxnSpPr>
        <p:spPr>
          <a:xfrm xmlns:a="http://schemas.openxmlformats.org/drawingml/2006/main">
            <a:off x="5838825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E22860-4F7A-47B4-A788-2F251A984E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e5f2e5298496d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6667500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16" name="trace-title-2">
            <a:extLst xmlns:a="http://schemas.openxmlformats.org/drawingml/2006/main">
              <a:ext uri="{FF2B5EF4-FFF2-40B4-BE49-F238E27FC236}">
                <a16:creationId xmlns:a16="http://schemas.microsoft.com/office/drawing/2014/main" id="{F324DD18-6093-40CA-ADAC-76F35111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Regra</a:t>
            </a:r>
          </a:p>
        </p:txBody>
      </p:sp>
      <p:sp>
        <p:nvSpPr>
          <p:cNvPr id="17" name="trace-detail-2">
            <a:extLst xmlns:a="http://schemas.openxmlformats.org/drawingml/2006/main">
              <a:ext uri="{FF2B5EF4-FFF2-40B4-BE49-F238E27FC236}">
                <a16:creationId xmlns:a16="http://schemas.microsoft.com/office/drawing/2014/main" id="{AFDF47F4-70D0-4AC0-B21C-7DF2F781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Condição e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vigência aplicadas</a:t>
            </a:r>
          </a:p>
        </p:txBody>
      </p:sp>
      <p:cxnSp>
        <p:nvCxnSpPr>
          <p:cNvPr id="18" name="trace-link-2">
            <a:extLst xmlns:a="http://schemas.openxmlformats.org/drawingml/2006/main">
              <a:ext uri="{FF2B5EF4-FFF2-40B4-BE49-F238E27FC236}">
                <a16:creationId xmlns:a16="http://schemas.microsoft.com/office/drawing/2014/main" id="{966931F4-8C89-4327-903D-DB67B12958FB}"/>
              </a:ext>
            </a:extLst>
          </p:cNvPr>
          <p:cNvCxnSpPr/>
          <p:nvPr/>
        </p:nvCxnSpPr>
        <p:spPr>
          <a:xfrm xmlns:a="http://schemas.openxmlformats.org/drawingml/2006/main">
            <a:off x="8629650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E2D66-4AB8-42CD-BB71-FA87840D2A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d162d70cd440a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458325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20" name="trace-title-3">
            <a:extLst xmlns:a="http://schemas.openxmlformats.org/drawingml/2006/main">
              <a:ext uri="{FF2B5EF4-FFF2-40B4-BE49-F238E27FC236}">
                <a16:creationId xmlns:a16="http://schemas.microsoft.com/office/drawing/2014/main" id="{94DF997E-C268-4BEF-908F-404AF97B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Arquivo</a:t>
            </a:r>
          </a:p>
        </p:txBody>
      </p:sp>
      <p:sp>
        <p:nvSpPr>
          <p:cNvPr id="21" name="trace-detail-3">
            <a:extLst xmlns:a="http://schemas.openxmlformats.org/drawingml/2006/main">
              <a:ext uri="{FF2B5EF4-FFF2-40B4-BE49-F238E27FC236}">
                <a16:creationId xmlns:a16="http://schemas.microsoft.com/office/drawing/2014/main" id="{F6E53794-BD16-4A16-9870-1DEFE3FD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Referência exata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da fonte</a:t>
            </a:r>
          </a:p>
        </p:txBody>
      </p:sp>
    </p:spTree>
    <p:extLst>
      <p:ext uri="{BB962C8B-B14F-4D97-AF65-F5344CB8AC3E}">
        <p14:creationId xmlns:p14="http://schemas.microsoft.com/office/powerpoint/2010/main" val="19096634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66138-8CD0-485A-8FE2-66CD5FA4D2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960898def40cf">
            <a:extLst>
              <a:ext uri="{96DAC541-7B7A-43D3-8B79-37D633B846F1}">
                <asvg:svgBlip xmlns:asvg="http://schemas.microsoft.com/office/drawing/2016/SVG/main" r:embed="R4f8abf04c64242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ED86E26E-DF3A-4639-A761-93F0595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EVIDÊNCIA E ORIGEM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FD47357-571B-490F-A8EB-EE4E27B0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20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4E60801-9463-46AA-A724-A23AF9C9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Rota Global</a:t>
            </a:r>
          </a:p>
        </p:txBody>
      </p:sp>
      <p:sp>
        <p:nvSpPr>
          <p:cNvPr id="6" name="case-status">
            <a:extLst xmlns:a="http://schemas.openxmlformats.org/drawingml/2006/main">
              <a:ext uri="{FF2B5EF4-FFF2-40B4-BE49-F238E27FC236}">
                <a16:creationId xmlns:a16="http://schemas.microsoft.com/office/drawing/2014/main" id="{23D4DC06-7BF6-48EF-9308-3099B8E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 líquida preparada para revisão</a:t>
            </a:r>
          </a:p>
        </p:txBody>
      </p:sp>
      <p:sp>
        <p:nvSpPr>
          <p:cNvPr id="7" name="case-total">
            <a:extLst xmlns:a="http://schemas.openxmlformats.org/drawingml/2006/main">
              <a:ext uri="{FF2B5EF4-FFF2-40B4-BE49-F238E27FC236}">
                <a16:creationId xmlns:a16="http://schemas.microsoft.com/office/drawing/2014/main" id="{9F10668B-2591-4005-AAC7-90A50D7D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6191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R$ 1.546,28</a:t>
            </a:r>
          </a:p>
        </p:txBody>
      </p:sp>
      <p:sp>
        <p:nvSpPr>
          <p:cNvPr id="8" name="positive-component">
            <a:extLst xmlns:a="http://schemas.openxmlformats.org/drawingml/2006/main">
              <a:ext uri="{FF2B5EF4-FFF2-40B4-BE49-F238E27FC236}">
                <a16:creationId xmlns:a16="http://schemas.microsoft.com/office/drawing/2014/main" id="{BF7E1D2D-EA32-436B-8BB4-C29DA93F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+ R$ 1.644,72</a:t>
            </a:r>
          </a:p>
        </p:txBody>
      </p:sp>
      <p:sp>
        <p:nvSpPr>
          <p:cNvPr id="9" name="positive-meaning">
            <a:extLst xmlns:a="http://schemas.openxmlformats.org/drawingml/2006/main">
              <a:ext uri="{FF2B5EF4-FFF2-40B4-BE49-F238E27FC236}">
                <a16:creationId xmlns:a16="http://schemas.microsoft.com/office/drawing/2014/main" id="{FE3030CF-7176-426B-9514-37E8BCD0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7244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diferenças positivas</a:t>
            </a:r>
          </a:p>
        </p:txBody>
      </p:sp>
      <p:sp>
        <p:nvSpPr>
          <p:cNvPr id="10" name="negative-component">
            <a:extLst xmlns:a="http://schemas.openxmlformats.org/drawingml/2006/main">
              <a:ext uri="{FF2B5EF4-FFF2-40B4-BE49-F238E27FC236}">
                <a16:creationId xmlns:a16="http://schemas.microsoft.com/office/drawing/2014/main" id="{5B0569E2-1152-4115-9AE3-4BE7770E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29225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− R$ 98,44</a:t>
            </a:r>
          </a:p>
        </p:txBody>
      </p:sp>
      <p:sp>
        <p:nvSpPr>
          <p:cNvPr id="11" name="negative-meaning">
            <a:extLst xmlns:a="http://schemas.openxmlformats.org/drawingml/2006/main">
              <a:ext uri="{FF2B5EF4-FFF2-40B4-BE49-F238E27FC236}">
                <a16:creationId xmlns:a16="http://schemas.microsoft.com/office/drawing/2014/main" id="{94AE70C2-49E3-4E4C-ADA7-C6ACC820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276850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abatimentos por estornos</a:t>
            </a:r>
          </a:p>
        </p:txBody>
      </p:sp>
      <p:sp>
        <p:nvSpPr>
          <p:cNvPr id="12" name="operation">
            <a:extLst xmlns:a="http://schemas.openxmlformats.org/drawingml/2006/main">
              <a:ext uri="{FF2B5EF4-FFF2-40B4-BE49-F238E27FC236}">
                <a16:creationId xmlns:a16="http://schemas.microsoft.com/office/drawing/2014/main" id="{BF860D85-D357-4294-88FB-9C58F0E2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38475"/>
            <a:ext cx="3905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Operação TX88423647</a:t>
            </a:r>
          </a:p>
        </p:txBody>
      </p:sp>
      <p:sp>
        <p:nvSpPr>
          <p:cNvPr id="13" name="contract-rate">
            <a:extLst xmlns:a="http://schemas.openxmlformats.org/drawingml/2006/main">
              <a:ext uri="{FF2B5EF4-FFF2-40B4-BE49-F238E27FC236}">
                <a16:creationId xmlns:a16="http://schemas.microsoft.com/office/drawing/2014/main" id="{8CCEF0DB-AA0A-4CE6-9959-A78DEFB6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766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3,59%</a:t>
            </a:r>
          </a:p>
        </p:txBody>
      </p:sp>
      <p:sp>
        <p:nvSpPr>
          <p:cNvPr id="14" name="contract-caption">
            <a:extLst xmlns:a="http://schemas.openxmlformats.org/drawingml/2006/main">
              <a:ext uri="{FF2B5EF4-FFF2-40B4-BE49-F238E27FC236}">
                <a16:creationId xmlns:a16="http://schemas.microsoft.com/office/drawing/2014/main" id="{19C7FDCC-0DDC-4C92-A385-4703A0C9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29050"/>
            <a:ext cx="2209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contratados</a:t>
            </a:r>
          </a:p>
        </p:txBody>
      </p:sp>
      <p:sp>
        <p:nvSpPr>
          <p:cNvPr id="15" name="applied-rate">
            <a:extLst xmlns:a="http://schemas.openxmlformats.org/drawingml/2006/main">
              <a:ext uri="{FF2B5EF4-FFF2-40B4-BE49-F238E27FC236}">
                <a16:creationId xmlns:a16="http://schemas.microsoft.com/office/drawing/2014/main" id="{1B58B7D4-C648-43B4-A484-7BFDE481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7672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4,09%</a:t>
            </a:r>
          </a:p>
        </p:txBody>
      </p:sp>
      <p:sp>
        <p:nvSpPr>
          <p:cNvPr id="16" name="applied-caption">
            <a:extLst xmlns:a="http://schemas.openxmlformats.org/drawingml/2006/main">
              <a:ext uri="{FF2B5EF4-FFF2-40B4-BE49-F238E27FC236}">
                <a16:creationId xmlns:a16="http://schemas.microsoft.com/office/drawing/2014/main" id="{3489E64F-5982-4BCC-90D0-F656061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29125"/>
            <a:ext cx="2209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aplicados</a:t>
            </a:r>
          </a:p>
        </p:txBody>
      </p:sp>
      <p:sp>
        <p:nvSpPr>
          <p:cNvPr id="17" name="line-difference">
            <a:extLst xmlns:a="http://schemas.openxmlformats.org/drawingml/2006/main">
              <a:ext uri="{FF2B5EF4-FFF2-40B4-BE49-F238E27FC236}">
                <a16:creationId xmlns:a16="http://schemas.microsoft.com/office/drawing/2014/main" id="{98FCA867-0A12-498E-9294-506E1D34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9911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R$ 66,28</a:t>
            </a:r>
          </a:p>
        </p:txBody>
      </p:sp>
      <p:sp>
        <p:nvSpPr>
          <p:cNvPr id="18" name="line-meaning">
            <a:extLst xmlns:a="http://schemas.openxmlformats.org/drawingml/2006/main">
              <a:ext uri="{FF2B5EF4-FFF2-40B4-BE49-F238E27FC236}">
                <a16:creationId xmlns:a16="http://schemas.microsoft.com/office/drawing/2014/main" id="{2A790E10-EA12-4C66-8CC7-646B5796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581650"/>
            <a:ext cx="3905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de diferença nesta linha</a:t>
            </a:r>
          </a:p>
        </p:txBody>
      </p:sp>
      <p:sp>
        <p:nvSpPr>
          <p:cNvPr id="19" name="source">
            <a:extLst xmlns:a="http://schemas.openxmlformats.org/drawingml/2006/main">
              <a:ext uri="{FF2B5EF4-FFF2-40B4-BE49-F238E27FC236}">
                <a16:creationId xmlns:a16="http://schemas.microsoft.com/office/drawing/2014/main" id="{F879EE09-C070-492E-9455-1627E864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48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Orbe, linha 749. Taxas vigentes da Rota Global.</a:t>
            </a:r>
          </a:p>
        </p:txBody>
      </p:sp>
    </p:spTree>
    <p:extLst>
      <p:ext uri="{BB962C8B-B14F-4D97-AF65-F5344CB8AC3E}">
        <p14:creationId xmlns:p14="http://schemas.microsoft.com/office/powerpoint/2010/main" val="773700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061BA-D548-455D-B761-A6AEC8212E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83da4440b4063">
            <a:extLst>
              <a:ext uri="{96DAC541-7B7A-43D3-8B79-37D633B846F1}">
                <asvg:svgBlip xmlns:asvg="http://schemas.microsoft.com/office/drawing/2016/SVG/main" r:embed="R045c431e5de048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410A5B2-B832-48A6-B36C-C7B9C932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5EB8A0C-7D25-4163-97CB-09389931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21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01AE8B62-9EEE-48E3-80ED-3B02013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Arquitetura agêntica.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51EF51F1-C5D0-4411-ADD3-C08AF226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apuração é a base.</a:t>
            </a:r>
          </a:p>
        </p:txBody>
      </p:sp>
      <p:sp>
        <p:nvSpPr>
          <p:cNvPr id="7" name="foundation-explanation">
            <a:extLst xmlns:a="http://schemas.openxmlformats.org/drawingml/2006/main">
              <a:ext uri="{FF2B5EF4-FFF2-40B4-BE49-F238E27FC236}">
                <a16:creationId xmlns:a16="http://schemas.microsoft.com/office/drawing/2014/main" id="{BEC6A421-B36D-4D16-A53C-F3984988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0517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 preservadas e regras vigentes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formam a base de cada caso.</a:t>
            </a:r>
          </a:p>
        </p:txBody>
      </p:sp>
      <p:sp>
        <p:nvSpPr>
          <p:cNvPr id="8" name="foundation-scope">
            <a:extLst xmlns:a="http://schemas.openxmlformats.org/drawingml/2006/main">
              <a:ext uri="{FF2B5EF4-FFF2-40B4-BE49-F238E27FC236}">
                <a16:creationId xmlns:a16="http://schemas.microsoft.com/office/drawing/2014/main" id="{5ECC79B4-F3B4-4FA0-AA94-A759CE09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8225"/>
            <a:ext cx="466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cálculo determina os valores.</a:t>
            </a:r>
          </a:p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Os agentes investigam as pendências.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24DC9-D230-469B-812C-B75362FC02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0d7bb59fd4550"/>
          <a:srcRect xmlns:a="http://schemas.openxmlformats.org/drawingml/2006/main" l="13000" t="7000" r="10000" b="3000"/>
          <a:stretch xmlns:a="http://schemas.openxmlformats.org/drawingml/2006/main"/>
        </p:blipFill>
        <p:spPr>
          <a:xfrm xmlns:a="http://schemas.openxmlformats.org/drawingml/2006/main">
            <a:off x="7162800" y="1609725"/>
            <a:ext cx="4343400" cy="4381500"/>
          </a:xfrm>
          <a:prstGeom xmlns:a="http://schemas.openxmlformats.org/drawingml/2006/main" prst="rect">
            <a:avLst/>
          </a:prstGeom>
        </p:spPr>
      </p:pic>
      <p:sp>
        <p:nvSpPr>
          <p:cNvPr id="10" name="layer-label-Apuração">
            <a:extLst xmlns:a="http://schemas.openxmlformats.org/drawingml/2006/main">
              <a:ext uri="{FF2B5EF4-FFF2-40B4-BE49-F238E27FC236}">
                <a16:creationId xmlns:a16="http://schemas.microsoft.com/office/drawing/2014/main" id="{9347138C-2EB6-4692-A06C-D781D8BE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1462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cxnSp>
        <p:nvCxnSpPr>
          <p:cNvPr id="11" name="layer-link-Apuração">
            <a:extLst xmlns:a="http://schemas.openxmlformats.org/drawingml/2006/main">
              <a:ext uri="{FF2B5EF4-FFF2-40B4-BE49-F238E27FC236}">
                <a16:creationId xmlns:a16="http://schemas.microsoft.com/office/drawing/2014/main" id="{3AB9C1EA-B3A6-40F3-BE5A-0F630B7588D3}"/>
              </a:ext>
            </a:extLst>
          </p:cNvPr>
          <p:cNvCxnSpPr/>
          <p:nvPr/>
        </p:nvCxnSpPr>
        <p:spPr>
          <a:xfrm xmlns:a="http://schemas.openxmlformats.org/drawingml/2006/main">
            <a:off x="7115175" y="29241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2" name="layer-anchor-Apuração">
            <a:extLst xmlns:a="http://schemas.openxmlformats.org/drawingml/2006/main">
              <a:ext uri="{FF2B5EF4-FFF2-40B4-BE49-F238E27FC236}">
                <a16:creationId xmlns:a16="http://schemas.microsoft.com/office/drawing/2014/main" id="{67A39D4E-205C-45FE-82CF-9C0CC6CA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975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sp>
        <p:nvSpPr>
          <p:cNvPr id="13" name="layer-label-Regras">
            <a:extLst xmlns:a="http://schemas.openxmlformats.org/drawingml/2006/main">
              <a:ext uri="{FF2B5EF4-FFF2-40B4-BE49-F238E27FC236}">
                <a16:creationId xmlns:a16="http://schemas.microsoft.com/office/drawing/2014/main" id="{EFA9EAB5-E785-4F6E-A6CB-BB3C50F1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89572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cxnSp>
        <p:nvCxnSpPr>
          <p:cNvPr id="14" name="layer-link-Regras">
            <a:extLst xmlns:a="http://schemas.openxmlformats.org/drawingml/2006/main">
              <a:ext uri="{FF2B5EF4-FFF2-40B4-BE49-F238E27FC236}">
                <a16:creationId xmlns:a16="http://schemas.microsoft.com/office/drawing/2014/main" id="{FBEDE1D7-B717-448C-85E1-CF81ED670DFB}"/>
              </a:ext>
            </a:extLst>
          </p:cNvPr>
          <p:cNvCxnSpPr/>
          <p:nvPr/>
        </p:nvCxnSpPr>
        <p:spPr>
          <a:xfrm xmlns:a="http://schemas.openxmlformats.org/drawingml/2006/main">
            <a:off x="7115175" y="41052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5" name="layer-anchor-Regras">
            <a:extLst xmlns:a="http://schemas.openxmlformats.org/drawingml/2006/main">
              <a:ext uri="{FF2B5EF4-FFF2-40B4-BE49-F238E27FC236}">
                <a16:creationId xmlns:a16="http://schemas.microsoft.com/office/drawing/2014/main" id="{012A7AA5-1138-4F73-8BDA-2CC852CC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0786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sp>
        <p:nvSpPr>
          <p:cNvPr id="16" name="layer-label-Fontes">
            <a:extLst xmlns:a="http://schemas.openxmlformats.org/drawingml/2006/main">
              <a:ext uri="{FF2B5EF4-FFF2-40B4-BE49-F238E27FC236}">
                <a16:creationId xmlns:a16="http://schemas.microsoft.com/office/drawing/2014/main" id="{0AF075C4-2C14-43BF-BBBE-549D4C56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94347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</a:t>
            </a:r>
          </a:p>
        </p:txBody>
      </p:sp>
      <p:cxnSp>
        <p:nvCxnSpPr>
          <p:cNvPr id="17" name="layer-link-Fontes">
            <a:extLst xmlns:a="http://schemas.openxmlformats.org/drawingml/2006/main">
              <a:ext uri="{FF2B5EF4-FFF2-40B4-BE49-F238E27FC236}">
                <a16:creationId xmlns:a16="http://schemas.microsoft.com/office/drawing/2014/main" id="{FF228E10-156A-48D5-BA9B-F096DE0D38FC}"/>
              </a:ext>
            </a:extLst>
          </p:cNvPr>
          <p:cNvCxnSpPr/>
          <p:nvPr/>
        </p:nvCxnSpPr>
        <p:spPr>
          <a:xfrm xmlns:a="http://schemas.openxmlformats.org/drawingml/2006/main">
            <a:off x="7115175" y="51530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8" name="layer-anchor-Fontes">
            <a:extLst xmlns:a="http://schemas.openxmlformats.org/drawingml/2006/main">
              <a:ext uri="{FF2B5EF4-FFF2-40B4-BE49-F238E27FC236}">
                <a16:creationId xmlns:a16="http://schemas.microsoft.com/office/drawing/2014/main" id="{DD3F6182-B491-4AB1-B765-A002308D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512635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4927296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7630C-121B-47D8-86FC-6A62284EDA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96a074e024e8f">
            <a:extLst>
              <a:ext uri="{96DAC541-7B7A-43D3-8B79-37D633B846F1}">
                <asvg:svgBlip xmlns:asvg="http://schemas.microsoft.com/office/drawing/2016/SVG/main" r:embed="R2f19760ce4e54c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F47157B3-DCA5-4B24-BC0F-803F66E1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466B11D-A082-4BF0-9832-18DF541D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22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F86FA679-5F76-45B8-866B-B0EAD793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resultado ganha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D8AA79DD-F9DC-42D4-8C6D-249F70B1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um caso com origem.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1549C-2C10-4909-B9BD-A1E438091F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d917665a142ae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active-0">
            <a:extLst xmlns:a="http://schemas.openxmlformats.org/drawingml/2006/main">
              <a:ext uri="{FF2B5EF4-FFF2-40B4-BE49-F238E27FC236}">
                <a16:creationId xmlns:a16="http://schemas.microsoft.com/office/drawing/2014/main" id="{D5221831-C717-492C-BC7C-387A33D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9" name="active-link-0">
            <a:extLst xmlns:a="http://schemas.openxmlformats.org/drawingml/2006/main">
              <a:ext uri="{FF2B5EF4-FFF2-40B4-BE49-F238E27FC236}">
                <a16:creationId xmlns:a16="http://schemas.microsoft.com/office/drawing/2014/main" id="{8B3E1B42-3366-4812-86E2-37DE711AA773}"/>
              </a:ext>
            </a:extLst>
          </p:cNvPr>
          <p:cNvCxnSpPr/>
          <p:nvPr/>
        </p:nvCxnSpPr>
        <p:spPr>
          <a:xfrm xmlns:a="http://schemas.openxmlformats.org/drawingml/2006/main">
            <a:off x="1752600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0" name="station-0">
            <a:extLst xmlns:a="http://schemas.openxmlformats.org/drawingml/2006/main">
              <a:ext uri="{FF2B5EF4-FFF2-40B4-BE49-F238E27FC236}">
                <a16:creationId xmlns:a16="http://schemas.microsoft.com/office/drawing/2014/main" id="{88884836-1F71-4EF4-A338-8A30B92E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11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6CC422E3-9A13-47B4-A8A0-417028A9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2" name="station-1">
            <a:extLst xmlns:a="http://schemas.openxmlformats.org/drawingml/2006/main">
              <a:ext uri="{FF2B5EF4-FFF2-40B4-BE49-F238E27FC236}">
                <a16:creationId xmlns:a16="http://schemas.microsoft.com/office/drawing/2014/main" id="{C12224DD-36BC-4CE5-B409-85C3CE23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3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34C481FE-DC2A-446E-9148-9C916053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A8E3103D-4230-4309-962A-98992F35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71D6125A-3E31-48D2-AF37-D16DB3C8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65B88BB6-1660-47A3-98BA-69E33818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82CE517F-C41F-4E5F-AD7C-75333BE2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case-value">
            <a:extLst xmlns:a="http://schemas.openxmlformats.org/drawingml/2006/main">
              <a:ext uri="{FF2B5EF4-FFF2-40B4-BE49-F238E27FC236}">
                <a16:creationId xmlns:a16="http://schemas.microsoft.com/office/drawing/2014/main" id="{E1AA2994-9353-49AF-A1EE-C7E25962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323975"/>
            <a:ext cx="3238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R$ 1.546,28</a:t>
            </a:r>
          </a:p>
        </p:txBody>
      </p:sp>
      <p:sp>
        <p:nvSpPr>
          <p:cNvPr id="19" name="case-qualifier">
            <a:extLst xmlns:a="http://schemas.openxmlformats.org/drawingml/2006/main">
              <a:ext uri="{FF2B5EF4-FFF2-40B4-BE49-F238E27FC236}">
                <a16:creationId xmlns:a16="http://schemas.microsoft.com/office/drawing/2014/main" id="{6B284608-0952-4256-BEFD-11DEEDB4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32385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Rota Global</a:t>
            </a:r>
          </a:p>
          <a:p xmlns:a="http://schemas.openxmlformats.org/drawingml/2006/main">
            <a: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 líquida para revisão</a:t>
            </a:r>
          </a:p>
        </p:txBody>
      </p:sp>
      <p:sp>
        <p:nvSpPr>
          <p:cNvPr id="20" name="case-input">
            <a:extLst xmlns:a="http://schemas.openxmlformats.org/drawingml/2006/main">
              <a:ext uri="{FF2B5EF4-FFF2-40B4-BE49-F238E27FC236}">
                <a16:creationId xmlns:a16="http://schemas.microsoft.com/office/drawing/2014/main" id="{36A73106-A2FB-4DFF-8CCD-EDD682E8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676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Valor, composição e referências</a:t>
            </a:r>
          </a:p>
        </p:txBody>
      </p:sp>
    </p:spTree>
    <p:extLst>
      <p:ext uri="{BB962C8B-B14F-4D97-AF65-F5344CB8AC3E}">
        <p14:creationId xmlns:p14="http://schemas.microsoft.com/office/powerpoint/2010/main" val="11881748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724C1-CA23-4DD0-8D7F-AD30507CF7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cb4c558b5a4c40">
            <a:extLst>
              <a:ext uri="{96DAC541-7B7A-43D3-8B79-37D633B846F1}">
                <asvg:svgBlip xmlns:asvg="http://schemas.microsoft.com/office/drawing/2016/SVG/main" r:embed="R3223a4b2f68541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C99A3889-ED06-49A6-82EE-53E3E24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1F39149-1DB9-4CDD-B611-29332F42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23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C965FE63-8D0F-4248-87B5-5450CC7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investigador busca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E89CBDDE-A12E-4AC2-85FB-E9CC284E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contexto nas fontes.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7E254-4B26-42F5-814A-6ED40E1606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d030c5bf142fc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07F6ACF2-D9B9-4BD4-A84E-A275968D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E1BDD047-EDD5-4887-B8FD-E96E3853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active-1">
            <a:extLst xmlns:a="http://schemas.openxmlformats.org/drawingml/2006/main">
              <a:ext uri="{FF2B5EF4-FFF2-40B4-BE49-F238E27FC236}">
                <a16:creationId xmlns:a16="http://schemas.microsoft.com/office/drawing/2014/main" id="{BB2D0718-EFDC-403E-B749-E20AB402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1" name="active-link-1">
            <a:extLst xmlns:a="http://schemas.openxmlformats.org/drawingml/2006/main">
              <a:ext uri="{FF2B5EF4-FFF2-40B4-BE49-F238E27FC236}">
                <a16:creationId xmlns:a16="http://schemas.microsoft.com/office/drawing/2014/main" id="{3B0D4B63-CC65-4848-A345-0BFFA089F696}"/>
              </a:ext>
            </a:extLst>
          </p:cNvPr>
          <p:cNvCxnSpPr/>
          <p:nvPr/>
        </p:nvCxnSpPr>
        <p:spPr>
          <a:xfrm xmlns:a="http://schemas.openxmlformats.org/drawingml/2006/main">
            <a:off x="4638675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2" name="station-1">
            <a:extLst xmlns:a="http://schemas.openxmlformats.org/drawingml/2006/main">
              <a:ext uri="{FF2B5EF4-FFF2-40B4-BE49-F238E27FC236}">
                <a16:creationId xmlns:a16="http://schemas.microsoft.com/office/drawing/2014/main" id="{E6034D55-1949-43C6-9055-1CCBB6C9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3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F10F675B-6FCE-4950-9DC3-688C79F6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88EEED4F-35FD-4903-8BCC-4676BC2C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4344B509-B07B-477F-8E1B-DC610B12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7608A2AD-21F1-493A-96B0-181B1177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2122EC3B-BC29-4640-ABB7-F05E675E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focus-note-title">
            <a:extLst xmlns:a="http://schemas.openxmlformats.org/drawingml/2006/main">
              <a:ext uri="{FF2B5EF4-FFF2-40B4-BE49-F238E27FC236}">
                <a16:creationId xmlns:a16="http://schemas.microsoft.com/office/drawing/2014/main" id="{A7C46C75-5C12-49FB-AB34-7BAB94CA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323975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4 ferramentas de leitura</a:t>
            </a:r>
          </a:p>
        </p:txBody>
      </p:sp>
      <p:sp>
        <p:nvSpPr>
          <p:cNvPr id="19" name="focus-note-detail">
            <a:extLst xmlns:a="http://schemas.openxmlformats.org/drawingml/2006/main">
              <a:ext uri="{FF2B5EF4-FFF2-40B4-BE49-F238E27FC236}">
                <a16:creationId xmlns:a16="http://schemas.microsoft.com/office/drawing/2014/main" id="{20D25D87-784A-48FC-AA86-C229438F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94310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Regras, referências,</a:t>
            </a:r>
          </a:p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 e pendências.</a:t>
            </a:r>
          </a:p>
        </p:txBody>
      </p:sp>
      <p:sp>
        <p:nvSpPr>
          <p:cNvPr id="20" name="source-node">
            <a:extLst xmlns:a="http://schemas.openxmlformats.org/drawingml/2006/main">
              <a:ext uri="{FF2B5EF4-FFF2-40B4-BE49-F238E27FC236}">
                <a16:creationId xmlns:a16="http://schemas.microsoft.com/office/drawing/2014/main" id="{280E296A-DE82-491A-A7C0-E34354D1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05125"/>
            <a:ext cx="2638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Fontes cadastradas</a:t>
            </a:r>
          </a:p>
        </p:txBody>
      </p:sp>
      <p:cxnSp>
        <p:nvCxnSpPr>
          <p:cNvPr id="21" name="source-tool-link">
            <a:extLst xmlns:a="http://schemas.openxmlformats.org/drawingml/2006/main">
              <a:ext uri="{FF2B5EF4-FFF2-40B4-BE49-F238E27FC236}">
                <a16:creationId xmlns:a16="http://schemas.microsoft.com/office/drawing/2014/main" id="{9D9064AC-0768-470C-A58F-5BEB1869DB14}"/>
              </a:ext>
            </a:extLst>
          </p:cNvPr>
          <p:cNvCxnSpPr/>
          <p:nvPr/>
        </p:nvCxnSpPr>
        <p:spPr>
          <a:xfrm xmlns:a="http://schemas.openxmlformats.org/drawingml/2006/main">
            <a:off x="4638675" y="337185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1E6654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22" name="source-query-label">
            <a:extLst xmlns:a="http://schemas.openxmlformats.org/drawingml/2006/main">
              <a:ext uri="{FF2B5EF4-FFF2-40B4-BE49-F238E27FC236}">
                <a16:creationId xmlns:a16="http://schemas.microsoft.com/office/drawing/2014/main" id="{3B9D4371-9D6B-449A-B98E-4E159D86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76625"/>
            <a:ext cx="1028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consulta</a:t>
            </a:r>
          </a:p>
        </p:txBody>
      </p:sp>
      <p:sp>
        <p:nvSpPr>
          <p:cNvPr id="23" name="source-evidence-label">
            <a:extLst xmlns:a="http://schemas.openxmlformats.org/drawingml/2006/main">
              <a:ext uri="{FF2B5EF4-FFF2-40B4-BE49-F238E27FC236}">
                <a16:creationId xmlns:a16="http://schemas.microsoft.com/office/drawing/2014/main" id="{119E0746-FFF5-460C-8B4A-B1C5FD1C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4766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evidências</a:t>
            </a:r>
          </a:p>
        </p:txBody>
      </p:sp>
    </p:spTree>
    <p:extLst>
      <p:ext uri="{BB962C8B-B14F-4D97-AF65-F5344CB8AC3E}">
        <p14:creationId xmlns:p14="http://schemas.microsoft.com/office/powerpoint/2010/main" val="69013501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622F7-A2A4-45CE-89C4-4F28D7AC33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c76f770a74ae1">
            <a:extLst>
              <a:ext uri="{96DAC541-7B7A-43D3-8B79-37D633B846F1}">
                <asvg:svgBlip xmlns:asvg="http://schemas.microsoft.com/office/drawing/2016/SVG/main" r:embed="Rc3851a30f5a541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9862123-4963-474A-9E89-27DEBCBF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1A0ECF0-5D27-4126-86B8-C2D6C6BA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24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3AF184B4-88D9-4E19-A564-F9E51BD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524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Uma segunda leitura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107E2356-11CA-4CC2-9E63-139304ED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524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confronta a interpretação.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51D50-59C9-49A9-836D-EF9EF352F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aa90ed13940d7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CE9D00A2-253B-46EC-8AA5-582DC252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17541163-7A9E-494A-AE0A-E7BBC041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station-1">
            <a:extLst xmlns:a="http://schemas.openxmlformats.org/drawingml/2006/main">
              <a:ext uri="{FF2B5EF4-FFF2-40B4-BE49-F238E27FC236}">
                <a16:creationId xmlns:a16="http://schemas.microsoft.com/office/drawing/2014/main" id="{7838A72E-3273-4FF0-9BA4-44B58BC5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1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AFB0605F-A79F-4226-94BA-4D92E484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2" name="active-2">
            <a:extLst xmlns:a="http://schemas.openxmlformats.org/drawingml/2006/main">
              <a:ext uri="{FF2B5EF4-FFF2-40B4-BE49-F238E27FC236}">
                <a16:creationId xmlns:a16="http://schemas.microsoft.com/office/drawing/2014/main" id="{D7A40416-D333-4254-A2DA-E6411F11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3" name="active-link-2">
            <a:extLst xmlns:a="http://schemas.openxmlformats.org/drawingml/2006/main">
              <a:ext uri="{FF2B5EF4-FFF2-40B4-BE49-F238E27FC236}">
                <a16:creationId xmlns:a16="http://schemas.microsoft.com/office/drawing/2014/main" id="{1C0A7D77-30E4-4D38-8261-E8544159A826}"/>
              </a:ext>
            </a:extLst>
          </p:cNvPr>
          <p:cNvCxnSpPr/>
          <p:nvPr/>
        </p:nvCxnSpPr>
        <p:spPr>
          <a:xfrm xmlns:a="http://schemas.openxmlformats.org/drawingml/2006/main">
            <a:off x="7524750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D661524B-81DB-49E3-9C56-9FCAB7A2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CA557067-890D-4911-931D-CD78E47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A43A22FF-49F8-4358-A55C-9C0EA046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DDBFFF2F-A34C-4953-A7FA-58D81172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critic-input">
            <a:extLst xmlns:a="http://schemas.openxmlformats.org/drawingml/2006/main">
              <a:ext uri="{FF2B5EF4-FFF2-40B4-BE49-F238E27FC236}">
                <a16:creationId xmlns:a16="http://schemas.microsoft.com/office/drawing/2014/main" id="{78C433DA-BEFD-46EE-B597-8FDABD9D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924175"/>
            <a:ext cx="3562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Mesmo caso, interpretação</a:t>
            </a:r>
          </a:p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 evidências recuperadas</a:t>
            </a:r>
          </a:p>
        </p:txBody>
      </p:sp>
      <p:cxnSp>
        <p:nvCxnSpPr>
          <p:cNvPr id="19" name="critic-input-link">
            <a:extLst xmlns:a="http://schemas.openxmlformats.org/drawingml/2006/main">
              <a:ext uri="{FF2B5EF4-FFF2-40B4-BE49-F238E27FC236}">
                <a16:creationId xmlns:a16="http://schemas.microsoft.com/office/drawing/2014/main" id="{AE267F57-6C93-4EA6-A4C2-2AF0C49032C5}"/>
              </a:ext>
            </a:extLst>
          </p:cNvPr>
          <p:cNvCxnSpPr/>
          <p:nvPr/>
        </p:nvCxnSpPr>
        <p:spPr>
          <a:xfrm xmlns:a="http://schemas.openxmlformats.org/drawingml/2006/main">
            <a:off x="7524750" y="363855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20" name="critic-boundary">
            <a:extLst xmlns:a="http://schemas.openxmlformats.org/drawingml/2006/main">
              <a:ext uri="{FF2B5EF4-FFF2-40B4-BE49-F238E27FC236}">
                <a16:creationId xmlns:a16="http://schemas.microsoft.com/office/drawing/2014/main" id="{E140724A-D00B-4D3F-8168-4D48D258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crítico examina o material recebido.</a:t>
            </a:r>
          </a:p>
        </p:txBody>
      </p:sp>
    </p:spTree>
    <p:extLst>
      <p:ext uri="{BB962C8B-B14F-4D97-AF65-F5344CB8AC3E}">
        <p14:creationId xmlns:p14="http://schemas.microsoft.com/office/powerpoint/2010/main" val="5651782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16A2F-B82A-48C3-8926-1776D847E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86b62d063641ed">
            <a:extLst>
              <a:ext uri="{96DAC541-7B7A-43D3-8B79-37D633B846F1}">
                <asvg:svgBlip xmlns:asvg="http://schemas.microsoft.com/office/drawing/2016/SVG/main" r:embed="Rf4e08b3b86134b9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D11A4F1-7A4A-4C07-A18B-9D0F40BE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FDA6F8A-DDE6-46FF-A26E-A11D80EB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25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78E825DB-44A7-4190-963A-78AF4213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decisão continua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97D0BD55-A72E-4044-B9E6-B45D9682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 o financeiro.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26A77-1A56-42BC-9297-90003743E2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a2eb6123447a4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7BB53229-A806-42C8-839A-F1C5A272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7922012A-01F5-471F-BED6-ABCCB014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station-1">
            <a:extLst xmlns:a="http://schemas.openxmlformats.org/drawingml/2006/main">
              <a:ext uri="{FF2B5EF4-FFF2-40B4-BE49-F238E27FC236}">
                <a16:creationId xmlns:a16="http://schemas.microsoft.com/office/drawing/2014/main" id="{40271BAE-F590-4934-873F-0C535F4E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1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F8EA30CD-BF25-4E40-BC50-8697883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2" name="station-2">
            <a:extLst xmlns:a="http://schemas.openxmlformats.org/drawingml/2006/main">
              <a:ext uri="{FF2B5EF4-FFF2-40B4-BE49-F238E27FC236}">
                <a16:creationId xmlns:a16="http://schemas.microsoft.com/office/drawing/2014/main" id="{B350DBEA-AADA-458F-8FF8-00C868CF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3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44300E3D-FBFC-449D-B6C1-99613650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4" name="active-3">
            <a:extLst xmlns:a="http://schemas.openxmlformats.org/drawingml/2006/main">
              <a:ext uri="{FF2B5EF4-FFF2-40B4-BE49-F238E27FC236}">
                <a16:creationId xmlns:a16="http://schemas.microsoft.com/office/drawing/2014/main" id="{CEE9ECBB-FF89-4438-9253-E2908E9C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5" name="active-link-3">
            <a:extLst xmlns:a="http://schemas.openxmlformats.org/drawingml/2006/main">
              <a:ext uri="{FF2B5EF4-FFF2-40B4-BE49-F238E27FC236}">
                <a16:creationId xmlns:a16="http://schemas.microsoft.com/office/drawing/2014/main" id="{80D33632-C19D-4285-9885-033A70E2716B}"/>
              </a:ext>
            </a:extLst>
          </p:cNvPr>
          <p:cNvCxnSpPr/>
          <p:nvPr/>
        </p:nvCxnSpPr>
        <p:spPr>
          <a:xfrm xmlns:a="http://schemas.openxmlformats.org/drawingml/2006/main">
            <a:off x="10410825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457F243D-1E93-4714-88AF-73123E98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D54BA210-AC34-4B54-AF33-A4567485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focus-note-title">
            <a:extLst xmlns:a="http://schemas.openxmlformats.org/drawingml/2006/main">
              <a:ext uri="{FF2B5EF4-FFF2-40B4-BE49-F238E27FC236}">
                <a16:creationId xmlns:a16="http://schemas.microsoft.com/office/drawing/2014/main" id="{1FF0BBB8-F3F6-4929-AF7F-27A24B3C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23975"/>
            <a:ext cx="2990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19" name="focus-note-detail">
            <a:extLst xmlns:a="http://schemas.openxmlformats.org/drawingml/2006/main">
              <a:ext uri="{FF2B5EF4-FFF2-40B4-BE49-F238E27FC236}">
                <a16:creationId xmlns:a16="http://schemas.microsoft.com/office/drawing/2014/main" id="{BEA2C5C9-3739-4E68-9F3B-6920A53D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43100"/>
            <a:ext cx="29908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Responsável pelo caso Rota.</a:t>
            </a:r>
          </a:p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Parecer experimental.</a:t>
            </a:r>
          </a:p>
        </p:txBody>
      </p:sp>
      <p:sp>
        <p:nvSpPr>
          <p:cNvPr id="20" name="human-handoff">
            <a:extLst xmlns:a="http://schemas.openxmlformats.org/drawingml/2006/main">
              <a:ext uri="{FF2B5EF4-FFF2-40B4-BE49-F238E27FC236}">
                <a16:creationId xmlns:a16="http://schemas.microsoft.com/office/drawing/2014/main" id="{3A872671-C84C-4C9B-A7A7-6CB7EF24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55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Caso e parecer</a:t>
            </a:r>
          </a:p>
        </p:txBody>
      </p:sp>
      <p:cxnSp>
        <p:nvCxnSpPr>
          <p:cNvPr id="21" name="human-handoff-link">
            <a:extLst xmlns:a="http://schemas.openxmlformats.org/drawingml/2006/main">
              <a:ext uri="{FF2B5EF4-FFF2-40B4-BE49-F238E27FC236}">
                <a16:creationId xmlns:a16="http://schemas.microsoft.com/office/drawing/2014/main" id="{314ABA26-7E20-4A09-83C9-1662FE88AA06}"/>
              </a:ext>
            </a:extLst>
          </p:cNvPr>
          <p:cNvCxnSpPr/>
          <p:nvPr/>
        </p:nvCxnSpPr>
        <p:spPr>
          <a:xfrm xmlns:a="http://schemas.openxmlformats.org/drawingml/2006/main">
            <a:off x="10410825" y="3486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22" name="human-boundary">
            <a:extLst xmlns:a="http://schemas.openxmlformats.org/drawingml/2006/main">
              <a:ext uri="{FF2B5EF4-FFF2-40B4-BE49-F238E27FC236}">
                <a16:creationId xmlns:a16="http://schemas.microsoft.com/office/drawing/2014/main" id="{3BDCA282-7314-4877-B246-CB2D31AE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714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Os valores permanecem vinculados à apuração.</a:t>
            </a:r>
          </a:p>
        </p:txBody>
      </p:sp>
    </p:spTree>
    <p:extLst>
      <p:ext uri="{BB962C8B-B14F-4D97-AF65-F5344CB8AC3E}">
        <p14:creationId xmlns:p14="http://schemas.microsoft.com/office/powerpoint/2010/main" val="311332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2026-10-17T21:32:53.1270000Z</dcterms:created>
  <dcterms:modified xsi:type="dcterms:W3CDTF">2026-10-17T21:32:53.1270000Z</dcterms:modified>
</coreProperties>
</file>